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Validation MAE</c:v>
                </c:pt>
              </c:strCache>
            </c:strRef>
          </c:tx>
          <c:spPr>
            <a:solidFill>
              <a:srgbClr val="1976D2"/>
            </a:solidFill>
            <a:effectLst/>
          </c:spPr>
          <c:invertIfNegative val="0"/>
          <c:dLbls>
            <c:numFmt formatCode="#,##0" sourceLinked="0"/>
            <c:txPr>
              <a:bodyPr/>
              <a:lstStyle/>
              <a:p>
                <a:pPr>
                  <a:defRPr b="0" i="0" strike="noStrike" sz="1200" u="none">
                    <a:solidFill>
                      <a:srgbClr val="102A43"/>
                    </a:solidFill>
                    <a:latin typeface="Arial"/>
                  </a:defRPr>
                </a:pPr>
              </a:p>
            </c:txPr>
            <c:showLegendKey val="0"/>
            <c:showVal val="1"/>
            <c:showCatName val="0"/>
            <c:showSerName val="0"/>
            <c:showPercent val="0"/>
            <c:showBubbleSize val="0"/>
            <c:showLeaderLines val="0"/>
          </c:dLbls>
          <c:dPt>
            <c:idx val="0"/>
            <c:invertIfNegative val="0"/>
            <c:bubble3D val="0"/>
            <c:spPr>
              <a:solidFill>
                <a:srgbClr val="1976D2"/>
              </a:solidFill>
              <a:effectLst/>
            </c:spPr>
          </c:dPt>
          <c:dPt>
            <c:idx val="1"/>
            <c:invertIfNegative val="0"/>
            <c:bubble3D val="0"/>
            <c:spPr>
              <a:solidFill>
                <a:srgbClr val="F59E0B"/>
              </a:solidFill>
              <a:effectLst/>
            </c:spPr>
          </c:dPt>
          <c:dPt>
            <c:idx val="2"/>
            <c:invertIfNegative val="0"/>
            <c:bubble3D val="0"/>
            <c:spPr>
              <a:solidFill>
                <a:srgbClr val="178F65"/>
              </a:solidFill>
              <a:effectLst/>
            </c:spPr>
          </c:dPt>
          <c:cat>
            <c:multiLvlStrRef>
              <c:f>Sheet1!$A$2:$A$4</c:f>
              <c:multiLvlStrCache>
                <c:ptCount val="3"/>
                <c:lvl>
                  <c:pt idx="0">
                    <c:v>4-week baseline</c:v>
                  </c:pt>
                  <c:pt idx="1">
                    <c:v>Linear Regression</c:v>
                  </c:pt>
                  <c:pt idx="2">
                    <c:v>Random Forest</c:v>
                  </c:pt>
                </c:lvl>
              </c:multiLvlStrCache>
            </c:multiLvlStrRef>
          </c:cat>
          <c:val>
            <c:numRef>
              <c:f>Sheet1!$B$2:$B$4</c:f>
              <c:numCache>
                <c:formatCode>General</c:formatCode>
                <c:ptCount val="3"/>
                <c:pt idx="0">
                  <c:v>4.517</c:v>
                </c:pt>
                <c:pt idx="1">
                  <c:v>4.766</c:v>
                </c:pt>
                <c:pt idx="2">
                  <c:v>4.27</c:v>
                </c:pt>
              </c:numCache>
            </c:numRef>
          </c:val>
        </c:ser>
        <c:dLbls>
          <c:numFmt formatCode="#,##0" sourceLinked="0"/>
          <c:txPr>
            <a:bodyPr/>
            <a:lstStyle/>
            <a:p>
              <a:pPr>
                <a:defRPr b="0" i="0" strike="noStrike" sz="1200" u="none">
                  <a:solidFill>
                    <a:srgbClr val="102A4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43B53"/>
                </a:solidFill>
                <a:latin typeface="Arial"/>
              </a:defRPr>
            </a:pPr>
            <a:endParaRPr lang="en-US"/>
          </a:p>
        </c:txPr>
        <c:crossAx val="2094734552"/>
        <c:crosses val="autoZero"/>
        <c:auto val="1"/>
        <c:lblAlgn val="ctr"/>
        <c:noMultiLvlLbl val="1"/>
      </c:catAx>
      <c:valAx>
        <c:axId val="2094734552"/>
        <c:scaling>
          <c:orientation val="minMax"/>
          <c:max val="5.2"/>
          <c:min val="0"/>
        </c:scaling>
        <c:delete val="0"/>
        <c:axPos val="l"/>
        <c:majorGridlines>
          <c:spPr>
            <a:ln w="12700" cap="flat">
              <a:solidFill>
                <a:srgbClr val="DCE6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27D98"/>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Importance</c:v>
                </c:pt>
              </c:strCache>
            </c:strRef>
          </c:tx>
          <c:spPr>
            <a:solidFill>
              <a:srgbClr val="1976D2"/>
            </a:solidFill>
            <a:effectLst/>
          </c:spPr>
          <c:invertIfNegative val="0"/>
          <c:dLbls>
            <c:numFmt formatCode="0.0&quot;%&quot;"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1976D2"/>
              </a:solidFill>
              <a:effectLst/>
            </c:spPr>
          </c:dPt>
          <c:dPt>
            <c:idx val="1"/>
            <c:invertIfNegative val="0"/>
            <c:bubble3D val="0"/>
            <c:spPr>
              <a:solidFill>
                <a:srgbClr val="2CB1BC"/>
              </a:solidFill>
              <a:effectLst/>
            </c:spPr>
          </c:dPt>
          <c:dPt>
            <c:idx val="2"/>
            <c:invertIfNegative val="0"/>
            <c:bubble3D val="0"/>
            <c:spPr>
              <a:solidFill>
                <a:srgbClr val="F59E0B"/>
              </a:solidFill>
              <a:effectLst/>
            </c:spPr>
          </c:dPt>
          <c:dPt>
            <c:idx val="3"/>
            <c:invertIfNegative val="0"/>
            <c:bubble3D val="0"/>
            <c:spPr>
              <a:solidFill>
                <a:srgbClr val="178F65"/>
              </a:solidFill>
              <a:effectLst/>
            </c:spPr>
          </c:dPt>
          <c:dPt>
            <c:idx val="4"/>
            <c:invertIfNegative val="0"/>
            <c:bubble3D val="0"/>
            <c:spPr>
              <a:solidFill>
                <a:srgbClr val="627D98"/>
              </a:solidFill>
              <a:effectLst/>
            </c:spPr>
          </c:dPt>
          <c:cat>
            <c:multiLvlStrRef>
              <c:f>Sheet1!$A$2:$A$6</c:f>
              <c:multiLvlStrCache>
                <c:ptCount val="5"/>
                <c:lvl>
                  <c:pt idx="0">
                    <c:v>sales_lag_1</c:v>
                  </c:pt>
                  <c:pt idx="1">
                    <c:v>roll mean 4</c:v>
                  </c:pt>
                  <c:pt idx="2">
                    <c:v>roll mean 8</c:v>
                  </c:pt>
                  <c:pt idx="3">
                    <c:v>sales_lag_2</c:v>
                  </c:pt>
                  <c:pt idx="4">
                    <c:v>остальные</c:v>
                  </c:pt>
                </c:lvl>
              </c:multiLvlStrCache>
            </c:multiLvlStrRef>
          </c:cat>
          <c:val>
            <c:numRef>
              <c:f>Sheet1!$B$2:$B$6</c:f>
              <c:numCache>
                <c:formatCode>General</c:formatCode>
                <c:ptCount val="5"/>
                <c:pt idx="0">
                  <c:v>50.41</c:v>
                </c:pt>
                <c:pt idx="1">
                  <c:v>35.15</c:v>
                </c:pt>
                <c:pt idx="2">
                  <c:v>6.65</c:v>
                </c:pt>
                <c:pt idx="3">
                  <c:v>4.93</c:v>
                </c:pt>
                <c:pt idx="4">
                  <c:v>2.86</c:v>
                </c:pt>
              </c:numCache>
            </c:numRef>
          </c:val>
        </c:ser>
        <c:dLbls>
          <c:numFmt formatCode="0.0&quot;%&quot;"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12700" cap="flat">
              <a:solidFill>
                <a:srgbClr val="DCE6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Здравствуйте. Мой проект прогнозирует спрос на следующую неделю для конкретного товара FOODS в конкретном магазине.,Пользователь — сотрудник розничной сети, который планирует запасы. Модель предлагает ориентир, но не оформляет заказ автоматически.,,[Sources],- Local project notebooks, reports, data documentation, and verified artifacts.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Это задача регрессии. На входе находятся сведения о товаре и магазине, прошлые продажи, цена и календарь.,На выходе — прогноз количества единиц на следующую неделю. Главный критерий успеха — уменьшить среднюю абсолютную ошибку по сравнению с простым baseline.,,[Sources],- Local project notebooks, reports, data documentation, and verified artifacts.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Я использовал M5 Forecasting — Accuracy. Это крупный набор Walmart: почти 28 миллионов ежедневных значений только для выбранной категории FOODS.,После недельной агрегации и очистки получилось более 3,1 миллиона строк. Важно: это американские данные 2011–2016 годов, поэтому модель нельзя автоматически переносить в Узбекистан.,,[Sources],- Local project notebooks, reports, data documentation, and verified artifacts.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наборе M5 пять исходных файлов. Основные три — продажи, календарь и цены. Validation-файл является сокращённой версией evaluation, а sample submission показывает только формат Kaggle.,Я не изменял исходные CSV. Все преобразования сохранены как новые файлы в отдельных папках.,,[Sources],- Local project notebooks, reports, data documentation, and verified artifacts.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Количество строк нельзя называть количеством товаров. Каждая строка — комбинация item_id и store_id.,В полном файле 3 049 уникальных товаров и 10 магазинов, поэтому получается 30 490 строк. Для FOODS осталось 1 437 товаров и 14 370 товарно-магазинных рядов.,,[Sources],- Local project notebooks, reports, data documentation, and verified artifacts.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Операция melt в Pandas соответствует Unpivot Columns в Excel Power Query. Она превращает тысячи дневных колонок в две колонки: номер дня и продажи.,Мы не складывали validation и evaluation, потому что evaluation уже содержит все старые дни и ещё 28 новых. Иначе первые 1 913 дней были бы задублированы.,,[Sources],- Local project notebooks, reports, data documentation, and verified artifacts.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После melt я присоединил календарь по d, а цены — по магазину, товару и ценовой неделе. Затем для каждой даты определил понедельник и сложил семь ежедневных значений.,Например, товар FOODS_1_001 в магазине CA_1 за неделю 31 января — 6 февраля был продан 9 раз; средняя цена была 2 доллара, и в календаре был SuperBowl.,,[Sources],- Local project notebooks, reports, data documentation, and verified artifacts.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После недельной таблицы я создал лаги и rolling-признаки только из прошлых недель. Затем сохранил отдельные train, validation и test Parquet-файлы.,Модель получает 20 числовых признаков, а правильный ответ — weekly_units_sold. Порядок времени не нарушается: validation выбирает модель, test только подтверждает результат.,,[Sources],- Local project notebooks, reports, data documentation, and verified artifacts.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Сначала я проверил структуру всех файлов, пропуски, дубликаты, типы и недопустимые значения. Затем перевёл ежедневные продажи в недели.,Я исключил неполные недели и неактивные недели без цены. Нулевой спрос и высокие значения не удалял автоматически — они могут быть реальными. Все решения и количества строк записаны в отчётах.,,[Sources],- Local project notebooks, reports, data documentation, and verified artifacts.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Для временных данных случайное разделение дало бы нереалистичный результат. Поэтому сначала идёт train, затем более поздняя validation и только потом test.,Все rolling-признаки сдвинуты на одну неделю, поэтому текущие продажи не попадают во вход модели. Победитель выбран по validation, а test открыт один раз после фиксации Random Forest.,,[Sources],- Local project notebooks, reports, data documentation, and verified artifacts.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Я сравнил три подхода на одном validation-периоде и по одной метрике. Baseline MAE равен 4,517. Linear Regression оказалась хуже — 4,766.,Random Forest получил 4,270 и улучшил baseline на 5,48 процента. Поэтому именно его я зафиксировал как финального кандидата.,,[Sources],- Local project notebooks, reports, data documentation, and verified artifacts.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После выбора я переобучил зафиксированный Random Forest на train плюс validation и один раз проверил на 57 480 новых строках.,MAE модели — 4,4179 против 4,7874 у baseline. Улучшение составило 7,72 процента. Простыми словами, средняя ошибка — около 4,42 единицы товара в неделю.,,[Sources],- Local project notebooks, reports, data documentation, and verified artifacts.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Средняя метрика скрывает слабые места. 76 процентов прогнозов находятся в пределах пяти единиц, но при фактическом спросе 21 и выше MAE растёт до 12,33.,Также модель в среднем недооценивает такие недели на 5,10 единицы. Поэтому прогнозы высокого спроса должны обязательно проверяться человеком.,,[Sources],- Local project notebooks, reports, data documentation, and verified artifacts.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Самые важные признаки — продажи неделю назад и среднее за четыре прошлые недели. Это логично: недавний спрос обычно лучше всего описывает следующий период.,Но feature importance нельзя называть причинностью. Она только показывает, какие признаки модель чаще использовала для уменьшения ошибки.,,[Sources],- Local project notebooks, reports, data documentation, and verified artifacts.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Для демонстрации я открываю demo.ipynb в Colab и запускаю все ячейки. Он устанавливает зависимости, загружает сохранённую модель и проверяет корректный и некорректный ввод.,Тот же inference core используется во Flask API и браузерном UI. При запросе модель только загружается и предсказывает — переобучения нет.,,[Sources],- Local project notebooks, reports, data documentation, and verified artifacts.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Проект проверен в чистой среде: зависимости установились, demo выполнился без исходных CSV и локальной базы MLflow. После добавления проверки согласованности цен текущий набор из 21 теста также проходит полностью.,Однако модель обучена на старых данных Walmart США. Для Узбекистана или другого магазина нужны местные данные, переобучение и новый хронологический test. Итог: это поддержка решения с human review.,,[Sources],- Local project notebooks, reports, data documentation, and verified artifacts.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Спасибо за внимание. Я готов ответить на вопросы о данных, защите от leakage, выборе Random Forest, метриках, ошибках и демонстрации.,Для ответа я использую структуру: решение, затем доказательство из проекта, затем ограничение.,,[Sources],- Local project notebooks, reports, data documentation, and verified artifacts.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976D2"/>
          </a:solidFill>
          <a:ln w="12700">
            <a:solidFill>
              <a:srgbClr val="1976D2"/>
            </a:solidFill>
            <a:prstDash val="solid"/>
          </a:ln>
        </p:spPr>
      </p:sp>
      <p:sp>
        <p:nvSpPr>
          <p:cNvPr id="3" name="Text 1"/>
          <p:cNvSpPr/>
          <p:nvPr/>
        </p:nvSpPr>
        <p:spPr>
          <a:xfrm>
            <a:off x="502920" y="182880"/>
            <a:ext cx="4297680" cy="228600"/>
          </a:xfrm>
          <a:prstGeom prst="rect">
            <a:avLst/>
          </a:prstGeom>
          <a:noFill/>
          <a:ln/>
        </p:spPr>
        <p:txBody>
          <a:bodyPr wrap="square" lIns="0" tIns="0" rIns="0" bIns="0" rtlCol="0" anchor="ctr"/>
          <a:lstStyle/>
          <a:p>
            <a:pPr indent="0" marL="0">
              <a:buNone/>
            </a:pPr>
            <a:r>
              <a:rPr lang="en-US" sz="900" b="1" dirty="0">
                <a:solidFill>
                  <a:srgbClr val="1976D2"/>
                </a:solidFill>
                <a:latin typeface="Aptos" pitchFamily="34" charset="0"/>
                <a:ea typeface="Aptos" pitchFamily="34" charset="-122"/>
                <a:cs typeface="Aptos" pitchFamily="34" charset="-120"/>
              </a:rPr>
              <a:t>AI/ML FUNDAMENTALS • CAPSTONE</a:t>
            </a:r>
            <a:endParaRPr lang="en-US" sz="900" dirty="0"/>
          </a:p>
        </p:txBody>
      </p:sp>
      <p:sp>
        <p:nvSpPr>
          <p:cNvPr id="4" name="Text 2"/>
          <p:cNvSpPr/>
          <p:nvPr/>
        </p:nvSpPr>
        <p:spPr>
          <a:xfrm>
            <a:off x="8778240" y="182880"/>
            <a:ext cx="2880360" cy="228600"/>
          </a:xfrm>
          <a:prstGeom prst="rect">
            <a:avLst/>
          </a:prstGeom>
          <a:noFill/>
          <a:ln/>
        </p:spPr>
        <p:txBody>
          <a:bodyPr wrap="square" lIns="0" tIns="0" rIns="0" bIns="0" rtlCol="0" anchor="ctr"/>
          <a:lstStyle/>
          <a:p>
            <a:pPr algn="r" indent="0" marL="0">
              <a:buNone/>
            </a:pPr>
            <a:r>
              <a:rPr lang="en-US" sz="900" dirty="0">
                <a:solidFill>
                  <a:srgbClr val="64748B"/>
                </a:solidFill>
                <a:latin typeface="Aptos" pitchFamily="34" charset="0"/>
                <a:ea typeface="Aptos" pitchFamily="34" charset="-122"/>
                <a:cs typeface="Aptos" pitchFamily="34" charset="-120"/>
              </a:rPr>
              <a:t>Носиров Нодир • Tulpar</a:t>
            </a:r>
            <a:endParaRPr lang="en-US" sz="900" dirty="0"/>
          </a:p>
        </p:txBody>
      </p:sp>
      <p:sp>
        <p:nvSpPr>
          <p:cNvPr id="5" name="Shape 3"/>
          <p:cNvSpPr/>
          <p:nvPr/>
        </p:nvSpPr>
        <p:spPr>
          <a:xfrm>
            <a:off x="502920" y="6510528"/>
            <a:ext cx="11155680" cy="0"/>
          </a:xfrm>
          <a:prstGeom prst="line">
            <a:avLst/>
          </a:prstGeom>
          <a:noFill/>
          <a:ln w="12700">
            <a:solidFill>
              <a:srgbClr val="D9E2EC"/>
            </a:solidFill>
            <a:prstDash val="solid"/>
          </a:ln>
        </p:spPr>
      </p:sp>
      <p:sp>
        <p:nvSpPr>
          <p:cNvPr id="25" name="Slide Number Placeholder 0"/>
          <p:cNvSpPr>
            <a:spLocks noGrp="1"/>
          </p:cNvSpPr>
          <p:nvPr>
            <p:ph type="sldNum" sz="quarter" idx="4294967295"/>
          </p:nvPr>
        </p:nvSpPr>
        <p:spPr>
          <a:xfrm>
            <a:off x="11503152" y="6565392"/>
            <a:ext cx="182880" cy="13716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03152" y="6565392"/>
            <a:ext cx="182880" cy="13716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02A43"/>
          </a:solidFill>
          <a:ln w="12700">
            <a:solidFill>
              <a:srgbClr val="102A43"/>
            </a:solidFill>
            <a:prstDash val="solid"/>
          </a:ln>
        </p:spPr>
      </p:sp>
      <p:sp>
        <p:nvSpPr>
          <p:cNvPr id="3" name="Shape 1"/>
          <p:cNvSpPr/>
          <p:nvPr/>
        </p:nvSpPr>
        <p:spPr>
          <a:xfrm rot="1500000">
            <a:off x="8366760" y="137160"/>
            <a:ext cx="3566160" cy="3566160"/>
          </a:xfrm>
          <a:prstGeom prst="arc">
            <a:avLst/>
          </a:prstGeom>
          <a:solidFill>
            <a:srgbClr val="1976D2">
              <a:alpha val="82000"/>
            </a:srgbClr>
          </a:solidFill>
          <a:ln w="12700">
            <a:solidFill>
              <a:srgbClr val="1976D2">
                <a:alpha val="0"/>
              </a:srgbClr>
            </a:solidFill>
            <a:prstDash val="solid"/>
          </a:ln>
        </p:spPr>
      </p:sp>
      <p:sp>
        <p:nvSpPr>
          <p:cNvPr id="4" name="Shape 2"/>
          <p:cNvSpPr/>
          <p:nvPr/>
        </p:nvSpPr>
        <p:spPr>
          <a:xfrm rot="12300000">
            <a:off x="7909560" y="3886200"/>
            <a:ext cx="3703320" cy="2697480"/>
          </a:xfrm>
          <a:prstGeom prst="arc">
            <a:avLst/>
          </a:prstGeom>
          <a:solidFill>
            <a:srgbClr val="2CB1BC">
              <a:alpha val="65000"/>
            </a:srgbClr>
          </a:solidFill>
          <a:ln w="12700">
            <a:solidFill>
              <a:srgbClr val="2CB1BC">
                <a:alpha val="0"/>
              </a:srgbClr>
            </a:solidFill>
            <a:prstDash val="solid"/>
          </a:ln>
        </p:spPr>
      </p:sp>
      <p:sp>
        <p:nvSpPr>
          <p:cNvPr id="5" name="Text 3"/>
          <p:cNvSpPr/>
          <p:nvPr/>
        </p:nvSpPr>
        <p:spPr>
          <a:xfrm>
            <a:off x="731520" y="1143000"/>
            <a:ext cx="7772400" cy="1508760"/>
          </a:xfrm>
          <a:prstGeom prst="rect">
            <a:avLst/>
          </a:prstGeom>
          <a:noFill/>
          <a:ln/>
        </p:spPr>
        <p:txBody>
          <a:bodyPr wrap="square" lIns="0" tIns="0" rIns="0" bIns="0" rtlCol="0" anchor="ctr">
            <a:normAutofit/>
          </a:bodyPr>
          <a:lstStyle/>
          <a:p>
            <a:pPr indent="0" marL="0">
              <a:buNone/>
            </a:pPr>
            <a:r>
              <a:rPr lang="en-US" sz="3800" b="1" dirty="0">
                <a:solidFill>
                  <a:srgbClr val="FFFFFF"/>
                </a:solidFill>
              </a:rPr>
              <a:t>RETAIL DEMAND</a:t>
            </a:r>
            <a:endParaRPr lang="en-US" sz="3800" dirty="0"/>
          </a:p>
          <a:p>
            <a:pPr indent="0" marL="0">
              <a:buNone/>
            </a:pPr>
            <a:r>
              <a:rPr lang="en-US" sz="3800" b="1" dirty="0">
                <a:solidFill>
                  <a:srgbClr val="FFFFFF"/>
                </a:solidFill>
              </a:rPr>
              <a:t>FORECASTING</a:t>
            </a:r>
            <a:endParaRPr lang="en-US" sz="3800" dirty="0"/>
          </a:p>
        </p:txBody>
      </p:sp>
      <p:sp>
        <p:nvSpPr>
          <p:cNvPr id="6" name="Text 4"/>
          <p:cNvSpPr/>
          <p:nvPr/>
        </p:nvSpPr>
        <p:spPr>
          <a:xfrm>
            <a:off x="749808" y="2907792"/>
            <a:ext cx="6675120" cy="457200"/>
          </a:xfrm>
          <a:prstGeom prst="rect">
            <a:avLst/>
          </a:prstGeom>
          <a:noFill/>
          <a:ln/>
        </p:spPr>
        <p:txBody>
          <a:bodyPr wrap="square" lIns="0" tIns="0" rIns="0" bIns="0" rtlCol="0" anchor="ctr"/>
          <a:lstStyle/>
          <a:p>
            <a:pPr indent="0" marL="0">
              <a:buNone/>
            </a:pPr>
            <a:r>
              <a:rPr lang="en-US" sz="2000" dirty="0">
                <a:solidFill>
                  <a:srgbClr val="C7DDFC"/>
                </a:solidFill>
              </a:rPr>
              <a:t>Прогноз недельного спроса на товары FOODS</a:t>
            </a:r>
            <a:endParaRPr lang="en-US" sz="2000" dirty="0"/>
          </a:p>
        </p:txBody>
      </p:sp>
      <p:sp>
        <p:nvSpPr>
          <p:cNvPr id="7" name="Shape 5"/>
          <p:cNvSpPr/>
          <p:nvPr/>
        </p:nvSpPr>
        <p:spPr>
          <a:xfrm>
            <a:off x="749808" y="3547872"/>
            <a:ext cx="4023360" cy="0"/>
          </a:xfrm>
          <a:prstGeom prst="line">
            <a:avLst/>
          </a:prstGeom>
          <a:noFill/>
          <a:ln w="50800">
            <a:solidFill>
              <a:srgbClr val="F59E0B"/>
            </a:solidFill>
            <a:prstDash val="solid"/>
          </a:ln>
        </p:spPr>
      </p:sp>
      <p:sp>
        <p:nvSpPr>
          <p:cNvPr id="8" name="Text 6"/>
          <p:cNvSpPr/>
          <p:nvPr/>
        </p:nvSpPr>
        <p:spPr>
          <a:xfrm>
            <a:off x="749808" y="3877056"/>
            <a:ext cx="6035040" cy="640080"/>
          </a:xfrm>
          <a:prstGeom prst="rect">
            <a:avLst/>
          </a:prstGeom>
          <a:noFill/>
          <a:ln/>
        </p:spPr>
        <p:txBody>
          <a:bodyPr wrap="square" lIns="0" tIns="0" rIns="0" bIns="0" rtlCol="0" anchor="ctr"/>
          <a:lstStyle/>
          <a:p>
            <a:pPr indent="0" marL="0">
              <a:buNone/>
            </a:pPr>
            <a:r>
              <a:rPr lang="en-US" sz="1500" dirty="0">
                <a:solidFill>
                  <a:srgbClr val="FFFFFF"/>
                </a:solidFill>
              </a:rPr>
              <a:t>Носиров Нодир  •  группа Tulpar</a:t>
            </a:r>
            <a:endParaRPr lang="en-US" sz="1500" dirty="0"/>
          </a:p>
          <a:p>
            <a:pPr indent="0" marL="0">
              <a:buNone/>
            </a:pPr>
            <a:r>
              <a:rPr lang="en-US" sz="1500" dirty="0">
                <a:solidFill>
                  <a:srgbClr val="FFFFFF"/>
                </a:solidFill>
              </a:rPr>
              <a:t>AI/ML Fundamentals Capstone  •  2026</a:t>
            </a:r>
            <a:endParaRPr lang="en-US" sz="1500" dirty="0"/>
          </a:p>
        </p:txBody>
      </p:sp>
      <p:sp>
        <p:nvSpPr>
          <p:cNvPr id="9" name="Text 7"/>
          <p:cNvSpPr/>
          <p:nvPr/>
        </p:nvSpPr>
        <p:spPr>
          <a:xfrm>
            <a:off x="749808" y="5870448"/>
            <a:ext cx="8046720" cy="347472"/>
          </a:xfrm>
          <a:prstGeom prst="rect">
            <a:avLst/>
          </a:prstGeom>
          <a:noFill/>
          <a:ln/>
        </p:spPr>
        <p:txBody>
          <a:bodyPr wrap="square" lIns="0" tIns="0" rIns="0" bIns="0" rtlCol="0" anchor="ctr"/>
          <a:lstStyle/>
          <a:p>
            <a:pPr indent="0" marL="0">
              <a:buNone/>
            </a:pPr>
            <a:r>
              <a:rPr lang="en-US" sz="1300" b="1" dirty="0">
                <a:solidFill>
                  <a:srgbClr val="D9EAFB"/>
                </a:solidFill>
              </a:rPr>
              <a:t>Цель: поддержать планирование запасов — не заменить решение человека</a:t>
            </a:r>
            <a:endParaRPr lang="en-US" sz="1300" dirty="0"/>
          </a:p>
        </p:txBody>
      </p:sp>
      <p:sp>
        <p:nvSpPr>
          <p:cNvPr id="25" name="Slide Number Placeholder 0"/>
          <p:cNvSpPr>
            <a:spLocks noGrp="1"/>
          </p:cNvSpPr>
          <p:nvPr>
            <p:ph type="sldNum" sz="quarter" idx="4294967295"/>
          </p:nvPr>
        </p:nvSpPr>
        <p:spPr>
          <a:xfrm>
            <a:off x="11503152" y="6565392"/>
            <a:ext cx="182880" cy="13716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94360" y="530352"/>
            <a:ext cx="2926080" cy="219456"/>
          </a:xfrm>
          <a:prstGeom prst="rect">
            <a:avLst/>
          </a:prstGeom>
          <a:noFill/>
          <a:ln/>
        </p:spPr>
        <p:txBody>
          <a:bodyPr wrap="square" lIns="0" tIns="0" rIns="0" bIns="0" rtlCol="0" anchor="ctr"/>
          <a:lstStyle/>
          <a:p>
            <a:pPr indent="0" marL="0">
              <a:buNone/>
            </a:pPr>
            <a:r>
              <a:rPr lang="en-US" sz="1000" b="1" spc="110" kern="0" dirty="0">
                <a:solidFill>
                  <a:srgbClr val="1976D2"/>
                </a:solidFill>
              </a:rPr>
              <a:t>1 • ПРОБЛЕМА И ПОЛЬЗОВАТЕЛЬ</a:t>
            </a:r>
            <a:endParaRPr lang="en-US" sz="1000" dirty="0"/>
          </a:p>
        </p:txBody>
      </p:sp>
      <p:sp>
        <p:nvSpPr>
          <p:cNvPr id="3" name="Text 1"/>
          <p:cNvSpPr/>
          <p:nvPr/>
        </p:nvSpPr>
        <p:spPr>
          <a:xfrm>
            <a:off x="594360" y="804672"/>
            <a:ext cx="10972800" cy="566928"/>
          </a:xfrm>
          <a:prstGeom prst="rect">
            <a:avLst/>
          </a:prstGeom>
          <a:noFill/>
          <a:ln/>
        </p:spPr>
        <p:txBody>
          <a:bodyPr wrap="square" lIns="0" tIns="0" rIns="0" bIns="0" rtlCol="0" anchor="ctr">
            <a:normAutofit/>
          </a:bodyPr>
          <a:lstStyle/>
          <a:p>
            <a:pPr indent="0" marL="0">
              <a:buNone/>
            </a:pPr>
            <a:r>
              <a:rPr lang="en-US" sz="2700" b="1" dirty="0">
                <a:solidFill>
                  <a:srgbClr val="102A43"/>
                </a:solidFill>
              </a:rPr>
              <a:t>Какую проблему решает проект</a:t>
            </a:r>
            <a:endParaRPr lang="en-US" sz="2700" dirty="0"/>
          </a:p>
        </p:txBody>
      </p:sp>
      <p:sp>
        <p:nvSpPr>
          <p:cNvPr id="4" name="Shape 2"/>
          <p:cNvSpPr/>
          <p:nvPr/>
        </p:nvSpPr>
        <p:spPr>
          <a:xfrm>
            <a:off x="640080" y="1600200"/>
            <a:ext cx="3383280" cy="1828800"/>
          </a:xfrm>
          <a:prstGeom prst="roundRect">
            <a:avLst>
              <a:gd name="adj" fmla="val 4000"/>
            </a:avLst>
          </a:prstGeom>
          <a:solidFill>
            <a:srgbClr val="FFFFFF"/>
          </a:solidFill>
          <a:ln w="15240">
            <a:solidFill>
              <a:srgbClr val="D9E2EC"/>
            </a:solidFill>
            <a:prstDash val="solid"/>
          </a:ln>
          <a:effectLst>
            <a:outerShdw sx="100000" sy="100000" kx="0" ky="0" algn="bl" rotWithShape="0" blurRad="19050" dist="50800" dir="2700000">
              <a:srgbClr val="B8C6D1">
                <a:alpha val="16000"/>
              </a:srgbClr>
            </a:outerShdw>
          </a:effectLst>
        </p:spPr>
      </p:sp>
      <p:sp>
        <p:nvSpPr>
          <p:cNvPr id="5" name="Shape 3"/>
          <p:cNvSpPr/>
          <p:nvPr/>
        </p:nvSpPr>
        <p:spPr>
          <a:xfrm>
            <a:off x="640080" y="1600200"/>
            <a:ext cx="73152" cy="1828800"/>
          </a:xfrm>
          <a:prstGeom prst="rect">
            <a:avLst/>
          </a:prstGeom>
          <a:solidFill>
            <a:srgbClr val="1976D2"/>
          </a:solidFill>
          <a:ln w="12700">
            <a:solidFill>
              <a:srgbClr val="1976D2"/>
            </a:solidFill>
            <a:prstDash val="solid"/>
          </a:ln>
        </p:spPr>
      </p:sp>
      <p:sp>
        <p:nvSpPr>
          <p:cNvPr id="6" name="Text 4"/>
          <p:cNvSpPr/>
          <p:nvPr/>
        </p:nvSpPr>
        <p:spPr>
          <a:xfrm>
            <a:off x="896112" y="1783080"/>
            <a:ext cx="2971800" cy="274320"/>
          </a:xfrm>
          <a:prstGeom prst="rect">
            <a:avLst/>
          </a:prstGeom>
          <a:noFill/>
          <a:ln/>
        </p:spPr>
        <p:txBody>
          <a:bodyPr wrap="square" lIns="0" tIns="0" rIns="0" bIns="0" rtlCol="0" anchor="ctr">
            <a:normAutofit/>
          </a:bodyPr>
          <a:lstStyle/>
          <a:p>
            <a:pPr indent="0" marL="0">
              <a:buNone/>
            </a:pPr>
            <a:r>
              <a:rPr lang="en-US" sz="1500" b="1" dirty="0">
                <a:solidFill>
                  <a:srgbClr val="102A43"/>
                </a:solidFill>
              </a:rPr>
              <a:t>Вход</a:t>
            </a:r>
            <a:endParaRPr lang="en-US" sz="1500" dirty="0"/>
          </a:p>
        </p:txBody>
      </p:sp>
      <p:sp>
        <p:nvSpPr>
          <p:cNvPr id="7" name="Text 5"/>
          <p:cNvSpPr/>
          <p:nvPr/>
        </p:nvSpPr>
        <p:spPr>
          <a:xfrm>
            <a:off x="896112" y="2167128"/>
            <a:ext cx="2944368" cy="1115568"/>
          </a:xfrm>
          <a:prstGeom prst="rect">
            <a:avLst/>
          </a:prstGeom>
          <a:noFill/>
          <a:ln/>
        </p:spPr>
        <p:txBody>
          <a:bodyPr wrap="square" lIns="254" tIns="254" rIns="254" bIns="254" rtlCol="0" anchor="ctr">
            <a:normAutofit/>
          </a:bodyPr>
          <a:lstStyle/>
          <a:p>
            <a:pPr indent="0" marL="0">
              <a:buNone/>
            </a:pPr>
            <a:r>
              <a:rPr lang="en-US" sz="1150" dirty="0">
                <a:solidFill>
                  <a:srgbClr val="243B53"/>
                </a:solidFill>
              </a:rPr>
              <a:t>Магазин и товар</a:t>
            </a:r>
            <a:endParaRPr lang="en-US" sz="1150" dirty="0"/>
          </a:p>
          <a:p>
            <a:pPr indent="0" marL="0">
              <a:buNone/>
            </a:pPr>
            <a:r>
              <a:rPr lang="en-US" sz="1150" dirty="0">
                <a:solidFill>
                  <a:srgbClr val="243B53"/>
                </a:solidFill>
              </a:rPr>
              <a:t>Прошлые продажи</a:t>
            </a:r>
            <a:endParaRPr lang="en-US" sz="1150" dirty="0"/>
          </a:p>
          <a:p>
            <a:pPr indent="0" marL="0">
              <a:buNone/>
            </a:pPr>
            <a:r>
              <a:rPr lang="en-US" sz="1150" dirty="0">
                <a:solidFill>
                  <a:srgbClr val="243B53"/>
                </a:solidFill>
              </a:rPr>
              <a:t>Цена и календарные признаки</a:t>
            </a:r>
            <a:endParaRPr lang="en-US" sz="1150" dirty="0"/>
          </a:p>
        </p:txBody>
      </p:sp>
      <p:sp>
        <p:nvSpPr>
          <p:cNvPr id="8" name="Shape 6"/>
          <p:cNvSpPr/>
          <p:nvPr/>
        </p:nvSpPr>
        <p:spPr>
          <a:xfrm>
            <a:off x="4407408" y="1600200"/>
            <a:ext cx="3383280" cy="1828800"/>
          </a:xfrm>
          <a:prstGeom prst="roundRect">
            <a:avLst>
              <a:gd name="adj" fmla="val 4000"/>
            </a:avLst>
          </a:prstGeom>
          <a:solidFill>
            <a:srgbClr val="FFFFFF"/>
          </a:solidFill>
          <a:ln w="15240">
            <a:solidFill>
              <a:srgbClr val="D9E2EC"/>
            </a:solidFill>
            <a:prstDash val="solid"/>
          </a:ln>
          <a:effectLst>
            <a:outerShdw sx="100000" sy="100000" kx="0" ky="0" algn="bl" rotWithShape="0" blurRad="19050" dist="50800" dir="2700000">
              <a:srgbClr val="B8C6D1">
                <a:alpha val="16000"/>
              </a:srgbClr>
            </a:outerShdw>
          </a:effectLst>
        </p:spPr>
      </p:sp>
      <p:sp>
        <p:nvSpPr>
          <p:cNvPr id="9" name="Shape 7"/>
          <p:cNvSpPr/>
          <p:nvPr/>
        </p:nvSpPr>
        <p:spPr>
          <a:xfrm>
            <a:off x="4407408" y="1600200"/>
            <a:ext cx="73152" cy="1828800"/>
          </a:xfrm>
          <a:prstGeom prst="rect">
            <a:avLst/>
          </a:prstGeom>
          <a:solidFill>
            <a:srgbClr val="2CB1BC"/>
          </a:solidFill>
          <a:ln w="12700">
            <a:solidFill>
              <a:srgbClr val="2CB1BC"/>
            </a:solidFill>
            <a:prstDash val="solid"/>
          </a:ln>
        </p:spPr>
      </p:sp>
      <p:sp>
        <p:nvSpPr>
          <p:cNvPr id="10" name="Text 8"/>
          <p:cNvSpPr/>
          <p:nvPr/>
        </p:nvSpPr>
        <p:spPr>
          <a:xfrm>
            <a:off x="4663440" y="1783080"/>
            <a:ext cx="2971800" cy="274320"/>
          </a:xfrm>
          <a:prstGeom prst="rect">
            <a:avLst/>
          </a:prstGeom>
          <a:noFill/>
          <a:ln/>
        </p:spPr>
        <p:txBody>
          <a:bodyPr wrap="square" lIns="0" tIns="0" rIns="0" bIns="0" rtlCol="0" anchor="ctr">
            <a:normAutofit/>
          </a:bodyPr>
          <a:lstStyle/>
          <a:p>
            <a:pPr indent="0" marL="0">
              <a:buNone/>
            </a:pPr>
            <a:r>
              <a:rPr lang="en-US" sz="1500" b="1" dirty="0">
                <a:solidFill>
                  <a:srgbClr val="102A43"/>
                </a:solidFill>
              </a:rPr>
              <a:t>ML-задача</a:t>
            </a:r>
            <a:endParaRPr lang="en-US" sz="1500" dirty="0"/>
          </a:p>
        </p:txBody>
      </p:sp>
      <p:sp>
        <p:nvSpPr>
          <p:cNvPr id="11" name="Text 9"/>
          <p:cNvSpPr/>
          <p:nvPr/>
        </p:nvSpPr>
        <p:spPr>
          <a:xfrm>
            <a:off x="4663440" y="2167128"/>
            <a:ext cx="2944368" cy="1115568"/>
          </a:xfrm>
          <a:prstGeom prst="rect">
            <a:avLst/>
          </a:prstGeom>
          <a:noFill/>
          <a:ln/>
        </p:spPr>
        <p:txBody>
          <a:bodyPr wrap="square" lIns="254" tIns="254" rIns="254" bIns="254" rtlCol="0" anchor="ctr">
            <a:normAutofit/>
          </a:bodyPr>
          <a:lstStyle/>
          <a:p>
            <a:pPr indent="0" marL="0">
              <a:buNone/>
            </a:pPr>
            <a:r>
              <a:rPr lang="en-US" sz="1150" dirty="0">
                <a:solidFill>
                  <a:srgbClr val="243B53"/>
                </a:solidFill>
              </a:rPr>
              <a:t>Регрессия: предсказать количество единиц товара, которое будет продано за следующую неделю.</a:t>
            </a:r>
            <a:endParaRPr lang="en-US" sz="1150" dirty="0"/>
          </a:p>
        </p:txBody>
      </p:sp>
      <p:sp>
        <p:nvSpPr>
          <p:cNvPr id="12" name="Shape 10"/>
          <p:cNvSpPr/>
          <p:nvPr/>
        </p:nvSpPr>
        <p:spPr>
          <a:xfrm>
            <a:off x="8174736" y="1600200"/>
            <a:ext cx="3383280" cy="1828800"/>
          </a:xfrm>
          <a:prstGeom prst="roundRect">
            <a:avLst>
              <a:gd name="adj" fmla="val 4000"/>
            </a:avLst>
          </a:prstGeom>
          <a:solidFill>
            <a:srgbClr val="FFFFFF"/>
          </a:solidFill>
          <a:ln w="15240">
            <a:solidFill>
              <a:srgbClr val="D9E2EC"/>
            </a:solidFill>
            <a:prstDash val="solid"/>
          </a:ln>
          <a:effectLst>
            <a:outerShdw sx="100000" sy="100000" kx="0" ky="0" algn="bl" rotWithShape="0" blurRad="19050" dist="50800" dir="2700000">
              <a:srgbClr val="B8C6D1">
                <a:alpha val="16000"/>
              </a:srgbClr>
            </a:outerShdw>
          </a:effectLst>
        </p:spPr>
      </p:sp>
      <p:sp>
        <p:nvSpPr>
          <p:cNvPr id="13" name="Shape 11"/>
          <p:cNvSpPr/>
          <p:nvPr/>
        </p:nvSpPr>
        <p:spPr>
          <a:xfrm>
            <a:off x="8174736" y="1600200"/>
            <a:ext cx="73152" cy="1828800"/>
          </a:xfrm>
          <a:prstGeom prst="rect">
            <a:avLst/>
          </a:prstGeom>
          <a:solidFill>
            <a:srgbClr val="F59E0B"/>
          </a:solidFill>
          <a:ln w="12700">
            <a:solidFill>
              <a:srgbClr val="F59E0B"/>
            </a:solidFill>
            <a:prstDash val="solid"/>
          </a:ln>
        </p:spPr>
      </p:sp>
      <p:sp>
        <p:nvSpPr>
          <p:cNvPr id="14" name="Text 12"/>
          <p:cNvSpPr/>
          <p:nvPr/>
        </p:nvSpPr>
        <p:spPr>
          <a:xfrm>
            <a:off x="8430768" y="1783080"/>
            <a:ext cx="2971800" cy="274320"/>
          </a:xfrm>
          <a:prstGeom prst="rect">
            <a:avLst/>
          </a:prstGeom>
          <a:noFill/>
          <a:ln/>
        </p:spPr>
        <p:txBody>
          <a:bodyPr wrap="square" lIns="0" tIns="0" rIns="0" bIns="0" rtlCol="0" anchor="ctr">
            <a:normAutofit/>
          </a:bodyPr>
          <a:lstStyle/>
          <a:p>
            <a:pPr indent="0" marL="0">
              <a:buNone/>
            </a:pPr>
            <a:r>
              <a:rPr lang="en-US" sz="1500" b="1" dirty="0">
                <a:solidFill>
                  <a:srgbClr val="102A43"/>
                </a:solidFill>
              </a:rPr>
              <a:t>Результат</a:t>
            </a:r>
            <a:endParaRPr lang="en-US" sz="1500" dirty="0"/>
          </a:p>
        </p:txBody>
      </p:sp>
      <p:sp>
        <p:nvSpPr>
          <p:cNvPr id="15" name="Text 13"/>
          <p:cNvSpPr/>
          <p:nvPr/>
        </p:nvSpPr>
        <p:spPr>
          <a:xfrm>
            <a:off x="8430768" y="2167128"/>
            <a:ext cx="2944368" cy="1115568"/>
          </a:xfrm>
          <a:prstGeom prst="rect">
            <a:avLst/>
          </a:prstGeom>
          <a:noFill/>
          <a:ln/>
        </p:spPr>
        <p:txBody>
          <a:bodyPr wrap="square" lIns="254" tIns="254" rIns="254" bIns="254" rtlCol="0" anchor="ctr">
            <a:normAutofit/>
          </a:bodyPr>
          <a:lstStyle/>
          <a:p>
            <a:pPr indent="0" marL="0">
              <a:buNone/>
            </a:pPr>
            <a:r>
              <a:rPr lang="en-US" sz="1150" dirty="0">
                <a:solidFill>
                  <a:srgbClr val="243B53"/>
                </a:solidFill>
              </a:rPr>
              <a:t>Одно неотрицательное число — прогноз недельного спроса в единицах.</a:t>
            </a:r>
            <a:endParaRPr lang="en-US" sz="1150" dirty="0"/>
          </a:p>
        </p:txBody>
      </p:sp>
      <p:sp>
        <p:nvSpPr>
          <p:cNvPr id="16" name="Shape 14"/>
          <p:cNvSpPr/>
          <p:nvPr/>
        </p:nvSpPr>
        <p:spPr>
          <a:xfrm>
            <a:off x="4023360" y="2514600"/>
            <a:ext cx="347472" cy="0"/>
          </a:xfrm>
          <a:prstGeom prst="line">
            <a:avLst/>
          </a:prstGeom>
          <a:noFill/>
          <a:ln w="25400">
            <a:solidFill>
              <a:srgbClr val="1976D2"/>
            </a:solidFill>
            <a:prstDash val="solid"/>
            <a:headEnd type="none"/>
            <a:tailEnd type="triangle"/>
          </a:ln>
        </p:spPr>
      </p:sp>
      <p:sp>
        <p:nvSpPr>
          <p:cNvPr id="17" name="Shape 15"/>
          <p:cNvSpPr/>
          <p:nvPr/>
        </p:nvSpPr>
        <p:spPr>
          <a:xfrm>
            <a:off x="7790688" y="2514600"/>
            <a:ext cx="347472" cy="0"/>
          </a:xfrm>
          <a:prstGeom prst="line">
            <a:avLst/>
          </a:prstGeom>
          <a:noFill/>
          <a:ln w="25400">
            <a:solidFill>
              <a:srgbClr val="1976D2"/>
            </a:solidFill>
            <a:prstDash val="solid"/>
            <a:headEnd type="none"/>
            <a:tailEnd type="triangle"/>
          </a:ln>
        </p:spPr>
      </p:sp>
      <p:sp>
        <p:nvSpPr>
          <p:cNvPr id="18" name="Shape 16"/>
          <p:cNvSpPr/>
          <p:nvPr/>
        </p:nvSpPr>
        <p:spPr>
          <a:xfrm>
            <a:off x="1417320" y="4069080"/>
            <a:ext cx="9326880" cy="1143000"/>
          </a:xfrm>
          <a:prstGeom prst="roundRect">
            <a:avLst>
              <a:gd name="adj" fmla="val 4800"/>
            </a:avLst>
          </a:prstGeom>
          <a:solidFill>
            <a:srgbClr val="EAF2FB"/>
          </a:solidFill>
          <a:ln w="12700">
            <a:solidFill>
              <a:srgbClr val="B9D7F2"/>
            </a:solidFill>
            <a:prstDash val="solid"/>
          </a:ln>
        </p:spPr>
      </p:sp>
      <p:sp>
        <p:nvSpPr>
          <p:cNvPr id="19" name="Text 17"/>
          <p:cNvSpPr/>
          <p:nvPr/>
        </p:nvSpPr>
        <p:spPr>
          <a:xfrm>
            <a:off x="1691640" y="4315968"/>
            <a:ext cx="2011680" cy="292608"/>
          </a:xfrm>
          <a:prstGeom prst="rect">
            <a:avLst/>
          </a:prstGeom>
          <a:noFill/>
          <a:ln/>
        </p:spPr>
        <p:txBody>
          <a:bodyPr wrap="square" lIns="0" tIns="0" rIns="0" bIns="0" rtlCol="0" anchor="ctr"/>
          <a:lstStyle/>
          <a:p>
            <a:pPr indent="0" marL="0">
              <a:buNone/>
            </a:pPr>
            <a:r>
              <a:rPr lang="en-US" sz="1500" b="1" dirty="0">
                <a:solidFill>
                  <a:srgbClr val="1976D2"/>
                </a:solidFill>
              </a:rPr>
              <a:t>Критерий успеха</a:t>
            </a:r>
            <a:endParaRPr lang="en-US" sz="1500" dirty="0"/>
          </a:p>
        </p:txBody>
      </p:sp>
      <p:sp>
        <p:nvSpPr>
          <p:cNvPr id="20" name="Text 18"/>
          <p:cNvSpPr/>
          <p:nvPr/>
        </p:nvSpPr>
        <p:spPr>
          <a:xfrm>
            <a:off x="3657600" y="4224528"/>
            <a:ext cx="6675120" cy="502920"/>
          </a:xfrm>
          <a:prstGeom prst="rect">
            <a:avLst/>
          </a:prstGeom>
          <a:noFill/>
          <a:ln/>
        </p:spPr>
        <p:txBody>
          <a:bodyPr wrap="square" lIns="254" tIns="254" rIns="254" bIns="254" rtlCol="0" anchor="ctr">
            <a:normAutofit/>
          </a:bodyPr>
          <a:lstStyle/>
          <a:p>
            <a:pPr indent="0" marL="0">
              <a:buNone/>
            </a:pPr>
            <a:r>
              <a:rPr lang="en-US" sz="1600" b="1" dirty="0">
                <a:solidFill>
                  <a:srgbClr val="102A43"/>
                </a:solidFill>
              </a:rPr>
              <a:t>MAE финальной модели должен быть ниже простого baseline на невидимом временном периоде.</a:t>
            </a:r>
            <a:endParaRPr lang="en-US" sz="1600" dirty="0"/>
          </a:p>
        </p:txBody>
      </p:sp>
      <p:sp>
        <p:nvSpPr>
          <p:cNvPr id="21" name="Text 19"/>
          <p:cNvSpPr/>
          <p:nvPr/>
        </p:nvSpPr>
        <p:spPr>
          <a:xfrm>
            <a:off x="594360" y="6190488"/>
            <a:ext cx="10424160" cy="219456"/>
          </a:xfrm>
          <a:prstGeom prst="rect">
            <a:avLst/>
          </a:prstGeom>
          <a:noFill/>
          <a:ln/>
        </p:spPr>
        <p:txBody>
          <a:bodyPr wrap="square" lIns="0" tIns="0" rIns="0" bIns="0" rtlCol="0" anchor="ctr">
            <a:normAutofit/>
          </a:bodyPr>
          <a:lstStyle/>
          <a:p>
            <a:pPr indent="0" marL="0">
              <a:buNone/>
            </a:pPr>
            <a:r>
              <a:rPr lang="en-US" sz="1000" i="1" dirty="0">
                <a:solidFill>
                  <a:srgbClr val="627D98"/>
                </a:solidFill>
              </a:rPr>
              <a:t>Практическое применение: решение о запасах с обязательной проверкой человеком.</a:t>
            </a:r>
            <a:endParaRPr lang="en-US" sz="1000" dirty="0"/>
          </a:p>
        </p:txBody>
      </p:sp>
      <p:sp>
        <p:nvSpPr>
          <p:cNvPr id="25" name="Slide Number Placeholder 0"/>
          <p:cNvSpPr>
            <a:spLocks noGrp="1"/>
          </p:cNvSpPr>
          <p:nvPr>
            <p:ph type="sldNum" sz="quarter" idx="4294967295"/>
          </p:nvPr>
        </p:nvSpPr>
        <p:spPr>
          <a:xfrm>
            <a:off x="11503152" y="6565392"/>
            <a:ext cx="182880" cy="13716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4360" y="530352"/>
            <a:ext cx="2926080" cy="219456"/>
          </a:xfrm>
          <a:prstGeom prst="rect">
            <a:avLst/>
          </a:prstGeom>
          <a:noFill/>
          <a:ln/>
        </p:spPr>
        <p:txBody>
          <a:bodyPr wrap="square" lIns="0" tIns="0" rIns="0" bIns="0" rtlCol="0" anchor="ctr"/>
          <a:lstStyle/>
          <a:p>
            <a:pPr indent="0" marL="0">
              <a:buNone/>
            </a:pPr>
            <a:r>
              <a:rPr lang="en-US" sz="1000" b="1" spc="110" kern="0" dirty="0">
                <a:solidFill>
                  <a:srgbClr val="1976D2"/>
                </a:solidFill>
              </a:rPr>
              <a:t>2 • ДАННЫЕ</a:t>
            </a:r>
            <a:endParaRPr lang="en-US" sz="1000" dirty="0"/>
          </a:p>
        </p:txBody>
      </p:sp>
      <p:sp>
        <p:nvSpPr>
          <p:cNvPr id="3" name="Text 1"/>
          <p:cNvSpPr/>
          <p:nvPr/>
        </p:nvSpPr>
        <p:spPr>
          <a:xfrm>
            <a:off x="594360" y="804672"/>
            <a:ext cx="10972800" cy="566928"/>
          </a:xfrm>
          <a:prstGeom prst="rect">
            <a:avLst/>
          </a:prstGeom>
          <a:noFill/>
          <a:ln/>
        </p:spPr>
        <p:txBody>
          <a:bodyPr wrap="square" lIns="0" tIns="0" rIns="0" bIns="0" rtlCol="0" anchor="ctr">
            <a:normAutofit/>
          </a:bodyPr>
          <a:lstStyle/>
          <a:p>
            <a:pPr indent="0" marL="0">
              <a:buNone/>
            </a:pPr>
            <a:r>
              <a:rPr lang="en-US" sz="2700" b="1" dirty="0">
                <a:solidFill>
                  <a:srgbClr val="102A43"/>
                </a:solidFill>
              </a:rPr>
              <a:t>Данные: полный масштаб категории FOODS</a:t>
            </a:r>
            <a:endParaRPr lang="en-US" sz="2700" dirty="0"/>
          </a:p>
        </p:txBody>
      </p:sp>
      <p:sp>
        <p:nvSpPr>
          <p:cNvPr id="4" name="Shape 2"/>
          <p:cNvSpPr/>
          <p:nvPr/>
        </p:nvSpPr>
        <p:spPr>
          <a:xfrm>
            <a:off x="640080" y="1508760"/>
            <a:ext cx="1965960" cy="1005840"/>
          </a:xfrm>
          <a:prstGeom prst="roundRect">
            <a:avLst>
              <a:gd name="adj" fmla="val 5455"/>
            </a:avLst>
          </a:prstGeom>
          <a:solidFill>
            <a:srgbClr val="FFFFFF"/>
          </a:solidFill>
          <a:ln w="12700">
            <a:solidFill>
              <a:srgbClr val="D9E2EC"/>
            </a:solidFill>
            <a:prstDash val="solid"/>
          </a:ln>
        </p:spPr>
      </p:sp>
      <p:sp>
        <p:nvSpPr>
          <p:cNvPr id="5" name="Text 3"/>
          <p:cNvSpPr/>
          <p:nvPr/>
        </p:nvSpPr>
        <p:spPr>
          <a:xfrm>
            <a:off x="731520" y="1636776"/>
            <a:ext cx="1783080" cy="402336"/>
          </a:xfrm>
          <a:prstGeom prst="rect">
            <a:avLst/>
          </a:prstGeom>
          <a:noFill/>
          <a:ln/>
        </p:spPr>
        <p:txBody>
          <a:bodyPr wrap="square" lIns="0" tIns="0" rIns="0" bIns="0" rtlCol="0" anchor="ctr">
            <a:normAutofit/>
          </a:bodyPr>
          <a:lstStyle/>
          <a:p>
            <a:pPr algn="ctr" indent="0" marL="0">
              <a:buNone/>
            </a:pPr>
            <a:r>
              <a:rPr lang="en-US" sz="2400" b="1" dirty="0">
                <a:solidFill>
                  <a:srgbClr val="1976D2"/>
                </a:solidFill>
              </a:rPr>
              <a:t>≈28 млн</a:t>
            </a:r>
            <a:endParaRPr lang="en-US" sz="2400" dirty="0"/>
          </a:p>
        </p:txBody>
      </p:sp>
      <p:sp>
        <p:nvSpPr>
          <p:cNvPr id="6" name="Text 4"/>
          <p:cNvSpPr/>
          <p:nvPr/>
        </p:nvSpPr>
        <p:spPr>
          <a:xfrm>
            <a:off x="749808" y="2121408"/>
            <a:ext cx="1746504" cy="237744"/>
          </a:xfrm>
          <a:prstGeom prst="rect">
            <a:avLst/>
          </a:prstGeom>
          <a:noFill/>
          <a:ln/>
        </p:spPr>
        <p:txBody>
          <a:bodyPr wrap="square" lIns="0" tIns="0" rIns="0" bIns="0" rtlCol="0" anchor="ctr">
            <a:normAutofit/>
          </a:bodyPr>
          <a:lstStyle/>
          <a:p>
            <a:pPr algn="ctr" indent="0" marL="0">
              <a:buNone/>
            </a:pPr>
            <a:r>
              <a:rPr lang="en-US" sz="1050" dirty="0">
                <a:solidFill>
                  <a:srgbClr val="627D98"/>
                </a:solidFill>
              </a:rPr>
              <a:t>дневных продаж</a:t>
            </a:r>
            <a:endParaRPr lang="en-US" sz="1050" dirty="0"/>
          </a:p>
        </p:txBody>
      </p:sp>
      <p:sp>
        <p:nvSpPr>
          <p:cNvPr id="7" name="Shape 5"/>
          <p:cNvSpPr/>
          <p:nvPr/>
        </p:nvSpPr>
        <p:spPr>
          <a:xfrm>
            <a:off x="2788920" y="1508760"/>
            <a:ext cx="1965960" cy="1005840"/>
          </a:xfrm>
          <a:prstGeom prst="roundRect">
            <a:avLst>
              <a:gd name="adj" fmla="val 5455"/>
            </a:avLst>
          </a:prstGeom>
          <a:solidFill>
            <a:srgbClr val="FFFFFF"/>
          </a:solidFill>
          <a:ln w="12700">
            <a:solidFill>
              <a:srgbClr val="D9E2EC"/>
            </a:solidFill>
            <a:prstDash val="solid"/>
          </a:ln>
        </p:spPr>
      </p:sp>
      <p:sp>
        <p:nvSpPr>
          <p:cNvPr id="8" name="Text 6"/>
          <p:cNvSpPr/>
          <p:nvPr/>
        </p:nvSpPr>
        <p:spPr>
          <a:xfrm>
            <a:off x="2880360" y="1636776"/>
            <a:ext cx="1783080" cy="402336"/>
          </a:xfrm>
          <a:prstGeom prst="rect">
            <a:avLst/>
          </a:prstGeom>
          <a:noFill/>
          <a:ln/>
        </p:spPr>
        <p:txBody>
          <a:bodyPr wrap="square" lIns="0" tIns="0" rIns="0" bIns="0" rtlCol="0" anchor="ctr">
            <a:normAutofit/>
          </a:bodyPr>
          <a:lstStyle/>
          <a:p>
            <a:pPr algn="ctr" indent="0" marL="0">
              <a:buNone/>
            </a:pPr>
            <a:r>
              <a:rPr lang="en-US" sz="2400" b="1" dirty="0">
                <a:solidFill>
                  <a:srgbClr val="2CB1BC"/>
                </a:solidFill>
              </a:rPr>
              <a:t>14 370</a:t>
            </a:r>
            <a:endParaRPr lang="en-US" sz="2400" dirty="0"/>
          </a:p>
        </p:txBody>
      </p:sp>
      <p:sp>
        <p:nvSpPr>
          <p:cNvPr id="9" name="Text 7"/>
          <p:cNvSpPr/>
          <p:nvPr/>
        </p:nvSpPr>
        <p:spPr>
          <a:xfrm>
            <a:off x="2898648" y="2121408"/>
            <a:ext cx="1746504" cy="237744"/>
          </a:xfrm>
          <a:prstGeom prst="rect">
            <a:avLst/>
          </a:prstGeom>
          <a:noFill/>
          <a:ln/>
        </p:spPr>
        <p:txBody>
          <a:bodyPr wrap="square" lIns="0" tIns="0" rIns="0" bIns="0" rtlCol="0" anchor="ctr">
            <a:normAutofit/>
          </a:bodyPr>
          <a:lstStyle/>
          <a:p>
            <a:pPr algn="ctr" indent="0" marL="0">
              <a:buNone/>
            </a:pPr>
            <a:r>
              <a:rPr lang="en-US" sz="1050" dirty="0">
                <a:solidFill>
                  <a:srgbClr val="627D98"/>
                </a:solidFill>
              </a:rPr>
              <a:t>товар × магазин</a:t>
            </a:r>
            <a:endParaRPr lang="en-US" sz="1050" dirty="0"/>
          </a:p>
        </p:txBody>
      </p:sp>
      <p:sp>
        <p:nvSpPr>
          <p:cNvPr id="10" name="Shape 8"/>
          <p:cNvSpPr/>
          <p:nvPr/>
        </p:nvSpPr>
        <p:spPr>
          <a:xfrm>
            <a:off x="4937760" y="1508760"/>
            <a:ext cx="1965960" cy="1005840"/>
          </a:xfrm>
          <a:prstGeom prst="roundRect">
            <a:avLst>
              <a:gd name="adj" fmla="val 5455"/>
            </a:avLst>
          </a:prstGeom>
          <a:solidFill>
            <a:srgbClr val="FFFFFF"/>
          </a:solidFill>
          <a:ln w="12700">
            <a:solidFill>
              <a:srgbClr val="D9E2EC"/>
            </a:solidFill>
            <a:prstDash val="solid"/>
          </a:ln>
        </p:spPr>
      </p:sp>
      <p:sp>
        <p:nvSpPr>
          <p:cNvPr id="11" name="Text 9"/>
          <p:cNvSpPr/>
          <p:nvPr/>
        </p:nvSpPr>
        <p:spPr>
          <a:xfrm>
            <a:off x="5029200" y="1636776"/>
            <a:ext cx="1783080" cy="402336"/>
          </a:xfrm>
          <a:prstGeom prst="rect">
            <a:avLst/>
          </a:prstGeom>
          <a:noFill/>
          <a:ln/>
        </p:spPr>
        <p:txBody>
          <a:bodyPr wrap="square" lIns="0" tIns="0" rIns="0" bIns="0" rtlCol="0" anchor="ctr">
            <a:normAutofit/>
          </a:bodyPr>
          <a:lstStyle/>
          <a:p>
            <a:pPr algn="ctr" indent="0" marL="0">
              <a:buNone/>
            </a:pPr>
            <a:r>
              <a:rPr lang="en-US" sz="2400" b="1" dirty="0">
                <a:solidFill>
                  <a:srgbClr val="F59E0B"/>
                </a:solidFill>
              </a:rPr>
              <a:t>1 437</a:t>
            </a:r>
            <a:endParaRPr lang="en-US" sz="2400" dirty="0"/>
          </a:p>
        </p:txBody>
      </p:sp>
      <p:sp>
        <p:nvSpPr>
          <p:cNvPr id="12" name="Text 10"/>
          <p:cNvSpPr/>
          <p:nvPr/>
        </p:nvSpPr>
        <p:spPr>
          <a:xfrm>
            <a:off x="5047488" y="2121408"/>
            <a:ext cx="1746504" cy="237744"/>
          </a:xfrm>
          <a:prstGeom prst="rect">
            <a:avLst/>
          </a:prstGeom>
          <a:noFill/>
          <a:ln/>
        </p:spPr>
        <p:txBody>
          <a:bodyPr wrap="square" lIns="0" tIns="0" rIns="0" bIns="0" rtlCol="0" anchor="ctr">
            <a:normAutofit/>
          </a:bodyPr>
          <a:lstStyle/>
          <a:p>
            <a:pPr algn="ctr" indent="0" marL="0">
              <a:buNone/>
            </a:pPr>
            <a:r>
              <a:rPr lang="en-US" sz="1050" dirty="0">
                <a:solidFill>
                  <a:srgbClr val="627D98"/>
                </a:solidFill>
              </a:rPr>
              <a:t>уникальных товаров</a:t>
            </a:r>
            <a:endParaRPr lang="en-US" sz="1050" dirty="0"/>
          </a:p>
        </p:txBody>
      </p:sp>
      <p:sp>
        <p:nvSpPr>
          <p:cNvPr id="13" name="Shape 11"/>
          <p:cNvSpPr/>
          <p:nvPr/>
        </p:nvSpPr>
        <p:spPr>
          <a:xfrm>
            <a:off x="7086600" y="1508760"/>
            <a:ext cx="1965960" cy="1005840"/>
          </a:xfrm>
          <a:prstGeom prst="roundRect">
            <a:avLst>
              <a:gd name="adj" fmla="val 5455"/>
            </a:avLst>
          </a:prstGeom>
          <a:solidFill>
            <a:srgbClr val="FFFFFF"/>
          </a:solidFill>
          <a:ln w="12700">
            <a:solidFill>
              <a:srgbClr val="D9E2EC"/>
            </a:solidFill>
            <a:prstDash val="solid"/>
          </a:ln>
        </p:spPr>
      </p:sp>
      <p:sp>
        <p:nvSpPr>
          <p:cNvPr id="14" name="Text 12"/>
          <p:cNvSpPr/>
          <p:nvPr/>
        </p:nvSpPr>
        <p:spPr>
          <a:xfrm>
            <a:off x="7178040" y="1636776"/>
            <a:ext cx="1783080" cy="402336"/>
          </a:xfrm>
          <a:prstGeom prst="rect">
            <a:avLst/>
          </a:prstGeom>
          <a:noFill/>
          <a:ln/>
        </p:spPr>
        <p:txBody>
          <a:bodyPr wrap="square" lIns="0" tIns="0" rIns="0" bIns="0" rtlCol="0" anchor="ctr">
            <a:normAutofit/>
          </a:bodyPr>
          <a:lstStyle/>
          <a:p>
            <a:pPr algn="ctr" indent="0" marL="0">
              <a:buNone/>
            </a:pPr>
            <a:r>
              <a:rPr lang="en-US" sz="2400" b="1" dirty="0">
                <a:solidFill>
                  <a:srgbClr val="178F65"/>
                </a:solidFill>
              </a:rPr>
              <a:t>10</a:t>
            </a:r>
            <a:endParaRPr lang="en-US" sz="2400" dirty="0"/>
          </a:p>
        </p:txBody>
      </p:sp>
      <p:sp>
        <p:nvSpPr>
          <p:cNvPr id="15" name="Text 13"/>
          <p:cNvSpPr/>
          <p:nvPr/>
        </p:nvSpPr>
        <p:spPr>
          <a:xfrm>
            <a:off x="7196328" y="2121408"/>
            <a:ext cx="1746504" cy="237744"/>
          </a:xfrm>
          <a:prstGeom prst="rect">
            <a:avLst/>
          </a:prstGeom>
          <a:noFill/>
          <a:ln/>
        </p:spPr>
        <p:txBody>
          <a:bodyPr wrap="square" lIns="0" tIns="0" rIns="0" bIns="0" rtlCol="0" anchor="ctr">
            <a:normAutofit/>
          </a:bodyPr>
          <a:lstStyle/>
          <a:p>
            <a:pPr algn="ctr" indent="0" marL="0">
              <a:buNone/>
            </a:pPr>
            <a:r>
              <a:rPr lang="en-US" sz="1050" dirty="0">
                <a:solidFill>
                  <a:srgbClr val="627D98"/>
                </a:solidFill>
              </a:rPr>
              <a:t>магазинов</a:t>
            </a:r>
            <a:endParaRPr lang="en-US" sz="1050" dirty="0"/>
          </a:p>
        </p:txBody>
      </p:sp>
      <p:sp>
        <p:nvSpPr>
          <p:cNvPr id="16" name="Shape 14"/>
          <p:cNvSpPr/>
          <p:nvPr/>
        </p:nvSpPr>
        <p:spPr>
          <a:xfrm>
            <a:off x="9235440" y="1508760"/>
            <a:ext cx="1965960" cy="1005840"/>
          </a:xfrm>
          <a:prstGeom prst="roundRect">
            <a:avLst>
              <a:gd name="adj" fmla="val 5455"/>
            </a:avLst>
          </a:prstGeom>
          <a:solidFill>
            <a:srgbClr val="FFFFFF"/>
          </a:solidFill>
          <a:ln w="12700">
            <a:solidFill>
              <a:srgbClr val="D9E2EC"/>
            </a:solidFill>
            <a:prstDash val="solid"/>
          </a:ln>
        </p:spPr>
      </p:sp>
      <p:sp>
        <p:nvSpPr>
          <p:cNvPr id="17" name="Text 15"/>
          <p:cNvSpPr/>
          <p:nvPr/>
        </p:nvSpPr>
        <p:spPr>
          <a:xfrm>
            <a:off x="9326880" y="1636776"/>
            <a:ext cx="1783080" cy="402336"/>
          </a:xfrm>
          <a:prstGeom prst="rect">
            <a:avLst/>
          </a:prstGeom>
          <a:noFill/>
          <a:ln/>
        </p:spPr>
        <p:txBody>
          <a:bodyPr wrap="square" lIns="0" tIns="0" rIns="0" bIns="0" rtlCol="0" anchor="ctr">
            <a:normAutofit/>
          </a:bodyPr>
          <a:lstStyle/>
          <a:p>
            <a:pPr algn="ctr" indent="0" marL="0">
              <a:buNone/>
            </a:pPr>
            <a:r>
              <a:rPr lang="en-US" sz="2400" b="1" dirty="0">
                <a:solidFill>
                  <a:srgbClr val="D64545"/>
                </a:solidFill>
              </a:rPr>
              <a:t>3</a:t>
            </a:r>
            <a:endParaRPr lang="en-US" sz="2400" dirty="0"/>
          </a:p>
        </p:txBody>
      </p:sp>
      <p:sp>
        <p:nvSpPr>
          <p:cNvPr id="18" name="Text 16"/>
          <p:cNvSpPr/>
          <p:nvPr/>
        </p:nvSpPr>
        <p:spPr>
          <a:xfrm>
            <a:off x="9345168" y="2121408"/>
            <a:ext cx="1746504" cy="237744"/>
          </a:xfrm>
          <a:prstGeom prst="rect">
            <a:avLst/>
          </a:prstGeom>
          <a:noFill/>
          <a:ln/>
        </p:spPr>
        <p:txBody>
          <a:bodyPr wrap="square" lIns="0" tIns="0" rIns="0" bIns="0" rtlCol="0" anchor="ctr">
            <a:normAutofit/>
          </a:bodyPr>
          <a:lstStyle/>
          <a:p>
            <a:pPr algn="ctr" indent="0" marL="0">
              <a:buNone/>
            </a:pPr>
            <a:r>
              <a:rPr lang="en-US" sz="1050" dirty="0">
                <a:solidFill>
                  <a:srgbClr val="627D98"/>
                </a:solidFill>
              </a:rPr>
              <a:t>штата США</a:t>
            </a:r>
            <a:endParaRPr lang="en-US" sz="1050" dirty="0"/>
          </a:p>
        </p:txBody>
      </p:sp>
      <p:sp>
        <p:nvSpPr>
          <p:cNvPr id="19" name="Text 17"/>
          <p:cNvSpPr/>
          <p:nvPr/>
        </p:nvSpPr>
        <p:spPr>
          <a:xfrm>
            <a:off x="685800" y="2971800"/>
            <a:ext cx="3931920" cy="384048"/>
          </a:xfrm>
          <a:prstGeom prst="rect">
            <a:avLst/>
          </a:prstGeom>
          <a:noFill/>
          <a:ln/>
        </p:spPr>
        <p:txBody>
          <a:bodyPr wrap="square" lIns="0" tIns="0" rIns="0" bIns="0" rtlCol="0" anchor="ctr"/>
          <a:lstStyle/>
          <a:p>
            <a:pPr indent="0" marL="0">
              <a:buNone/>
            </a:pPr>
            <a:r>
              <a:rPr lang="en-US" sz="2000" b="1" dirty="0">
                <a:solidFill>
                  <a:srgbClr val="102A43"/>
                </a:solidFill>
              </a:rPr>
              <a:t>M5 Forecasting — Accuracy</a:t>
            </a:r>
            <a:endParaRPr lang="en-US" sz="2000" dirty="0"/>
          </a:p>
        </p:txBody>
      </p:sp>
      <p:sp>
        <p:nvSpPr>
          <p:cNvPr id="20" name="Text 18"/>
          <p:cNvSpPr/>
          <p:nvPr/>
        </p:nvSpPr>
        <p:spPr>
          <a:xfrm>
            <a:off x="685800" y="3456432"/>
            <a:ext cx="4892040" cy="1051560"/>
          </a:xfrm>
          <a:prstGeom prst="rect">
            <a:avLst/>
          </a:prstGeom>
          <a:noFill/>
          <a:ln/>
        </p:spPr>
        <p:txBody>
          <a:bodyPr wrap="square" lIns="381" tIns="381" rIns="381" bIns="381" rtlCol="0" anchor="ctr">
            <a:normAutofit/>
          </a:bodyPr>
          <a:lstStyle/>
          <a:p>
            <a:pPr indent="0" marL="0">
              <a:buNone/>
            </a:pPr>
            <a:r>
              <a:rPr lang="en-US" sz="1400" dirty="0">
                <a:solidFill>
                  <a:srgbClr val="243B53"/>
                </a:solidFill>
              </a:rPr>
              <a:t>Продажи Walmart за 2011–2016 годы. В исходных файлах есть ежедневные продажи, календарь, события и праздники, SNAP и недельные цены.</a:t>
            </a:r>
            <a:endParaRPr lang="en-US" sz="1400" dirty="0"/>
          </a:p>
        </p:txBody>
      </p:sp>
      <p:sp>
        <p:nvSpPr>
          <p:cNvPr id="21" name="Shape 19"/>
          <p:cNvSpPr/>
          <p:nvPr/>
        </p:nvSpPr>
        <p:spPr>
          <a:xfrm>
            <a:off x="5989320" y="2971800"/>
            <a:ext cx="2560320" cy="1554480"/>
          </a:xfrm>
          <a:prstGeom prst="roundRect">
            <a:avLst>
              <a:gd name="adj" fmla="val 4706"/>
            </a:avLst>
          </a:prstGeom>
          <a:solidFill>
            <a:srgbClr val="FFFFFF"/>
          </a:solidFill>
          <a:ln w="15240">
            <a:solidFill>
              <a:srgbClr val="D9E2EC"/>
            </a:solidFill>
            <a:prstDash val="solid"/>
          </a:ln>
          <a:effectLst>
            <a:outerShdw sx="100000" sy="100000" kx="0" ky="0" algn="bl" rotWithShape="0" blurRad="19050" dist="50800" dir="2700000">
              <a:srgbClr val="B8C6D1">
                <a:alpha val="16000"/>
              </a:srgbClr>
            </a:outerShdw>
          </a:effectLst>
        </p:spPr>
      </p:sp>
      <p:sp>
        <p:nvSpPr>
          <p:cNvPr id="22" name="Shape 20"/>
          <p:cNvSpPr/>
          <p:nvPr/>
        </p:nvSpPr>
        <p:spPr>
          <a:xfrm>
            <a:off x="5989320" y="2971800"/>
            <a:ext cx="73152" cy="1554480"/>
          </a:xfrm>
          <a:prstGeom prst="rect">
            <a:avLst/>
          </a:prstGeom>
          <a:solidFill>
            <a:srgbClr val="1976D2"/>
          </a:solidFill>
          <a:ln w="12700">
            <a:solidFill>
              <a:srgbClr val="1976D2"/>
            </a:solidFill>
            <a:prstDash val="solid"/>
          </a:ln>
        </p:spPr>
      </p:sp>
      <p:sp>
        <p:nvSpPr>
          <p:cNvPr id="23" name="Text 21"/>
          <p:cNvSpPr/>
          <p:nvPr/>
        </p:nvSpPr>
        <p:spPr>
          <a:xfrm>
            <a:off x="6245352" y="3154680"/>
            <a:ext cx="2148840" cy="274320"/>
          </a:xfrm>
          <a:prstGeom prst="rect">
            <a:avLst/>
          </a:prstGeom>
          <a:noFill/>
          <a:ln/>
        </p:spPr>
        <p:txBody>
          <a:bodyPr wrap="square" lIns="0" tIns="0" rIns="0" bIns="0" rtlCol="0" anchor="ctr">
            <a:normAutofit/>
          </a:bodyPr>
          <a:lstStyle/>
          <a:p>
            <a:pPr indent="0" marL="0">
              <a:buNone/>
            </a:pPr>
            <a:r>
              <a:rPr lang="en-US" sz="1500" b="1" dirty="0">
                <a:solidFill>
                  <a:srgbClr val="102A43"/>
                </a:solidFill>
              </a:rPr>
              <a:t>Почему FOODS?</a:t>
            </a:r>
            <a:endParaRPr lang="en-US" sz="1500" dirty="0"/>
          </a:p>
        </p:txBody>
      </p:sp>
      <p:sp>
        <p:nvSpPr>
          <p:cNvPr id="24" name="Text 22"/>
          <p:cNvSpPr/>
          <p:nvPr/>
        </p:nvSpPr>
        <p:spPr>
          <a:xfrm>
            <a:off x="6245352" y="3538728"/>
            <a:ext cx="2121408" cy="841248"/>
          </a:xfrm>
          <a:prstGeom prst="rect">
            <a:avLst/>
          </a:prstGeom>
          <a:noFill/>
          <a:ln/>
        </p:spPr>
        <p:txBody>
          <a:bodyPr wrap="square" lIns="254" tIns="254" rIns="254" bIns="254" rtlCol="0" anchor="ctr">
            <a:normAutofit/>
          </a:bodyPr>
          <a:lstStyle/>
          <a:p>
            <a:pPr indent="0" marL="0">
              <a:buNone/>
            </a:pPr>
            <a:r>
              <a:rPr lang="en-US" sz="1150" dirty="0">
                <a:solidFill>
                  <a:srgbClr val="243B53"/>
                </a:solidFill>
              </a:rPr>
              <a:t>Одна связная категория, но полный объём данных и реальная неоднородность спроса.</a:t>
            </a:r>
            <a:endParaRPr lang="en-US" sz="1150" dirty="0"/>
          </a:p>
        </p:txBody>
      </p:sp>
      <p:sp>
        <p:nvSpPr>
          <p:cNvPr id="25" name="Shape 23"/>
          <p:cNvSpPr/>
          <p:nvPr/>
        </p:nvSpPr>
        <p:spPr>
          <a:xfrm>
            <a:off x="8823960" y="2971800"/>
            <a:ext cx="2560320" cy="1554480"/>
          </a:xfrm>
          <a:prstGeom prst="roundRect">
            <a:avLst>
              <a:gd name="adj" fmla="val 4706"/>
            </a:avLst>
          </a:prstGeom>
          <a:solidFill>
            <a:srgbClr val="FFFFFF"/>
          </a:solidFill>
          <a:ln w="15240">
            <a:solidFill>
              <a:srgbClr val="D9E2EC"/>
            </a:solidFill>
            <a:prstDash val="solid"/>
          </a:ln>
          <a:effectLst>
            <a:outerShdw sx="100000" sy="100000" kx="0" ky="0" algn="bl" rotWithShape="0" blurRad="19050" dist="50800" dir="2700000">
              <a:srgbClr val="B8C6D1">
                <a:alpha val="16000"/>
              </a:srgbClr>
            </a:outerShdw>
          </a:effectLst>
        </p:spPr>
      </p:sp>
      <p:sp>
        <p:nvSpPr>
          <p:cNvPr id="26" name="Shape 24"/>
          <p:cNvSpPr/>
          <p:nvPr/>
        </p:nvSpPr>
        <p:spPr>
          <a:xfrm>
            <a:off x="8823960" y="2971800"/>
            <a:ext cx="73152" cy="1554480"/>
          </a:xfrm>
          <a:prstGeom prst="rect">
            <a:avLst/>
          </a:prstGeom>
          <a:solidFill>
            <a:srgbClr val="D64545"/>
          </a:solidFill>
          <a:ln w="12700">
            <a:solidFill>
              <a:srgbClr val="D64545"/>
            </a:solidFill>
            <a:prstDash val="solid"/>
          </a:ln>
        </p:spPr>
      </p:sp>
      <p:sp>
        <p:nvSpPr>
          <p:cNvPr id="27" name="Text 25"/>
          <p:cNvSpPr/>
          <p:nvPr/>
        </p:nvSpPr>
        <p:spPr>
          <a:xfrm>
            <a:off x="9079992" y="3154680"/>
            <a:ext cx="2148840" cy="274320"/>
          </a:xfrm>
          <a:prstGeom prst="rect">
            <a:avLst/>
          </a:prstGeom>
          <a:noFill/>
          <a:ln/>
        </p:spPr>
        <p:txBody>
          <a:bodyPr wrap="square" lIns="0" tIns="0" rIns="0" bIns="0" rtlCol="0" anchor="ctr">
            <a:normAutofit/>
          </a:bodyPr>
          <a:lstStyle/>
          <a:p>
            <a:pPr indent="0" marL="0">
              <a:buNone/>
            </a:pPr>
            <a:r>
              <a:rPr lang="en-US" sz="1500" b="1" dirty="0">
                <a:solidFill>
                  <a:srgbClr val="102A43"/>
                </a:solidFill>
              </a:rPr>
              <a:t>Ограничение</a:t>
            </a:r>
            <a:endParaRPr lang="en-US" sz="1500" dirty="0"/>
          </a:p>
        </p:txBody>
      </p:sp>
      <p:sp>
        <p:nvSpPr>
          <p:cNvPr id="28" name="Text 26"/>
          <p:cNvSpPr/>
          <p:nvPr/>
        </p:nvSpPr>
        <p:spPr>
          <a:xfrm>
            <a:off x="9079992" y="3538728"/>
            <a:ext cx="2121408" cy="841248"/>
          </a:xfrm>
          <a:prstGeom prst="rect">
            <a:avLst/>
          </a:prstGeom>
          <a:noFill/>
          <a:ln/>
        </p:spPr>
        <p:txBody>
          <a:bodyPr wrap="square" lIns="254" tIns="254" rIns="254" bIns="254" rtlCol="0" anchor="ctr">
            <a:normAutofit/>
          </a:bodyPr>
          <a:lstStyle/>
          <a:p>
            <a:pPr indent="0" marL="0">
              <a:buNone/>
            </a:pPr>
            <a:r>
              <a:rPr lang="en-US" sz="1150" dirty="0">
                <a:solidFill>
                  <a:srgbClr val="243B53"/>
                </a:solidFill>
              </a:rPr>
              <a:t>Это данные США, поэтому перенос в Узбекистан без местных данных недопустим.</a:t>
            </a:r>
            <a:endParaRPr lang="en-US" sz="1150" dirty="0"/>
          </a:p>
        </p:txBody>
      </p:sp>
      <p:sp>
        <p:nvSpPr>
          <p:cNvPr id="29" name="Text 27"/>
          <p:cNvSpPr/>
          <p:nvPr/>
        </p:nvSpPr>
        <p:spPr>
          <a:xfrm>
            <a:off x="1188720" y="5257800"/>
            <a:ext cx="9875520" cy="420624"/>
          </a:xfrm>
          <a:prstGeom prst="rect">
            <a:avLst/>
          </a:prstGeom>
          <a:noFill/>
          <a:ln/>
        </p:spPr>
        <p:txBody>
          <a:bodyPr wrap="square" lIns="0" tIns="0" rIns="0" bIns="0" rtlCol="0" anchor="ctr"/>
          <a:lstStyle/>
          <a:p>
            <a:pPr algn="ctr" indent="0" marL="0">
              <a:buNone/>
            </a:pPr>
            <a:r>
              <a:rPr lang="en-US" sz="1700" b="1" dirty="0">
                <a:solidFill>
                  <a:srgbClr val="1976D2"/>
                </a:solidFill>
              </a:rPr>
              <a:t>После очистки: 3 118 862 недельных строк • 277 недель • 3 отдела FOODS</a:t>
            </a:r>
            <a:endParaRPr lang="en-US" sz="1700" dirty="0"/>
          </a:p>
        </p:txBody>
      </p:sp>
      <p:sp>
        <p:nvSpPr>
          <p:cNvPr id="30" name="Text 28"/>
          <p:cNvSpPr/>
          <p:nvPr/>
        </p:nvSpPr>
        <p:spPr>
          <a:xfrm>
            <a:off x="594360" y="6190488"/>
            <a:ext cx="10424160" cy="219456"/>
          </a:xfrm>
          <a:prstGeom prst="rect">
            <a:avLst/>
          </a:prstGeom>
          <a:noFill/>
          <a:ln/>
        </p:spPr>
        <p:txBody>
          <a:bodyPr wrap="square" lIns="0" tIns="0" rIns="0" bIns="0" rtlCol="0" anchor="ctr">
            <a:normAutofit/>
          </a:bodyPr>
          <a:lstStyle/>
          <a:p>
            <a:pPr indent="0" marL="0">
              <a:buNone/>
            </a:pPr>
            <a:r>
              <a:rPr lang="en-US" sz="1000" i="1" dirty="0">
                <a:solidFill>
                  <a:srgbClr val="627D98"/>
                </a:solidFill>
              </a:rPr>
              <a:t>Источник и условия доступа задокументированы; большие CSV не загружены в GitHub.</a:t>
            </a:r>
            <a:endParaRPr lang="en-US" sz="1000" dirty="0"/>
          </a:p>
        </p:txBody>
      </p:sp>
      <p:sp>
        <p:nvSpPr>
          <p:cNvPr id="25" name="Slide Number Placeholder 0"/>
          <p:cNvSpPr>
            <a:spLocks noGrp="1"/>
          </p:cNvSpPr>
          <p:nvPr>
            <p:ph type="sldNum" sz="quarter" idx="4294967295"/>
          </p:nvPr>
        </p:nvSpPr>
        <p:spPr>
          <a:xfrm>
            <a:off x="11503152" y="6565392"/>
            <a:ext cx="182880" cy="13716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4360" y="530352"/>
            <a:ext cx="2926080" cy="219456"/>
          </a:xfrm>
          <a:prstGeom prst="rect">
            <a:avLst/>
          </a:prstGeom>
          <a:noFill/>
          <a:ln/>
        </p:spPr>
        <p:txBody>
          <a:bodyPr wrap="square" lIns="0" tIns="0" rIns="0" bIns="0" rtlCol="0" anchor="ctr"/>
          <a:lstStyle/>
          <a:p>
            <a:pPr indent="0" marL="0">
              <a:buNone/>
            </a:pPr>
            <a:r>
              <a:rPr lang="en-US" sz="1000" b="1" spc="110" kern="0" dirty="0">
                <a:solidFill>
                  <a:srgbClr val="1976D2"/>
                </a:solidFill>
              </a:rPr>
              <a:t>3 • ИСХОДНЫЕ ФАЙЛЫ M5</a:t>
            </a:r>
            <a:endParaRPr lang="en-US" sz="1000" dirty="0"/>
          </a:p>
        </p:txBody>
      </p:sp>
      <p:sp>
        <p:nvSpPr>
          <p:cNvPr id="3" name="Text 1"/>
          <p:cNvSpPr/>
          <p:nvPr/>
        </p:nvSpPr>
        <p:spPr>
          <a:xfrm>
            <a:off x="594360" y="804672"/>
            <a:ext cx="10972800" cy="566928"/>
          </a:xfrm>
          <a:prstGeom prst="rect">
            <a:avLst/>
          </a:prstGeom>
          <a:noFill/>
          <a:ln/>
        </p:spPr>
        <p:txBody>
          <a:bodyPr wrap="square" lIns="0" tIns="0" rIns="0" bIns="0" rtlCol="0" anchor="ctr">
            <a:normAutofit/>
          </a:bodyPr>
          <a:lstStyle/>
          <a:p>
            <a:pPr indent="0" marL="0">
              <a:buNone/>
            </a:pPr>
            <a:r>
              <a:rPr lang="en-US" sz="2700" b="1" dirty="0">
                <a:solidFill>
                  <a:srgbClr val="102A43"/>
                </a:solidFill>
              </a:rPr>
              <a:t>Пять оригинальных файлов выполняют разные роли</a:t>
            </a:r>
            <a:endParaRPr lang="en-US" sz="2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58368" y="1463040"/>
          <a:ext cx="10881360" cy="3337560"/>
        </p:xfrm>
        <a:graphic>
          <a:graphicData uri="http://schemas.openxmlformats.org/drawingml/2006/table">
            <a:tbl>
              <a:tblPr/>
              <a:tblGrid>
                <a:gridCol w="2971800"/>
                <a:gridCol w="4617720"/>
                <a:gridCol w="3291840"/>
              </a:tblGrid>
              <a:tr h="457200">
                <a:tc>
                  <a:txBody>
                    <a:bodyPr/>
                    <a:lstStyle/>
                    <a:p>
                      <a:pPr indent="0" marL="0">
                        <a:buNone/>
                      </a:pPr>
                      <a:r>
                        <a:rPr lang="en-US" sz="1400" dirty="0">
                          <a:solidFill>
                            <a:srgbClr val="243B53"/>
                          </a:solidFill>
                          <a:latin typeface="Aptos" pitchFamily="34" charset="0"/>
                          <a:ea typeface="Aptos" pitchFamily="34" charset="-122"/>
                          <a:cs typeface="Aptos" pitchFamily="34" charset="-120"/>
                        </a:rPr>
                        <a:t>Файл</a:t>
                      </a:r>
                      <a:endParaRPr lang="en-US" sz="1400" dirty="0">
                        <a:latin typeface="Aptos" charset="0"/>
                        <a:ea typeface="Aptos" charset="0"/>
                        <a:cs typeface="Aptos" charset="0"/>
                      </a:endParaRPr>
                    </a:p>
                  </a:txBody>
                  <a:tcPr marL="82296" marR="82296" marT="82296" marB="82296">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243B53"/>
                          </a:solidFill>
                          <a:latin typeface="Aptos" pitchFamily="34" charset="0"/>
                          <a:ea typeface="Aptos" pitchFamily="34" charset="-122"/>
                          <a:cs typeface="Aptos" pitchFamily="34" charset="-120"/>
                        </a:rPr>
                        <a:t>Содержание</a:t>
                      </a:r>
                      <a:endParaRPr lang="en-US" sz="1400" dirty="0">
                        <a:latin typeface="Aptos" charset="0"/>
                        <a:ea typeface="Aptos" charset="0"/>
                        <a:cs typeface="Aptos" charset="0"/>
                      </a:endParaRPr>
                    </a:p>
                  </a:txBody>
                  <a:tcPr marL="82296" marR="82296" marT="82296" marB="82296">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243B53"/>
                          </a:solidFill>
                          <a:latin typeface="Aptos" pitchFamily="34" charset="0"/>
                          <a:ea typeface="Aptos" pitchFamily="34" charset="-122"/>
                          <a:cs typeface="Aptos" pitchFamily="34" charset="-120"/>
                        </a:rPr>
                        <a:t>Роль в проекте</a:t>
                      </a:r>
                      <a:endParaRPr lang="en-US" sz="1400" dirty="0">
                        <a:latin typeface="Aptos" charset="0"/>
                        <a:ea typeface="Aptos" charset="0"/>
                        <a:cs typeface="Aptos" charset="0"/>
                      </a:endParaRPr>
                    </a:p>
                  </a:txBody>
                  <a:tcPr marL="82296" marR="82296" marT="82296" marB="82296">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243B53"/>
                          </a:solidFill>
                          <a:latin typeface="Aptos" pitchFamily="34" charset="0"/>
                          <a:ea typeface="Aptos" pitchFamily="34" charset="-122"/>
                          <a:cs typeface="Aptos" pitchFamily="34" charset="-120"/>
                        </a:rPr>
                        <a:t>calendar.csv</a:t>
                      </a:r>
                      <a:endParaRPr lang="en-US" sz="1400" dirty="0">
                        <a:latin typeface="Aptos" charset="0"/>
                        <a:ea typeface="Aptos" charset="0"/>
                        <a:cs typeface="Aptos" charset="0"/>
                      </a:endParaRPr>
                    </a:p>
                  </a:txBody>
                  <a:tcPr marL="82296" marR="82296" marT="82296" marB="82296">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243B53"/>
                          </a:solidFill>
                          <a:latin typeface="Aptos" pitchFamily="34" charset="0"/>
                          <a:ea typeface="Aptos" pitchFamily="34" charset="-122"/>
                          <a:cs typeface="Aptos" pitchFamily="34" charset="-120"/>
                        </a:rPr>
                        <a:t>даты, d-коды, события, SNAP</a:t>
                      </a:r>
                      <a:endParaRPr lang="en-US" sz="1400" dirty="0">
                        <a:latin typeface="Aptos" charset="0"/>
                        <a:ea typeface="Aptos" charset="0"/>
                        <a:cs typeface="Aptos" charset="0"/>
                      </a:endParaRPr>
                    </a:p>
                  </a:txBody>
                  <a:tcPr marL="82296" marR="82296" marT="82296" marB="82296">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243B53"/>
                          </a:solidFill>
                          <a:latin typeface="Aptos" pitchFamily="34" charset="0"/>
                          <a:ea typeface="Aptos" pitchFamily="34" charset="-122"/>
                          <a:cs typeface="Aptos" pitchFamily="34" charset="-120"/>
                        </a:rPr>
                        <a:t>использован</a:t>
                      </a:r>
                      <a:endParaRPr lang="en-US" sz="1400" dirty="0">
                        <a:latin typeface="Aptos" charset="0"/>
                        <a:ea typeface="Aptos" charset="0"/>
                        <a:cs typeface="Aptos" charset="0"/>
                      </a:endParaRPr>
                    </a:p>
                  </a:txBody>
                  <a:tcPr marL="82296" marR="82296" marT="82296" marB="82296">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243B53"/>
                          </a:solidFill>
                          <a:latin typeface="Aptos" pitchFamily="34" charset="0"/>
                          <a:ea typeface="Aptos" pitchFamily="34" charset="-122"/>
                          <a:cs typeface="Aptos" pitchFamily="34" charset="-120"/>
                        </a:rPr>
                        <a:t>sales_train_evaluation.csv</a:t>
                      </a:r>
                      <a:endParaRPr lang="en-US" sz="1400" dirty="0">
                        <a:latin typeface="Aptos" charset="0"/>
                        <a:ea typeface="Aptos" charset="0"/>
                        <a:cs typeface="Aptos" charset="0"/>
                      </a:endParaRPr>
                    </a:p>
                  </a:txBody>
                  <a:tcPr marL="82296" marR="82296" marT="82296" marB="82296">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243B53"/>
                          </a:solidFill>
                          <a:latin typeface="Aptos" pitchFamily="34" charset="0"/>
                          <a:ea typeface="Aptos" pitchFamily="34" charset="-122"/>
                          <a:cs typeface="Aptos" pitchFamily="34" charset="-120"/>
                        </a:rPr>
                        <a:t>продажи d_1–d_1941</a:t>
                      </a:r>
                      <a:endParaRPr lang="en-US" sz="1400" dirty="0">
                        <a:latin typeface="Aptos" charset="0"/>
                        <a:ea typeface="Aptos" charset="0"/>
                        <a:cs typeface="Aptos" charset="0"/>
                      </a:endParaRPr>
                    </a:p>
                  </a:txBody>
                  <a:tcPr marL="82296" marR="82296" marT="82296" marB="82296">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243B53"/>
                          </a:solidFill>
                          <a:latin typeface="Aptos" pitchFamily="34" charset="0"/>
                          <a:ea typeface="Aptos" pitchFamily="34" charset="-122"/>
                          <a:cs typeface="Aptos" pitchFamily="34" charset="-120"/>
                        </a:rPr>
                        <a:t>главный sales-файл</a:t>
                      </a:r>
                      <a:endParaRPr lang="en-US" sz="1400" dirty="0">
                        <a:latin typeface="Aptos" charset="0"/>
                        <a:ea typeface="Aptos" charset="0"/>
                        <a:cs typeface="Aptos" charset="0"/>
                      </a:endParaRPr>
                    </a:p>
                  </a:txBody>
                  <a:tcPr marL="82296" marR="82296" marT="82296" marB="82296">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243B53"/>
                          </a:solidFill>
                          <a:latin typeface="Aptos" pitchFamily="34" charset="0"/>
                          <a:ea typeface="Aptos" pitchFamily="34" charset="-122"/>
                          <a:cs typeface="Aptos" pitchFamily="34" charset="-120"/>
                        </a:rPr>
                        <a:t>sales_train_validation.csv</a:t>
                      </a:r>
                      <a:endParaRPr lang="en-US" sz="1400" dirty="0">
                        <a:latin typeface="Aptos" charset="0"/>
                        <a:ea typeface="Aptos" charset="0"/>
                        <a:cs typeface="Aptos" charset="0"/>
                      </a:endParaRPr>
                    </a:p>
                  </a:txBody>
                  <a:tcPr marL="82296" marR="82296" marT="82296" marB="82296">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243B53"/>
                          </a:solidFill>
                          <a:latin typeface="Aptos" pitchFamily="34" charset="0"/>
                          <a:ea typeface="Aptos" pitchFamily="34" charset="-122"/>
                          <a:cs typeface="Aptos" pitchFamily="34" charset="-120"/>
                        </a:rPr>
                        <a:t>та же история до d_1913</a:t>
                      </a:r>
                      <a:endParaRPr lang="en-US" sz="1400" dirty="0">
                        <a:latin typeface="Aptos" charset="0"/>
                        <a:ea typeface="Aptos" charset="0"/>
                        <a:cs typeface="Aptos" charset="0"/>
                      </a:endParaRPr>
                    </a:p>
                  </a:txBody>
                  <a:tcPr marL="82296" marR="82296" marT="82296" marB="82296">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243B53"/>
                          </a:solidFill>
                          <a:latin typeface="Aptos" pitchFamily="34" charset="0"/>
                          <a:ea typeface="Aptos" pitchFamily="34" charset="-122"/>
                          <a:cs typeface="Aptos" pitchFamily="34" charset="-120"/>
                        </a:rPr>
                        <a:t>проверен, не добавлялся</a:t>
                      </a:r>
                      <a:endParaRPr lang="en-US" sz="1400" dirty="0">
                        <a:latin typeface="Aptos" charset="0"/>
                        <a:ea typeface="Aptos" charset="0"/>
                        <a:cs typeface="Aptos" charset="0"/>
                      </a:endParaRPr>
                    </a:p>
                  </a:txBody>
                  <a:tcPr marL="82296" marR="82296" marT="82296" marB="82296">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243B53"/>
                          </a:solidFill>
                          <a:latin typeface="Aptos" pitchFamily="34" charset="0"/>
                          <a:ea typeface="Aptos" pitchFamily="34" charset="-122"/>
                          <a:cs typeface="Aptos" pitchFamily="34" charset="-120"/>
                        </a:rPr>
                        <a:t>sell_prices.csv</a:t>
                      </a:r>
                      <a:endParaRPr lang="en-US" sz="1400" dirty="0">
                        <a:latin typeface="Aptos" charset="0"/>
                        <a:ea typeface="Aptos" charset="0"/>
                        <a:cs typeface="Aptos" charset="0"/>
                      </a:endParaRPr>
                    </a:p>
                  </a:txBody>
                  <a:tcPr marL="82296" marR="82296" marT="82296" marB="82296">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243B53"/>
                          </a:solidFill>
                          <a:latin typeface="Aptos" pitchFamily="34" charset="0"/>
                          <a:ea typeface="Aptos" pitchFamily="34" charset="-122"/>
                          <a:cs typeface="Aptos" pitchFamily="34" charset="-120"/>
                        </a:rPr>
                        <a:t>цена по item + store + wm_yr_wk</a:t>
                      </a:r>
                      <a:endParaRPr lang="en-US" sz="1400" dirty="0">
                        <a:latin typeface="Aptos" charset="0"/>
                        <a:ea typeface="Aptos" charset="0"/>
                        <a:cs typeface="Aptos" charset="0"/>
                      </a:endParaRPr>
                    </a:p>
                  </a:txBody>
                  <a:tcPr marL="82296" marR="82296" marT="82296" marB="82296">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243B53"/>
                          </a:solidFill>
                          <a:latin typeface="Aptos" pitchFamily="34" charset="0"/>
                          <a:ea typeface="Aptos" pitchFamily="34" charset="-122"/>
                          <a:cs typeface="Aptos" pitchFamily="34" charset="-120"/>
                        </a:rPr>
                        <a:t>использован</a:t>
                      </a:r>
                      <a:endParaRPr lang="en-US" sz="1400" dirty="0">
                        <a:latin typeface="Aptos" charset="0"/>
                        <a:ea typeface="Aptos" charset="0"/>
                        <a:cs typeface="Aptos" charset="0"/>
                      </a:endParaRPr>
                    </a:p>
                  </a:txBody>
                  <a:tcPr marL="82296" marR="82296" marT="82296" marB="82296">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243B53"/>
                          </a:solidFill>
                          <a:latin typeface="Aptos" pitchFamily="34" charset="0"/>
                          <a:ea typeface="Aptos" pitchFamily="34" charset="-122"/>
                          <a:cs typeface="Aptos" pitchFamily="34" charset="-120"/>
                        </a:rPr>
                        <a:t>sample_submission.csv</a:t>
                      </a:r>
                      <a:endParaRPr lang="en-US" sz="1400" dirty="0">
                        <a:latin typeface="Aptos" charset="0"/>
                        <a:ea typeface="Aptos" charset="0"/>
                        <a:cs typeface="Aptos" charset="0"/>
                      </a:endParaRPr>
                    </a:p>
                  </a:txBody>
                  <a:tcPr marL="82296" marR="82296" marT="82296" marB="82296">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243B53"/>
                          </a:solidFill>
                          <a:latin typeface="Aptos" pitchFamily="34" charset="0"/>
                          <a:ea typeface="Aptos" pitchFamily="34" charset="-122"/>
                          <a:cs typeface="Aptos" pitchFamily="34" charset="-120"/>
                        </a:rPr>
                        <a:t>формат ответа Kaggle F1–F28</a:t>
                      </a:r>
                      <a:endParaRPr lang="en-US" sz="1400" dirty="0">
                        <a:latin typeface="Aptos" charset="0"/>
                        <a:ea typeface="Aptos" charset="0"/>
                        <a:cs typeface="Aptos" charset="0"/>
                      </a:endParaRPr>
                    </a:p>
                  </a:txBody>
                  <a:tcPr marL="82296" marR="82296" marT="82296" marB="82296">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243B53"/>
                          </a:solidFill>
                          <a:latin typeface="Aptos" pitchFamily="34" charset="0"/>
                          <a:ea typeface="Aptos" pitchFamily="34" charset="-122"/>
                          <a:cs typeface="Aptos" pitchFamily="34" charset="-120"/>
                        </a:rPr>
                        <a:t>не нужен для обучения</a:t>
                      </a:r>
                      <a:endParaRPr lang="en-US" sz="1400" dirty="0">
                        <a:latin typeface="Aptos" charset="0"/>
                        <a:ea typeface="Aptos" charset="0"/>
                        <a:cs typeface="Aptos" charset="0"/>
                      </a:endParaRPr>
                    </a:p>
                  </a:txBody>
                  <a:tcPr marL="82296" marR="82296" marT="82296" marB="82296">
                    <a:lnL w="12700" cap="flat" cmpd="sng" algn="ctr">
                      <a:solidFill>
                        <a:srgbClr val="D9E2EC"/>
                      </a:solidFill>
                      <a:prstDash val="solid"/>
                      <a:round/>
                      <a:headEnd type="none" w="med" len="med"/>
                      <a:tailEnd type="none" w="med" len="med"/>
                    </a:lnL>
                    <a:lnR w="12700" cap="flat" cmpd="sng" algn="ctr">
                      <a:solidFill>
                        <a:srgbClr val="D9E2EC"/>
                      </a:solidFill>
                      <a:prstDash val="solid"/>
                      <a:round/>
                      <a:headEnd type="none" w="med" len="med"/>
                      <a:tailEnd type="none" w="med" len="med"/>
                    </a:lnR>
                    <a:lnT w="12700" cap="flat" cmpd="sng" algn="ctr">
                      <a:solidFill>
                        <a:srgbClr val="D9E2EC"/>
                      </a:solidFill>
                      <a:prstDash val="solid"/>
                      <a:round/>
                      <a:headEnd type="none" w="med" len="med"/>
                      <a:tailEnd type="none" w="med" len="med"/>
                    </a:lnT>
                    <a:lnB w="12700" cap="flat" cmpd="sng" algn="ctr">
                      <a:solidFill>
                        <a:srgbClr val="D9E2EC"/>
                      </a:solidFill>
                      <a:prstDash val="solid"/>
                      <a:round/>
                      <a:headEnd type="none" w="med" len="med"/>
                      <a:tailEnd type="none" w="med" len="med"/>
                    </a:lnB>
                    <a:solidFill>
                      <a:srgbClr val="FFFFFF"/>
                    </a:solidFill>
                  </a:tcPr>
                </a:tc>
              </a:tr>
            </a:tbl>
          </a:graphicData>
        </a:graphic>
      </p:graphicFrame>
      <p:sp>
        <p:nvSpPr>
          <p:cNvPr id="5" name="Shape 2"/>
          <p:cNvSpPr/>
          <p:nvPr/>
        </p:nvSpPr>
        <p:spPr>
          <a:xfrm>
            <a:off x="1051560" y="5166360"/>
            <a:ext cx="10058400" cy="658368"/>
          </a:xfrm>
          <a:prstGeom prst="roundRect">
            <a:avLst>
              <a:gd name="adj" fmla="val 5556"/>
            </a:avLst>
          </a:prstGeom>
          <a:solidFill>
            <a:srgbClr val="E8F5EE"/>
          </a:solidFill>
          <a:ln w="12700">
            <a:solidFill>
              <a:srgbClr val="9AD2B8"/>
            </a:solidFill>
            <a:prstDash val="solid"/>
          </a:ln>
        </p:spPr>
      </p:sp>
      <p:sp>
        <p:nvSpPr>
          <p:cNvPr id="6" name="Text 3"/>
          <p:cNvSpPr/>
          <p:nvPr/>
        </p:nvSpPr>
        <p:spPr>
          <a:xfrm>
            <a:off x="1325880" y="5367528"/>
            <a:ext cx="9509760" cy="256032"/>
          </a:xfrm>
          <a:prstGeom prst="rect">
            <a:avLst/>
          </a:prstGeom>
          <a:noFill/>
          <a:ln/>
        </p:spPr>
        <p:txBody>
          <a:bodyPr wrap="square" lIns="0" tIns="0" rIns="0" bIns="0" rtlCol="0" anchor="ctr">
            <a:normAutofit/>
          </a:bodyPr>
          <a:lstStyle/>
          <a:p>
            <a:pPr algn="ctr" indent="0" marL="0">
              <a:buNone/>
            </a:pPr>
            <a:r>
              <a:rPr lang="en-US" sz="1600" b="1" dirty="0">
                <a:solidFill>
                  <a:srgbClr val="178F65"/>
                </a:solidFill>
              </a:rPr>
              <a:t>Оригиналы в data/raw не изменялись — Pandas создавал новые Parquet-файлы в interim и processed.</a:t>
            </a:r>
            <a:endParaRPr lang="en-US" sz="1600" dirty="0"/>
          </a:p>
        </p:txBody>
      </p:sp>
      <p:sp>
        <p:nvSpPr>
          <p:cNvPr id="7" name="Text 4"/>
          <p:cNvSpPr/>
          <p:nvPr/>
        </p:nvSpPr>
        <p:spPr>
          <a:xfrm>
            <a:off x="594360" y="6190488"/>
            <a:ext cx="10424160" cy="219456"/>
          </a:xfrm>
          <a:prstGeom prst="rect">
            <a:avLst/>
          </a:prstGeom>
          <a:noFill/>
          <a:ln/>
        </p:spPr>
        <p:txBody>
          <a:bodyPr wrap="square" lIns="0" tIns="0" rIns="0" bIns="0" rtlCol="0" anchor="ctr">
            <a:normAutofit/>
          </a:bodyPr>
          <a:lstStyle/>
          <a:p>
            <a:pPr indent="0" marL="0">
              <a:buNone/>
            </a:pPr>
            <a:r>
              <a:rPr lang="en-US" sz="1000" i="1" dirty="0">
                <a:solidFill>
                  <a:srgbClr val="627D98"/>
                </a:solidFill>
              </a:rPr>
              <a:t>Главный принцип воспроизводимости: raw → только чтение; все изменения сохраняются отдельно.</a:t>
            </a:r>
            <a:endParaRPr lang="en-US" sz="1000" dirty="0"/>
          </a:p>
        </p:txBody>
      </p:sp>
      <p:sp>
        <p:nvSpPr>
          <p:cNvPr id="25" name="Slide Number Placeholder 0"/>
          <p:cNvSpPr>
            <a:spLocks noGrp="1"/>
          </p:cNvSpPr>
          <p:nvPr>
            <p:ph type="sldNum" sz="quarter" idx="4294967295"/>
          </p:nvPr>
        </p:nvSpPr>
        <p:spPr>
          <a:xfrm>
            <a:off x="11503152" y="6565392"/>
            <a:ext cx="182880" cy="13716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94360" y="530352"/>
            <a:ext cx="2926080" cy="219456"/>
          </a:xfrm>
          <a:prstGeom prst="rect">
            <a:avLst/>
          </a:prstGeom>
          <a:noFill/>
          <a:ln/>
        </p:spPr>
        <p:txBody>
          <a:bodyPr wrap="square" lIns="0" tIns="0" rIns="0" bIns="0" rtlCol="0" anchor="ctr"/>
          <a:lstStyle/>
          <a:p>
            <a:pPr indent="0" marL="0">
              <a:buNone/>
            </a:pPr>
            <a:r>
              <a:rPr lang="en-US" sz="1000" b="1" spc="110" kern="0" dirty="0">
                <a:solidFill>
                  <a:srgbClr val="1976D2"/>
                </a:solidFill>
              </a:rPr>
              <a:t>4 • СТРУКТУРА SALES-ФАЙЛА</a:t>
            </a:r>
            <a:endParaRPr lang="en-US" sz="1000" dirty="0"/>
          </a:p>
        </p:txBody>
      </p:sp>
      <p:sp>
        <p:nvSpPr>
          <p:cNvPr id="3" name="Text 1"/>
          <p:cNvSpPr/>
          <p:nvPr/>
        </p:nvSpPr>
        <p:spPr>
          <a:xfrm>
            <a:off x="594360" y="804672"/>
            <a:ext cx="10972800" cy="566928"/>
          </a:xfrm>
          <a:prstGeom prst="rect">
            <a:avLst/>
          </a:prstGeom>
          <a:noFill/>
          <a:ln/>
        </p:spPr>
        <p:txBody>
          <a:bodyPr wrap="square" lIns="0" tIns="0" rIns="0" bIns="0" rtlCol="0" anchor="ctr">
            <a:normAutofit/>
          </a:bodyPr>
          <a:lstStyle/>
          <a:p>
            <a:pPr indent="0" marL="0">
              <a:buNone/>
            </a:pPr>
            <a:r>
              <a:rPr lang="en-US" sz="2700" b="1" dirty="0">
                <a:solidFill>
                  <a:srgbClr val="102A43"/>
                </a:solidFill>
              </a:rPr>
              <a:t>30 490 строк — это товар × магазин, а не 30 490 товаров</a:t>
            </a:r>
            <a:endParaRPr lang="en-US" sz="2700" dirty="0"/>
          </a:p>
        </p:txBody>
      </p:sp>
      <p:sp>
        <p:nvSpPr>
          <p:cNvPr id="4" name="Text 2"/>
          <p:cNvSpPr/>
          <p:nvPr/>
        </p:nvSpPr>
        <p:spPr>
          <a:xfrm>
            <a:off x="731520" y="1417320"/>
            <a:ext cx="2743200" cy="292608"/>
          </a:xfrm>
          <a:prstGeom prst="rect">
            <a:avLst/>
          </a:prstGeom>
          <a:noFill/>
          <a:ln/>
        </p:spPr>
        <p:txBody>
          <a:bodyPr wrap="square" lIns="0" tIns="0" rIns="0" bIns="0" rtlCol="0" anchor="ctr"/>
          <a:lstStyle/>
          <a:p>
            <a:pPr indent="0" marL="0">
              <a:buNone/>
            </a:pPr>
            <a:r>
              <a:rPr lang="en-US" sz="1700" b="1" dirty="0">
                <a:solidFill>
                  <a:srgbClr val="1976D2"/>
                </a:solidFill>
              </a:rPr>
              <a:t>Одна исходная строка</a:t>
            </a:r>
            <a:endParaRPr lang="en-US" sz="1700" dirty="0"/>
          </a:p>
        </p:txBody>
      </p:sp>
      <p:sp>
        <p:nvSpPr>
          <p:cNvPr id="5" name="Text 3"/>
          <p:cNvSpPr/>
          <p:nvPr/>
        </p:nvSpPr>
        <p:spPr>
          <a:xfrm>
            <a:off x="731520" y="1847088"/>
            <a:ext cx="5989320" cy="1097280"/>
          </a:xfrm>
          <a:prstGeom prst="rect">
            <a:avLst/>
          </a:prstGeom>
          <a:solidFill>
            <a:srgbClr val="EEF4FA"/>
          </a:solidFill>
          <a:ln w="12700">
            <a:solidFill>
              <a:srgbClr val="C9D9E8"/>
            </a:solidFill>
          </a:ln>
        </p:spPr>
        <p:txBody>
          <a:bodyPr wrap="square" lIns="2286" tIns="2286" rIns="2286" bIns="2286" rtlCol="0" anchor="ctr">
            <a:normAutofit/>
          </a:bodyPr>
          <a:lstStyle/>
          <a:p>
            <a:pPr indent="0" marL="0">
              <a:buNone/>
            </a:pPr>
            <a:r>
              <a:rPr lang="en-US" sz="1700" dirty="0">
                <a:solidFill>
                  <a:srgbClr val="102A43"/>
                </a:solidFill>
                <a:latin typeface="Consolas" pitchFamily="34" charset="0"/>
                <a:ea typeface="Consolas" pitchFamily="34" charset="-122"/>
                <a:cs typeface="Consolas" pitchFamily="34" charset="-120"/>
              </a:rPr>
              <a:t>item_id       store_id  d_1  d_2  d_3  ...  d_1941</a:t>
            </a:r>
            <a:endParaRPr lang="en-US" sz="1700" dirty="0"/>
          </a:p>
          <a:p>
            <a:pPr indent="0" marL="0">
              <a:buNone/>
            </a:pPr>
            <a:r>
              <a:rPr lang="en-US" sz="1700" dirty="0">
                <a:solidFill>
                  <a:srgbClr val="102A43"/>
                </a:solidFill>
                <a:latin typeface="Consolas" pitchFamily="34" charset="0"/>
                <a:ea typeface="Consolas" pitchFamily="34" charset="-122"/>
                <a:cs typeface="Consolas" pitchFamily="34" charset="-120"/>
              </a:rPr>
              <a:t>FOODS_1_001  CA_1      3    0    1    ...  4</a:t>
            </a:r>
            <a:endParaRPr lang="en-US" sz="1700" dirty="0"/>
          </a:p>
        </p:txBody>
      </p:sp>
      <p:sp>
        <p:nvSpPr>
          <p:cNvPr id="6" name="Text 4"/>
          <p:cNvSpPr/>
          <p:nvPr/>
        </p:nvSpPr>
        <p:spPr>
          <a:xfrm>
            <a:off x="7086600" y="1417320"/>
            <a:ext cx="3108960" cy="292608"/>
          </a:xfrm>
          <a:prstGeom prst="rect">
            <a:avLst/>
          </a:prstGeom>
          <a:noFill/>
          <a:ln/>
        </p:spPr>
        <p:txBody>
          <a:bodyPr wrap="square" lIns="0" tIns="0" rIns="0" bIns="0" rtlCol="0" anchor="ctr"/>
          <a:lstStyle/>
          <a:p>
            <a:pPr indent="0" marL="0">
              <a:buNone/>
            </a:pPr>
            <a:r>
              <a:rPr lang="en-US" sz="1700" b="1" dirty="0">
                <a:solidFill>
                  <a:srgbClr val="178F65"/>
                </a:solidFill>
              </a:rPr>
              <a:t>Как посчитать правильно</a:t>
            </a:r>
            <a:endParaRPr lang="en-US" sz="1700" dirty="0"/>
          </a:p>
        </p:txBody>
      </p:sp>
      <p:sp>
        <p:nvSpPr>
          <p:cNvPr id="7" name="Text 5"/>
          <p:cNvSpPr/>
          <p:nvPr/>
        </p:nvSpPr>
        <p:spPr>
          <a:xfrm>
            <a:off x="7086600" y="1847088"/>
            <a:ext cx="4343400" cy="1097280"/>
          </a:xfrm>
          <a:prstGeom prst="rect">
            <a:avLst/>
          </a:prstGeom>
          <a:solidFill>
            <a:srgbClr val="EDF8F3"/>
          </a:solidFill>
          <a:ln w="12700">
            <a:solidFill>
              <a:srgbClr val="B8DDCA"/>
            </a:solidFill>
          </a:ln>
        </p:spPr>
        <p:txBody>
          <a:bodyPr wrap="square" lIns="2032" tIns="2032" rIns="2032" bIns="2032" rtlCol="0" anchor="ctr">
            <a:normAutofit/>
          </a:bodyPr>
          <a:lstStyle/>
          <a:p>
            <a:pPr indent="0" marL="0">
              <a:buNone/>
            </a:pPr>
            <a:r>
              <a:rPr lang="en-US" sz="1550" dirty="0">
                <a:solidFill>
                  <a:srgbClr val="102A43"/>
                </a:solidFill>
                <a:latin typeface="Consolas" pitchFamily="34" charset="0"/>
                <a:ea typeface="Consolas" pitchFamily="34" charset="-122"/>
                <a:cs typeface="Consolas" pitchFamily="34" charset="-120"/>
              </a:rPr>
              <a:t>sales_df.shape[0]          → 30 490</a:t>
            </a:r>
            <a:endParaRPr lang="en-US" sz="1550" dirty="0"/>
          </a:p>
          <a:p>
            <a:pPr indent="0" marL="0">
              <a:buNone/>
            </a:pPr>
            <a:r>
              <a:rPr lang="en-US" sz="1550" dirty="0">
                <a:solidFill>
                  <a:srgbClr val="102A43"/>
                </a:solidFill>
                <a:latin typeface="Consolas" pitchFamily="34" charset="0"/>
                <a:ea typeface="Consolas" pitchFamily="34" charset="-122"/>
                <a:cs typeface="Consolas" pitchFamily="34" charset="-120"/>
              </a:rPr>
              <a:t>sales_df.item_id.nunique() → 3 049</a:t>
            </a:r>
            <a:endParaRPr lang="en-US" sz="1550" dirty="0"/>
          </a:p>
          <a:p>
            <a:pPr indent="0" marL="0">
              <a:buNone/>
            </a:pPr>
            <a:r>
              <a:rPr lang="en-US" sz="1550" dirty="0">
                <a:solidFill>
                  <a:srgbClr val="102A43"/>
                </a:solidFill>
                <a:latin typeface="Consolas" pitchFamily="34" charset="0"/>
                <a:ea typeface="Consolas" pitchFamily="34" charset="-122"/>
                <a:cs typeface="Consolas" pitchFamily="34" charset="-120"/>
              </a:rPr>
              <a:t>sales_df.store_id.nunique()→ 10</a:t>
            </a:r>
            <a:endParaRPr lang="en-US" sz="1550" dirty="0"/>
          </a:p>
        </p:txBody>
      </p:sp>
      <p:sp>
        <p:nvSpPr>
          <p:cNvPr id="8" name="Shape 6"/>
          <p:cNvSpPr/>
          <p:nvPr/>
        </p:nvSpPr>
        <p:spPr>
          <a:xfrm>
            <a:off x="1188720" y="3456432"/>
            <a:ext cx="9784080" cy="960120"/>
          </a:xfrm>
          <a:prstGeom prst="roundRect">
            <a:avLst>
              <a:gd name="adj" fmla="val 4762"/>
            </a:avLst>
          </a:prstGeom>
          <a:solidFill>
            <a:srgbClr val="EAF2FB"/>
          </a:solidFill>
          <a:ln w="12700">
            <a:solidFill>
              <a:srgbClr val="B9D7F2"/>
            </a:solidFill>
            <a:prstDash val="solid"/>
          </a:ln>
        </p:spPr>
      </p:sp>
      <p:sp>
        <p:nvSpPr>
          <p:cNvPr id="9" name="Text 7"/>
          <p:cNvSpPr/>
          <p:nvPr/>
        </p:nvSpPr>
        <p:spPr>
          <a:xfrm>
            <a:off x="1508760" y="3767328"/>
            <a:ext cx="9144000" cy="292608"/>
          </a:xfrm>
          <a:prstGeom prst="rect">
            <a:avLst/>
          </a:prstGeom>
          <a:noFill/>
          <a:ln/>
        </p:spPr>
        <p:txBody>
          <a:bodyPr wrap="square" lIns="0" tIns="0" rIns="0" bIns="0" rtlCol="0" anchor="ctr">
            <a:normAutofit/>
          </a:bodyPr>
          <a:lstStyle/>
          <a:p>
            <a:pPr algn="ctr" indent="0" marL="0">
              <a:buNone/>
            </a:pPr>
            <a:r>
              <a:rPr lang="en-US" sz="2100" b="1" dirty="0">
                <a:solidFill>
                  <a:srgbClr val="1976D2"/>
                </a:solidFill>
              </a:rPr>
              <a:t>3 049 товаров × 10 магазинов = 30 490 товарно-магазинных рядов</a:t>
            </a:r>
            <a:endParaRPr lang="en-US" sz="2100" dirty="0"/>
          </a:p>
        </p:txBody>
      </p:sp>
      <p:sp>
        <p:nvSpPr>
          <p:cNvPr id="10" name="Text 8"/>
          <p:cNvSpPr/>
          <p:nvPr/>
        </p:nvSpPr>
        <p:spPr>
          <a:xfrm>
            <a:off x="1280160" y="4864608"/>
            <a:ext cx="9601200" cy="365760"/>
          </a:xfrm>
          <a:prstGeom prst="rect">
            <a:avLst/>
          </a:prstGeom>
          <a:noFill/>
          <a:ln/>
        </p:spPr>
        <p:txBody>
          <a:bodyPr wrap="square" lIns="0" tIns="0" rIns="0" bIns="0" rtlCol="0" anchor="ctr"/>
          <a:lstStyle/>
          <a:p>
            <a:pPr algn="ctr" indent="0" marL="0">
              <a:buNone/>
            </a:pPr>
            <a:r>
              <a:rPr lang="en-US" sz="1800" b="1" dirty="0">
                <a:solidFill>
                  <a:srgbClr val="102A43"/>
                </a:solidFill>
              </a:rPr>
              <a:t>В категории FOODS: 1 437 уникальных товаров × 10 магазинов = 14 370 строк.</a:t>
            </a:r>
            <a:endParaRPr lang="en-US" sz="1800" dirty="0"/>
          </a:p>
        </p:txBody>
      </p:sp>
      <p:sp>
        <p:nvSpPr>
          <p:cNvPr id="11" name="Text 9"/>
          <p:cNvSpPr/>
          <p:nvPr/>
        </p:nvSpPr>
        <p:spPr>
          <a:xfrm>
            <a:off x="594360" y="6190488"/>
            <a:ext cx="10424160" cy="219456"/>
          </a:xfrm>
          <a:prstGeom prst="rect">
            <a:avLst/>
          </a:prstGeom>
          <a:noFill/>
          <a:ln/>
        </p:spPr>
        <p:txBody>
          <a:bodyPr wrap="square" lIns="0" tIns="0" rIns="0" bIns="0" rtlCol="0" anchor="ctr">
            <a:normAutofit/>
          </a:bodyPr>
          <a:lstStyle/>
          <a:p>
            <a:pPr indent="0" marL="0">
              <a:buNone/>
            </a:pPr>
            <a:r>
              <a:rPr lang="en-US" sz="1000" i="1" dirty="0">
                <a:solidFill>
                  <a:srgbClr val="627D98"/>
                </a:solidFill>
              </a:rPr>
              <a:t>item_id анонимизирован: FOODS_1_001 — идентификатор, а не настоящее название товара.</a:t>
            </a:r>
            <a:endParaRPr lang="en-US" sz="1000" dirty="0"/>
          </a:p>
        </p:txBody>
      </p:sp>
      <p:sp>
        <p:nvSpPr>
          <p:cNvPr id="25" name="Slide Number Placeholder 0"/>
          <p:cNvSpPr>
            <a:spLocks noGrp="1"/>
          </p:cNvSpPr>
          <p:nvPr>
            <p:ph type="sldNum" sz="quarter" idx="4294967295"/>
          </p:nvPr>
        </p:nvSpPr>
        <p:spPr>
          <a:xfrm>
            <a:off x="11503152" y="6565392"/>
            <a:ext cx="182880" cy="13716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94360" y="530352"/>
            <a:ext cx="2926080" cy="219456"/>
          </a:xfrm>
          <a:prstGeom prst="rect">
            <a:avLst/>
          </a:prstGeom>
          <a:noFill/>
          <a:ln/>
        </p:spPr>
        <p:txBody>
          <a:bodyPr wrap="square" lIns="0" tIns="0" rIns="0" bIns="0" rtlCol="0" anchor="ctr"/>
          <a:lstStyle/>
          <a:p>
            <a:pPr indent="0" marL="0">
              <a:buNone/>
            </a:pPr>
            <a:r>
              <a:rPr lang="en-US" sz="1000" b="1" spc="110" kern="0" dirty="0">
                <a:solidFill>
                  <a:srgbClr val="1976D2"/>
                </a:solidFill>
              </a:rPr>
              <a:t>5 • ШИРОКАЯ ТАБЛИЦА → ДЛИННАЯ</a:t>
            </a:r>
            <a:endParaRPr lang="en-US" sz="1000" dirty="0"/>
          </a:p>
        </p:txBody>
      </p:sp>
      <p:sp>
        <p:nvSpPr>
          <p:cNvPr id="3" name="Text 1"/>
          <p:cNvSpPr/>
          <p:nvPr/>
        </p:nvSpPr>
        <p:spPr>
          <a:xfrm>
            <a:off x="594360" y="804672"/>
            <a:ext cx="10972800" cy="566928"/>
          </a:xfrm>
          <a:prstGeom prst="rect">
            <a:avLst/>
          </a:prstGeom>
          <a:noFill/>
          <a:ln/>
        </p:spPr>
        <p:txBody>
          <a:bodyPr wrap="square" lIns="0" tIns="0" rIns="0" bIns="0" rtlCol="0" anchor="ctr">
            <a:normAutofit/>
          </a:bodyPr>
          <a:lstStyle/>
          <a:p>
            <a:pPr indent="0" marL="0">
              <a:buNone/>
            </a:pPr>
            <a:r>
              <a:rPr lang="en-US" sz="2700" b="1" dirty="0">
                <a:solidFill>
                  <a:srgbClr val="102A43"/>
                </a:solidFill>
              </a:rPr>
              <a:t>Pandas melt — это Unpivot Columns в Excel</a:t>
            </a:r>
            <a:endParaRPr lang="en-US" sz="2700" dirty="0"/>
          </a:p>
        </p:txBody>
      </p:sp>
      <p:sp>
        <p:nvSpPr>
          <p:cNvPr id="4" name="Text 2"/>
          <p:cNvSpPr/>
          <p:nvPr/>
        </p:nvSpPr>
        <p:spPr>
          <a:xfrm>
            <a:off x="685800" y="1389888"/>
            <a:ext cx="3840480" cy="274320"/>
          </a:xfrm>
          <a:prstGeom prst="rect">
            <a:avLst/>
          </a:prstGeom>
          <a:noFill/>
          <a:ln/>
        </p:spPr>
        <p:txBody>
          <a:bodyPr wrap="square" lIns="0" tIns="0" rIns="0" bIns="0" rtlCol="0" anchor="ctr"/>
          <a:lstStyle/>
          <a:p>
            <a:pPr indent="0" marL="0">
              <a:buNone/>
            </a:pPr>
            <a:r>
              <a:rPr lang="en-US" sz="1700" b="1" dirty="0">
                <a:solidFill>
                  <a:srgbClr val="1976D2"/>
                </a:solidFill>
              </a:rPr>
              <a:t>Было: дни находятся в колонках</a:t>
            </a:r>
            <a:endParaRPr lang="en-US" sz="1700" dirty="0"/>
          </a:p>
        </p:txBody>
      </p:sp>
      <p:sp>
        <p:nvSpPr>
          <p:cNvPr id="5" name="Text 3"/>
          <p:cNvSpPr/>
          <p:nvPr/>
        </p:nvSpPr>
        <p:spPr>
          <a:xfrm>
            <a:off x="685800" y="1764792"/>
            <a:ext cx="4023360" cy="914400"/>
          </a:xfrm>
          <a:prstGeom prst="rect">
            <a:avLst/>
          </a:prstGeom>
          <a:solidFill>
            <a:srgbClr val="EEF4FA"/>
          </a:solidFill>
          <a:ln w="12700">
            <a:solidFill>
              <a:srgbClr val="C9D9E8"/>
            </a:solidFill>
          </a:ln>
        </p:spPr>
        <p:txBody>
          <a:bodyPr wrap="square" lIns="2286" tIns="2286" rIns="2286" bIns="2286" rtlCol="0" anchor="ctr"/>
          <a:lstStyle/>
          <a:p>
            <a:pPr indent="0" marL="0">
              <a:buNone/>
            </a:pPr>
            <a:r>
              <a:rPr lang="en-US" sz="1700" dirty="0">
                <a:solidFill>
                  <a:srgbClr val="102A43"/>
                </a:solidFill>
                <a:latin typeface="Consolas" pitchFamily="34" charset="0"/>
                <a:ea typeface="Consolas" pitchFamily="34" charset="-122"/>
                <a:cs typeface="Consolas" pitchFamily="34" charset="-120"/>
              </a:rPr>
              <a:t>item_id       d_1  d_2  d_3</a:t>
            </a:r>
            <a:endParaRPr lang="en-US" sz="1700" dirty="0"/>
          </a:p>
          <a:p>
            <a:pPr indent="0" marL="0">
              <a:buNone/>
            </a:pPr>
            <a:r>
              <a:rPr lang="en-US" sz="1700" dirty="0">
                <a:solidFill>
                  <a:srgbClr val="102A43"/>
                </a:solidFill>
                <a:latin typeface="Consolas" pitchFamily="34" charset="0"/>
                <a:ea typeface="Consolas" pitchFamily="34" charset="-122"/>
                <a:cs typeface="Consolas" pitchFamily="34" charset="-120"/>
              </a:rPr>
              <a:t>FOODS_1_001  3    0    1</a:t>
            </a:r>
            <a:endParaRPr lang="en-US" sz="1700" dirty="0"/>
          </a:p>
        </p:txBody>
      </p:sp>
      <p:sp>
        <p:nvSpPr>
          <p:cNvPr id="6" name="Text 4"/>
          <p:cNvSpPr/>
          <p:nvPr/>
        </p:nvSpPr>
        <p:spPr>
          <a:xfrm>
            <a:off x="685800" y="2962656"/>
            <a:ext cx="3840480" cy="274320"/>
          </a:xfrm>
          <a:prstGeom prst="rect">
            <a:avLst/>
          </a:prstGeom>
          <a:noFill/>
          <a:ln/>
        </p:spPr>
        <p:txBody>
          <a:bodyPr wrap="square" lIns="0" tIns="0" rIns="0" bIns="0" rtlCol="0" anchor="ctr"/>
          <a:lstStyle/>
          <a:p>
            <a:pPr indent="0" marL="0">
              <a:buNone/>
            </a:pPr>
            <a:r>
              <a:rPr lang="en-US" sz="1700" b="1" dirty="0">
                <a:solidFill>
                  <a:srgbClr val="178F65"/>
                </a:solidFill>
              </a:rPr>
              <a:t>Стало: один день = одна строка</a:t>
            </a:r>
            <a:endParaRPr lang="en-US" sz="1700" dirty="0"/>
          </a:p>
        </p:txBody>
      </p:sp>
      <p:sp>
        <p:nvSpPr>
          <p:cNvPr id="7" name="Text 5"/>
          <p:cNvSpPr/>
          <p:nvPr/>
        </p:nvSpPr>
        <p:spPr>
          <a:xfrm>
            <a:off x="685800" y="3346704"/>
            <a:ext cx="4023360" cy="1389888"/>
          </a:xfrm>
          <a:prstGeom prst="rect">
            <a:avLst/>
          </a:prstGeom>
          <a:solidFill>
            <a:srgbClr val="EDF8F3"/>
          </a:solidFill>
          <a:ln w="12700">
            <a:solidFill>
              <a:srgbClr val="B8DDCA"/>
            </a:solidFill>
          </a:ln>
        </p:spPr>
        <p:txBody>
          <a:bodyPr wrap="square" lIns="2286" tIns="2286" rIns="2286" bIns="2286" rtlCol="0" anchor="ctr">
            <a:normAutofit/>
          </a:bodyPr>
          <a:lstStyle/>
          <a:p>
            <a:pPr indent="0" marL="0">
              <a:buNone/>
            </a:pPr>
            <a:r>
              <a:rPr lang="en-US" sz="1650" dirty="0">
                <a:solidFill>
                  <a:srgbClr val="102A43"/>
                </a:solidFill>
                <a:latin typeface="Consolas" pitchFamily="34" charset="0"/>
                <a:ea typeface="Consolas" pitchFamily="34" charset="-122"/>
                <a:cs typeface="Consolas" pitchFamily="34" charset="-120"/>
              </a:rPr>
              <a:t>item_id       d    units_sold</a:t>
            </a:r>
            <a:endParaRPr lang="en-US" sz="1650" dirty="0"/>
          </a:p>
          <a:p>
            <a:pPr indent="0" marL="0">
              <a:buNone/>
            </a:pPr>
            <a:r>
              <a:rPr lang="en-US" sz="1650" dirty="0">
                <a:solidFill>
                  <a:srgbClr val="102A43"/>
                </a:solidFill>
                <a:latin typeface="Consolas" pitchFamily="34" charset="0"/>
                <a:ea typeface="Consolas" pitchFamily="34" charset="-122"/>
                <a:cs typeface="Consolas" pitchFamily="34" charset="-120"/>
              </a:rPr>
              <a:t>FOODS_1_001  d_1  3</a:t>
            </a:r>
            <a:endParaRPr lang="en-US" sz="1650" dirty="0"/>
          </a:p>
          <a:p>
            <a:pPr indent="0" marL="0">
              <a:buNone/>
            </a:pPr>
            <a:r>
              <a:rPr lang="en-US" sz="1650" dirty="0">
                <a:solidFill>
                  <a:srgbClr val="102A43"/>
                </a:solidFill>
                <a:latin typeface="Consolas" pitchFamily="34" charset="0"/>
                <a:ea typeface="Consolas" pitchFamily="34" charset="-122"/>
                <a:cs typeface="Consolas" pitchFamily="34" charset="-120"/>
              </a:rPr>
              <a:t>FOODS_1_001  d_2  0</a:t>
            </a:r>
            <a:endParaRPr lang="en-US" sz="1650" dirty="0"/>
          </a:p>
          <a:p>
            <a:pPr indent="0" marL="0">
              <a:buNone/>
            </a:pPr>
            <a:r>
              <a:rPr lang="en-US" sz="1650" dirty="0">
                <a:solidFill>
                  <a:srgbClr val="102A43"/>
                </a:solidFill>
                <a:latin typeface="Consolas" pitchFamily="34" charset="0"/>
                <a:ea typeface="Consolas" pitchFamily="34" charset="-122"/>
                <a:cs typeface="Consolas" pitchFamily="34" charset="-120"/>
              </a:rPr>
              <a:t>FOODS_1_001  d_3  1</a:t>
            </a:r>
            <a:endParaRPr lang="en-US" sz="1650" dirty="0"/>
          </a:p>
        </p:txBody>
      </p:sp>
      <p:sp>
        <p:nvSpPr>
          <p:cNvPr id="8" name="Text 6"/>
          <p:cNvSpPr/>
          <p:nvPr/>
        </p:nvSpPr>
        <p:spPr>
          <a:xfrm>
            <a:off x="5074920" y="1389888"/>
            <a:ext cx="1828800" cy="274320"/>
          </a:xfrm>
          <a:prstGeom prst="rect">
            <a:avLst/>
          </a:prstGeom>
          <a:noFill/>
          <a:ln/>
        </p:spPr>
        <p:txBody>
          <a:bodyPr wrap="square" lIns="0" tIns="0" rIns="0" bIns="0" rtlCol="0" anchor="ctr"/>
          <a:lstStyle/>
          <a:p>
            <a:pPr indent="0" marL="0">
              <a:buNone/>
            </a:pPr>
            <a:r>
              <a:rPr lang="en-US" sz="1700" b="1" dirty="0">
                <a:solidFill>
                  <a:srgbClr val="F59E0B"/>
                </a:solidFill>
              </a:rPr>
              <a:t>Код проекта</a:t>
            </a:r>
            <a:endParaRPr lang="en-US" sz="1700" dirty="0"/>
          </a:p>
        </p:txBody>
      </p:sp>
      <p:sp>
        <p:nvSpPr>
          <p:cNvPr id="9" name="Text 7"/>
          <p:cNvSpPr/>
          <p:nvPr/>
        </p:nvSpPr>
        <p:spPr>
          <a:xfrm>
            <a:off x="5074920" y="1764792"/>
            <a:ext cx="6263640" cy="1463040"/>
          </a:xfrm>
          <a:prstGeom prst="rect">
            <a:avLst/>
          </a:prstGeom>
          <a:solidFill>
            <a:srgbClr val="FFF7E6"/>
          </a:solidFill>
          <a:ln w="12700">
            <a:solidFill>
              <a:srgbClr val="F7C873"/>
            </a:solidFill>
          </a:ln>
        </p:spPr>
        <p:txBody>
          <a:bodyPr wrap="square" lIns="2286" tIns="2286" rIns="2286" bIns="2286" rtlCol="0" anchor="ctr">
            <a:normAutofit/>
          </a:bodyPr>
          <a:lstStyle/>
          <a:p>
            <a:pPr indent="0" marL="0">
              <a:buNone/>
            </a:pPr>
            <a:r>
              <a:rPr lang="en-US" sz="1500" dirty="0">
                <a:solidFill>
                  <a:srgbClr val="102A43"/>
                </a:solidFill>
                <a:latin typeface="Consolas" pitchFamily="34" charset="0"/>
                <a:ea typeface="Consolas" pitchFamily="34" charset="-122"/>
                <a:cs typeface="Consolas" pitchFamily="34" charset="-120"/>
              </a:rPr>
              <a:t>daily = foods_chunk.melt(</a:t>
            </a:r>
            <a:endParaRPr lang="en-US" sz="1500" dirty="0"/>
          </a:p>
          <a:p>
            <a:pPr indent="0" marL="0">
              <a:buNone/>
            </a:pPr>
            <a:r>
              <a:rPr lang="en-US" sz="1500" dirty="0">
                <a:solidFill>
                  <a:srgbClr val="102A43"/>
                </a:solidFill>
                <a:latin typeface="Consolas" pitchFamily="34" charset="0"/>
                <a:ea typeface="Consolas" pitchFamily="34" charset="-122"/>
                <a:cs typeface="Consolas" pitchFamily="34" charset="-120"/>
              </a:rPr>
              <a:t>    id_vars=sales_id_columns,</a:t>
            </a:r>
            <a:endParaRPr lang="en-US" sz="1500" dirty="0"/>
          </a:p>
          <a:p>
            <a:pPr indent="0" marL="0">
              <a:buNone/>
            </a:pPr>
            <a:r>
              <a:rPr lang="en-US" sz="1500" dirty="0">
                <a:solidFill>
                  <a:srgbClr val="102A43"/>
                </a:solidFill>
                <a:latin typeface="Consolas" pitchFamily="34" charset="0"/>
                <a:ea typeface="Consolas" pitchFamily="34" charset="-122"/>
                <a:cs typeface="Consolas" pitchFamily="34" charset="-120"/>
              </a:rPr>
              <a:t>    value_vars=day_columns,</a:t>
            </a:r>
            <a:endParaRPr lang="en-US" sz="1500" dirty="0"/>
          </a:p>
          <a:p>
            <a:pPr indent="0" marL="0">
              <a:buNone/>
            </a:pPr>
            <a:r>
              <a:rPr lang="en-US" sz="1500" dirty="0">
                <a:solidFill>
                  <a:srgbClr val="102A43"/>
                </a:solidFill>
                <a:latin typeface="Consolas" pitchFamily="34" charset="0"/>
                <a:ea typeface="Consolas" pitchFamily="34" charset="-122"/>
                <a:cs typeface="Consolas" pitchFamily="34" charset="-120"/>
              </a:rPr>
              <a:t>    var_name="d",</a:t>
            </a:r>
            <a:endParaRPr lang="en-US" sz="1500" dirty="0"/>
          </a:p>
          <a:p>
            <a:pPr indent="0" marL="0">
              <a:buNone/>
            </a:pPr>
            <a:r>
              <a:rPr lang="en-US" sz="1500" dirty="0">
                <a:solidFill>
                  <a:srgbClr val="102A43"/>
                </a:solidFill>
                <a:latin typeface="Consolas" pitchFamily="34" charset="0"/>
                <a:ea typeface="Consolas" pitchFamily="34" charset="-122"/>
                <a:cs typeface="Consolas" pitchFamily="34" charset="-120"/>
              </a:rPr>
              <a:t>    value_name="units_sold"</a:t>
            </a:r>
            <a:endParaRPr lang="en-US" sz="1500" dirty="0"/>
          </a:p>
          <a:p>
            <a:pPr indent="0" marL="0">
              <a:buNone/>
            </a:pPr>
            <a:r>
              <a:rPr lang="en-US" sz="1500" dirty="0">
                <a:solidFill>
                  <a:srgbClr val="102A43"/>
                </a:solidFill>
                <a:latin typeface="Consolas" pitchFamily="34" charset="0"/>
                <a:ea typeface="Consolas" pitchFamily="34" charset="-122"/>
                <a:cs typeface="Consolas" pitchFamily="34" charset="-120"/>
              </a:rPr>
              <a:t>)</a:t>
            </a:r>
            <a:endParaRPr lang="en-US" sz="1500" dirty="0"/>
          </a:p>
        </p:txBody>
      </p:sp>
      <p:sp>
        <p:nvSpPr>
          <p:cNvPr id="10" name="Text 8"/>
          <p:cNvSpPr/>
          <p:nvPr/>
        </p:nvSpPr>
        <p:spPr>
          <a:xfrm>
            <a:off x="5074920" y="3547872"/>
            <a:ext cx="5212080" cy="292608"/>
          </a:xfrm>
          <a:prstGeom prst="rect">
            <a:avLst/>
          </a:prstGeom>
          <a:noFill/>
          <a:ln/>
        </p:spPr>
        <p:txBody>
          <a:bodyPr wrap="square" lIns="0" tIns="0" rIns="0" bIns="0" rtlCol="0" anchor="ctr"/>
          <a:lstStyle/>
          <a:p>
            <a:pPr indent="0" marL="0">
              <a:buNone/>
            </a:pPr>
            <a:r>
              <a:rPr lang="en-US" sz="1700" b="1" dirty="0">
                <a:solidFill>
                  <a:srgbClr val="D64545"/>
                </a:solidFill>
              </a:rPr>
              <a:t>Почему два sales-файла не складывались</a:t>
            </a:r>
            <a:endParaRPr lang="en-US" sz="1700" dirty="0"/>
          </a:p>
        </p:txBody>
      </p:sp>
      <p:sp>
        <p:nvSpPr>
          <p:cNvPr id="11" name="Text 9"/>
          <p:cNvSpPr/>
          <p:nvPr/>
        </p:nvSpPr>
        <p:spPr>
          <a:xfrm>
            <a:off x="5074920" y="3931920"/>
            <a:ext cx="6263640" cy="1298448"/>
          </a:xfrm>
          <a:prstGeom prst="rect">
            <a:avLst/>
          </a:prstGeom>
          <a:solidFill>
            <a:srgbClr val="FDECEC"/>
          </a:solidFill>
          <a:ln w="12700">
            <a:solidFill>
              <a:srgbClr val="E6A2A2"/>
            </a:solidFill>
          </a:ln>
        </p:spPr>
        <p:txBody>
          <a:bodyPr wrap="square" lIns="2032" tIns="2032" rIns="2032" bIns="2032" rtlCol="0" anchor="ctr">
            <a:normAutofit/>
          </a:bodyPr>
          <a:lstStyle/>
          <a:p>
            <a:pPr indent="0" marL="0">
              <a:buNone/>
            </a:pPr>
            <a:r>
              <a:rPr lang="en-US" sz="1550" dirty="0">
                <a:solidFill>
                  <a:srgbClr val="102A43"/>
                </a:solidFill>
                <a:latin typeface="Consolas" pitchFamily="34" charset="0"/>
                <a:ea typeface="Consolas" pitchFamily="34" charset="-122"/>
                <a:cs typeface="Consolas" pitchFamily="34" charset="-120"/>
              </a:rPr>
              <a:t>validation: d_1–d_1913</a:t>
            </a:r>
            <a:endParaRPr lang="en-US" sz="1550" dirty="0"/>
          </a:p>
          <a:p>
            <a:pPr indent="0" marL="0">
              <a:buNone/>
            </a:pPr>
            <a:r>
              <a:rPr lang="en-US" sz="1550" dirty="0">
                <a:solidFill>
                  <a:srgbClr val="102A43"/>
                </a:solidFill>
                <a:latin typeface="Consolas" pitchFamily="34" charset="0"/>
                <a:ea typeface="Consolas" pitchFamily="34" charset="-122"/>
                <a:cs typeface="Consolas" pitchFamily="34" charset="-120"/>
              </a:rPr>
              <a:t>evaluation: d_1–d_1941</a:t>
            </a:r>
            <a:endParaRPr lang="en-US" sz="1550" dirty="0"/>
          </a:p>
          <a:p>
            <a:pPr indent="0" marL="0">
              <a:buNone/>
            </a:pPr>
            <a:endParaRPr lang="en-US" sz="1550" dirty="0"/>
          </a:p>
          <a:p>
            <a:pPr indent="0" marL="0">
              <a:buNone/>
            </a:pPr>
            <a:r>
              <a:rPr lang="en-US" sz="1550" dirty="0">
                <a:solidFill>
                  <a:srgbClr val="102A43"/>
                </a:solidFill>
                <a:latin typeface="Consolas" pitchFamily="34" charset="0"/>
                <a:ea typeface="Consolas" pitchFamily="34" charset="-122"/>
                <a:cs typeface="Consolas" pitchFamily="34" charset="-120"/>
              </a:rPr>
              <a:t>evaluation уже содержит validation + 28 новых дней.</a:t>
            </a:r>
            <a:endParaRPr lang="en-US" sz="1550" dirty="0"/>
          </a:p>
          <a:p>
            <a:pPr indent="0" marL="0">
              <a:buNone/>
            </a:pPr>
            <a:r>
              <a:rPr lang="en-US" sz="1550" dirty="0">
                <a:solidFill>
                  <a:srgbClr val="102A43"/>
                </a:solidFill>
                <a:latin typeface="Consolas" pitchFamily="34" charset="0"/>
                <a:ea typeface="Consolas" pitchFamily="34" charset="-122"/>
                <a:cs typeface="Consolas" pitchFamily="34" charset="-120"/>
              </a:rPr>
              <a:t>Concat создал бы дубликаты d_1–d_1913.</a:t>
            </a:r>
            <a:endParaRPr lang="en-US" sz="1550" dirty="0"/>
          </a:p>
        </p:txBody>
      </p:sp>
      <p:sp>
        <p:nvSpPr>
          <p:cNvPr id="12" name="Text 10"/>
          <p:cNvSpPr/>
          <p:nvPr/>
        </p:nvSpPr>
        <p:spPr>
          <a:xfrm>
            <a:off x="594360" y="6190488"/>
            <a:ext cx="10424160" cy="219456"/>
          </a:xfrm>
          <a:prstGeom prst="rect">
            <a:avLst/>
          </a:prstGeom>
          <a:noFill/>
          <a:ln/>
        </p:spPr>
        <p:txBody>
          <a:bodyPr wrap="square" lIns="0" tIns="0" rIns="0" bIns="0" rtlCol="0" anchor="ctr">
            <a:normAutofit/>
          </a:bodyPr>
          <a:lstStyle/>
          <a:p>
            <a:pPr indent="0" marL="0">
              <a:buNone/>
            </a:pPr>
            <a:r>
              <a:rPr lang="en-US" sz="1000" i="1" dirty="0">
                <a:solidFill>
                  <a:srgbClr val="627D98"/>
                </a:solidFill>
              </a:rPr>
              <a:t>После melt FOODS содержит 14 370 × 1 941 = 27 892 170 ежедневных значений.</a:t>
            </a:r>
            <a:endParaRPr lang="en-US" sz="1000" dirty="0"/>
          </a:p>
        </p:txBody>
      </p:sp>
      <p:sp>
        <p:nvSpPr>
          <p:cNvPr id="25" name="Slide Number Placeholder 0"/>
          <p:cNvSpPr>
            <a:spLocks noGrp="1"/>
          </p:cNvSpPr>
          <p:nvPr>
            <p:ph type="sldNum" sz="quarter" idx="4294967295"/>
          </p:nvPr>
        </p:nvSpPr>
        <p:spPr>
          <a:xfrm>
            <a:off x="11503152" y="6565392"/>
            <a:ext cx="182880" cy="13716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94360" y="530352"/>
            <a:ext cx="2926080" cy="219456"/>
          </a:xfrm>
          <a:prstGeom prst="rect">
            <a:avLst/>
          </a:prstGeom>
          <a:noFill/>
          <a:ln/>
        </p:spPr>
        <p:txBody>
          <a:bodyPr wrap="square" lIns="0" tIns="0" rIns="0" bIns="0" rtlCol="0" anchor="ctr"/>
          <a:lstStyle/>
          <a:p>
            <a:pPr indent="0" marL="0">
              <a:buNone/>
            </a:pPr>
            <a:r>
              <a:rPr lang="en-US" sz="1000" b="1" spc="110" kern="0" dirty="0">
                <a:solidFill>
                  <a:srgbClr val="1976D2"/>
                </a:solidFill>
              </a:rPr>
              <a:t>6 • MERGE И НЕДЕЛЬНАЯ АГРЕГАЦИЯ</a:t>
            </a:r>
            <a:endParaRPr lang="en-US" sz="1000" dirty="0"/>
          </a:p>
        </p:txBody>
      </p:sp>
      <p:sp>
        <p:nvSpPr>
          <p:cNvPr id="3" name="Text 1"/>
          <p:cNvSpPr/>
          <p:nvPr/>
        </p:nvSpPr>
        <p:spPr>
          <a:xfrm>
            <a:off x="594360" y="804672"/>
            <a:ext cx="10972800" cy="566928"/>
          </a:xfrm>
          <a:prstGeom prst="rect">
            <a:avLst/>
          </a:prstGeom>
          <a:noFill/>
          <a:ln/>
        </p:spPr>
        <p:txBody>
          <a:bodyPr wrap="square" lIns="0" tIns="0" rIns="0" bIns="0" rtlCol="0" anchor="ctr">
            <a:normAutofit/>
          </a:bodyPr>
          <a:lstStyle/>
          <a:p>
            <a:pPr indent="0" marL="0">
              <a:buNone/>
            </a:pPr>
            <a:r>
              <a:rPr lang="en-US" sz="2700" b="1" dirty="0">
                <a:solidFill>
                  <a:srgbClr val="102A43"/>
                </a:solidFill>
              </a:rPr>
              <a:t>Три источника превращаются в одну недельную строку</a:t>
            </a:r>
            <a:endParaRPr lang="en-US" sz="2700" dirty="0"/>
          </a:p>
        </p:txBody>
      </p:sp>
      <p:sp>
        <p:nvSpPr>
          <p:cNvPr id="4" name="Text 2"/>
          <p:cNvSpPr/>
          <p:nvPr/>
        </p:nvSpPr>
        <p:spPr>
          <a:xfrm>
            <a:off x="658368" y="1325880"/>
            <a:ext cx="4023360" cy="274320"/>
          </a:xfrm>
          <a:prstGeom prst="rect">
            <a:avLst/>
          </a:prstGeom>
          <a:noFill/>
          <a:ln/>
        </p:spPr>
        <p:txBody>
          <a:bodyPr wrap="square" lIns="0" tIns="0" rIns="0" bIns="0" rtlCol="0" anchor="ctr"/>
          <a:lstStyle/>
          <a:p>
            <a:pPr indent="0" marL="0">
              <a:buNone/>
            </a:pPr>
            <a:r>
              <a:rPr lang="en-US" sz="1700" b="1" dirty="0">
                <a:solidFill>
                  <a:srgbClr val="1976D2"/>
                </a:solidFill>
              </a:rPr>
              <a:t>1. Связываем d с проектной неделей</a:t>
            </a:r>
            <a:endParaRPr lang="en-US" sz="1700" dirty="0"/>
          </a:p>
        </p:txBody>
      </p:sp>
      <p:sp>
        <p:nvSpPr>
          <p:cNvPr id="5" name="Text 3"/>
          <p:cNvSpPr/>
          <p:nvPr/>
        </p:nvSpPr>
        <p:spPr>
          <a:xfrm>
            <a:off x="658368" y="1673352"/>
            <a:ext cx="5212080" cy="1133856"/>
          </a:xfrm>
          <a:prstGeom prst="rect">
            <a:avLst/>
          </a:prstGeom>
          <a:solidFill>
            <a:srgbClr val="EEF4FA"/>
          </a:solidFill>
          <a:ln w="12700">
            <a:solidFill>
              <a:srgbClr val="C9D9E8"/>
            </a:solidFill>
          </a:ln>
        </p:spPr>
        <p:txBody>
          <a:bodyPr wrap="square" lIns="2032" tIns="2032" rIns="2032" bIns="2032" rtlCol="0" anchor="ctr">
            <a:normAutofit/>
          </a:bodyPr>
          <a:lstStyle/>
          <a:p>
            <a:pPr indent="0" marL="0">
              <a:buNone/>
            </a:pPr>
            <a:r>
              <a:rPr lang="en-US" sz="1450" dirty="0">
                <a:solidFill>
                  <a:srgbClr val="102A43"/>
                </a:solidFill>
                <a:latin typeface="Consolas" pitchFamily="34" charset="0"/>
                <a:ea typeface="Consolas" pitchFamily="34" charset="-122"/>
                <a:cs typeface="Consolas" pitchFamily="34" charset="-120"/>
              </a:rPr>
              <a:t>day_to_week = calendar.set_index("d")["week_start"]</a:t>
            </a:r>
            <a:endParaRPr lang="en-US" sz="1450" dirty="0"/>
          </a:p>
          <a:p>
            <a:pPr indent="0" marL="0">
              <a:buNone/>
            </a:pPr>
            <a:r>
              <a:rPr lang="en-US" sz="1450" dirty="0">
                <a:solidFill>
                  <a:srgbClr val="102A43"/>
                </a:solidFill>
                <a:latin typeface="Consolas" pitchFamily="34" charset="0"/>
                <a:ea typeface="Consolas" pitchFamily="34" charset="-122"/>
                <a:cs typeface="Consolas" pitchFamily="34" charset="-120"/>
              </a:rPr>
              <a:t>daily["week_start"] = daily["d"].map(day_to_week)</a:t>
            </a:r>
            <a:endParaRPr lang="en-US" sz="1450" dirty="0"/>
          </a:p>
        </p:txBody>
      </p:sp>
      <p:sp>
        <p:nvSpPr>
          <p:cNvPr id="6" name="Text 4"/>
          <p:cNvSpPr/>
          <p:nvPr/>
        </p:nvSpPr>
        <p:spPr>
          <a:xfrm>
            <a:off x="6199632" y="1325880"/>
            <a:ext cx="4389120" cy="274320"/>
          </a:xfrm>
          <a:prstGeom prst="rect">
            <a:avLst/>
          </a:prstGeom>
          <a:noFill/>
          <a:ln/>
        </p:spPr>
        <p:txBody>
          <a:bodyPr wrap="square" lIns="0" tIns="0" rIns="0" bIns="0" rtlCol="0" anchor="ctr"/>
          <a:lstStyle/>
          <a:p>
            <a:pPr indent="0" marL="0">
              <a:buNone/>
            </a:pPr>
            <a:r>
              <a:rPr lang="en-US" sz="1700" b="1" dirty="0">
                <a:solidFill>
                  <a:srgbClr val="F59E0B"/>
                </a:solidFill>
              </a:rPr>
              <a:t>2. Присоединяем подготовленную цену</a:t>
            </a:r>
            <a:endParaRPr lang="en-US" sz="1700" dirty="0"/>
          </a:p>
        </p:txBody>
      </p:sp>
      <p:sp>
        <p:nvSpPr>
          <p:cNvPr id="7" name="Text 5"/>
          <p:cNvSpPr/>
          <p:nvPr/>
        </p:nvSpPr>
        <p:spPr>
          <a:xfrm>
            <a:off x="6199632" y="1673352"/>
            <a:ext cx="5303520" cy="1133856"/>
          </a:xfrm>
          <a:prstGeom prst="rect">
            <a:avLst/>
          </a:prstGeom>
          <a:solidFill>
            <a:srgbClr val="FFF7E6"/>
          </a:solidFill>
          <a:ln w="12700">
            <a:solidFill>
              <a:srgbClr val="F7C873"/>
            </a:solidFill>
          </a:ln>
        </p:spPr>
        <p:txBody>
          <a:bodyPr wrap="square" lIns="1778" tIns="1778" rIns="1778" bIns="1778" rtlCol="0" anchor="ctr">
            <a:normAutofit/>
          </a:bodyPr>
          <a:lstStyle/>
          <a:p>
            <a:pPr indent="0" marL="0">
              <a:buNone/>
            </a:pPr>
            <a:r>
              <a:rPr lang="en-US" sz="1400" dirty="0">
                <a:solidFill>
                  <a:srgbClr val="102A43"/>
                </a:solidFill>
                <a:latin typeface="Consolas" pitchFamily="34" charset="0"/>
                <a:ea typeface="Consolas" pitchFamily="34" charset="-122"/>
                <a:cs typeface="Consolas" pitchFamily="34" charset="-120"/>
              </a:rPr>
              <a:t>weekly = weekly.merge(</a:t>
            </a:r>
            <a:endParaRPr lang="en-US" sz="1400" dirty="0"/>
          </a:p>
          <a:p>
            <a:pPr indent="0" marL="0">
              <a:buNone/>
            </a:pPr>
            <a:r>
              <a:rPr lang="en-US" sz="1400" dirty="0">
                <a:solidFill>
                  <a:srgbClr val="102A43"/>
                </a:solidFill>
                <a:latin typeface="Consolas" pitchFamily="34" charset="0"/>
                <a:ea typeface="Consolas" pitchFamily="34" charset="-122"/>
                <a:cs typeface="Consolas" pitchFamily="34" charset="-120"/>
              </a:rPr>
              <a:t>    weekly_prices,</a:t>
            </a:r>
            <a:endParaRPr lang="en-US" sz="1400" dirty="0"/>
          </a:p>
          <a:p>
            <a:pPr indent="0" marL="0">
              <a:buNone/>
            </a:pPr>
            <a:r>
              <a:rPr lang="en-US" sz="1400" dirty="0">
                <a:solidFill>
                  <a:srgbClr val="102A43"/>
                </a:solidFill>
                <a:latin typeface="Consolas" pitchFamily="34" charset="0"/>
                <a:ea typeface="Consolas" pitchFamily="34" charset="-122"/>
                <a:cs typeface="Consolas" pitchFamily="34" charset="-120"/>
              </a:rPr>
              <a:t>    on=["store_id", "item_id", "week_start"],</a:t>
            </a:r>
            <a:endParaRPr lang="en-US" sz="1400" dirty="0"/>
          </a:p>
          <a:p>
            <a:pPr indent="0" marL="0">
              <a:buNone/>
            </a:pPr>
            <a:r>
              <a:rPr lang="en-US" sz="1400" dirty="0">
                <a:solidFill>
                  <a:srgbClr val="102A43"/>
                </a:solidFill>
                <a:latin typeface="Consolas" pitchFamily="34" charset="0"/>
                <a:ea typeface="Consolas" pitchFamily="34" charset="-122"/>
                <a:cs typeface="Consolas" pitchFamily="34" charset="-120"/>
              </a:rPr>
              <a:t>    how="left", validate="one_to_one"</a:t>
            </a:r>
            <a:endParaRPr lang="en-US" sz="1400" dirty="0"/>
          </a:p>
          <a:p>
            <a:pPr indent="0" marL="0">
              <a:buNone/>
            </a:pPr>
            <a:r>
              <a:rPr lang="en-US" sz="1400" dirty="0">
                <a:solidFill>
                  <a:srgbClr val="102A43"/>
                </a:solidFill>
                <a:latin typeface="Consolas" pitchFamily="34" charset="0"/>
                <a:ea typeface="Consolas" pitchFamily="34" charset="-122"/>
                <a:cs typeface="Consolas" pitchFamily="34" charset="-120"/>
              </a:rPr>
              <a:t>)</a:t>
            </a:r>
            <a:endParaRPr lang="en-US" sz="1400" dirty="0"/>
          </a:p>
        </p:txBody>
      </p:sp>
      <p:sp>
        <p:nvSpPr>
          <p:cNvPr id="8" name="Text 6"/>
          <p:cNvSpPr/>
          <p:nvPr/>
        </p:nvSpPr>
        <p:spPr>
          <a:xfrm>
            <a:off x="658368" y="3090672"/>
            <a:ext cx="5394960" cy="292608"/>
          </a:xfrm>
          <a:prstGeom prst="rect">
            <a:avLst/>
          </a:prstGeom>
          <a:noFill/>
          <a:ln/>
        </p:spPr>
        <p:txBody>
          <a:bodyPr wrap="square" lIns="0" tIns="0" rIns="0" bIns="0" rtlCol="0" anchor="ctr"/>
          <a:lstStyle/>
          <a:p>
            <a:pPr indent="0" marL="0">
              <a:buNone/>
            </a:pPr>
            <a:r>
              <a:rPr lang="en-US" sz="1700" b="1" dirty="0">
                <a:solidFill>
                  <a:srgbClr val="178F65"/>
                </a:solidFill>
              </a:rPr>
              <a:t>3. Определяем понедельник и суммируем семь дней</a:t>
            </a:r>
            <a:endParaRPr lang="en-US" sz="1700" dirty="0"/>
          </a:p>
        </p:txBody>
      </p:sp>
      <p:sp>
        <p:nvSpPr>
          <p:cNvPr id="9" name="Text 7"/>
          <p:cNvSpPr/>
          <p:nvPr/>
        </p:nvSpPr>
        <p:spPr>
          <a:xfrm>
            <a:off x="658368" y="3474720"/>
            <a:ext cx="6400800" cy="1481328"/>
          </a:xfrm>
          <a:prstGeom prst="rect">
            <a:avLst/>
          </a:prstGeom>
          <a:solidFill>
            <a:srgbClr val="EDF8F3"/>
          </a:solidFill>
          <a:ln w="12700">
            <a:solidFill>
              <a:srgbClr val="B8DDCA"/>
            </a:solidFill>
          </a:ln>
        </p:spPr>
        <p:txBody>
          <a:bodyPr wrap="square" lIns="1778" tIns="1778" rIns="1778" bIns="1778" rtlCol="0" anchor="ctr">
            <a:normAutofit/>
          </a:bodyPr>
          <a:lstStyle/>
          <a:p>
            <a:pPr indent="0" marL="0">
              <a:buNone/>
            </a:pPr>
            <a:r>
              <a:rPr lang="en-US" sz="1450" dirty="0">
                <a:solidFill>
                  <a:srgbClr val="102A43"/>
                </a:solidFill>
                <a:latin typeface="Consolas" pitchFamily="34" charset="0"/>
                <a:ea typeface="Consolas" pitchFamily="34" charset="-122"/>
                <a:cs typeface="Consolas" pitchFamily="34" charset="-120"/>
              </a:rPr>
              <a:t>weekly = daily.groupby(</a:t>
            </a:r>
            <a:endParaRPr lang="en-US" sz="1450" dirty="0"/>
          </a:p>
          <a:p>
            <a:pPr indent="0" marL="0">
              <a:buNone/>
            </a:pPr>
            <a:r>
              <a:rPr lang="en-US" sz="1450" dirty="0">
                <a:solidFill>
                  <a:srgbClr val="102A43"/>
                </a:solidFill>
                <a:latin typeface="Consolas" pitchFamily="34" charset="0"/>
                <a:ea typeface="Consolas" pitchFamily="34" charset="-122"/>
                <a:cs typeface="Consolas" pitchFamily="34" charset="-120"/>
              </a:rPr>
              <a:t>    sales_id_columns + ["week_start"],</a:t>
            </a:r>
            <a:endParaRPr lang="en-US" sz="1450" dirty="0"/>
          </a:p>
          <a:p>
            <a:pPr indent="0" marL="0">
              <a:buNone/>
            </a:pPr>
            <a:r>
              <a:rPr lang="en-US" sz="1450" dirty="0">
                <a:solidFill>
                  <a:srgbClr val="102A43"/>
                </a:solidFill>
                <a:latin typeface="Consolas" pitchFamily="34" charset="0"/>
                <a:ea typeface="Consolas" pitchFamily="34" charset="-122"/>
                <a:cs typeface="Consolas" pitchFamily="34" charset="-120"/>
              </a:rPr>
              <a:t>    as_index=False, observed=True</a:t>
            </a:r>
            <a:endParaRPr lang="en-US" sz="1450" dirty="0"/>
          </a:p>
          <a:p>
            <a:pPr indent="0" marL="0">
              <a:buNone/>
            </a:pPr>
            <a:r>
              <a:rPr lang="en-US" sz="1450" dirty="0">
                <a:solidFill>
                  <a:srgbClr val="102A43"/>
                </a:solidFill>
                <a:latin typeface="Consolas" pitchFamily="34" charset="0"/>
                <a:ea typeface="Consolas" pitchFamily="34" charset="-122"/>
                <a:cs typeface="Consolas" pitchFamily="34" charset="-120"/>
              </a:rPr>
              <a:t>).agg(</a:t>
            </a:r>
            <a:endParaRPr lang="en-US" sz="1450" dirty="0"/>
          </a:p>
          <a:p>
            <a:pPr indent="0" marL="0">
              <a:buNone/>
            </a:pPr>
            <a:r>
              <a:rPr lang="en-US" sz="1450" dirty="0">
                <a:solidFill>
                  <a:srgbClr val="102A43"/>
                </a:solidFill>
                <a:latin typeface="Consolas" pitchFamily="34" charset="0"/>
                <a:ea typeface="Consolas" pitchFamily="34" charset="-122"/>
                <a:cs typeface="Consolas" pitchFamily="34" charset="-120"/>
              </a:rPr>
              <a:t>    weekly_units_sold=("units_sold", "sum")</a:t>
            </a:r>
            <a:endParaRPr lang="en-US" sz="1450" dirty="0"/>
          </a:p>
          <a:p>
            <a:pPr indent="0" marL="0">
              <a:buNone/>
            </a:pPr>
            <a:r>
              <a:rPr lang="en-US" sz="1450" dirty="0">
                <a:solidFill>
                  <a:srgbClr val="102A43"/>
                </a:solidFill>
                <a:latin typeface="Consolas" pitchFamily="34" charset="0"/>
                <a:ea typeface="Consolas" pitchFamily="34" charset="-122"/>
                <a:cs typeface="Consolas" pitchFamily="34" charset="-120"/>
              </a:rPr>
              <a:t>)</a:t>
            </a:r>
            <a:endParaRPr lang="en-US" sz="1450" dirty="0"/>
          </a:p>
        </p:txBody>
      </p:sp>
      <p:sp>
        <p:nvSpPr>
          <p:cNvPr id="10" name="Text 8"/>
          <p:cNvSpPr/>
          <p:nvPr/>
        </p:nvSpPr>
        <p:spPr>
          <a:xfrm>
            <a:off x="7424928" y="3090672"/>
            <a:ext cx="3383280" cy="292608"/>
          </a:xfrm>
          <a:prstGeom prst="rect">
            <a:avLst/>
          </a:prstGeom>
          <a:noFill/>
          <a:ln/>
        </p:spPr>
        <p:txBody>
          <a:bodyPr wrap="square" lIns="0" tIns="0" rIns="0" bIns="0" rtlCol="0" anchor="ctr"/>
          <a:lstStyle/>
          <a:p>
            <a:pPr indent="0" marL="0">
              <a:buNone/>
            </a:pPr>
            <a:r>
              <a:rPr lang="en-US" sz="1700" b="1" dirty="0">
                <a:solidFill>
                  <a:srgbClr val="D64545"/>
                </a:solidFill>
              </a:rPr>
              <a:t>Реальный недельный результат</a:t>
            </a:r>
            <a:endParaRPr lang="en-US" sz="1700" dirty="0"/>
          </a:p>
        </p:txBody>
      </p:sp>
      <p:sp>
        <p:nvSpPr>
          <p:cNvPr id="11" name="Text 9"/>
          <p:cNvSpPr/>
          <p:nvPr/>
        </p:nvSpPr>
        <p:spPr>
          <a:xfrm>
            <a:off x="7424928" y="3474720"/>
            <a:ext cx="4069080" cy="1682496"/>
          </a:xfrm>
          <a:prstGeom prst="rect">
            <a:avLst/>
          </a:prstGeom>
          <a:solidFill>
            <a:srgbClr val="FDECEC"/>
          </a:solidFill>
          <a:ln w="12700">
            <a:solidFill>
              <a:srgbClr val="E6A2A2"/>
            </a:solidFill>
          </a:ln>
        </p:spPr>
        <p:txBody>
          <a:bodyPr wrap="square" lIns="1905" tIns="1905" rIns="1905" bIns="1905" rtlCol="0" anchor="ctr">
            <a:normAutofit/>
          </a:bodyPr>
          <a:lstStyle/>
          <a:p>
            <a:pPr indent="0" marL="0">
              <a:buNone/>
            </a:pPr>
            <a:r>
              <a:rPr lang="en-US" sz="1550" dirty="0">
                <a:solidFill>
                  <a:srgbClr val="102A43"/>
                </a:solidFill>
                <a:latin typeface="Consolas" pitchFamily="34" charset="0"/>
                <a:ea typeface="Consolas" pitchFamily="34" charset="-122"/>
                <a:cs typeface="Consolas" pitchFamily="34" charset="-120"/>
              </a:rPr>
              <a:t>item_id:      FOODS_1_001</a:t>
            </a:r>
            <a:endParaRPr lang="en-US" sz="1550" dirty="0"/>
          </a:p>
          <a:p>
            <a:pPr indent="0" marL="0">
              <a:buNone/>
            </a:pPr>
            <a:r>
              <a:rPr lang="en-US" sz="1550" dirty="0">
                <a:solidFill>
                  <a:srgbClr val="102A43"/>
                </a:solidFill>
                <a:latin typeface="Consolas" pitchFamily="34" charset="0"/>
                <a:ea typeface="Consolas" pitchFamily="34" charset="-122"/>
                <a:cs typeface="Consolas" pitchFamily="34" charset="-120"/>
              </a:rPr>
              <a:t>store_id:     CA_1</a:t>
            </a:r>
            <a:endParaRPr lang="en-US" sz="1550" dirty="0"/>
          </a:p>
          <a:p>
            <a:pPr indent="0" marL="0">
              <a:buNone/>
            </a:pPr>
            <a:r>
              <a:rPr lang="en-US" sz="1550" dirty="0">
                <a:solidFill>
                  <a:srgbClr val="102A43"/>
                </a:solidFill>
                <a:latin typeface="Consolas" pitchFamily="34" charset="0"/>
                <a:ea typeface="Consolas" pitchFamily="34" charset="-122"/>
                <a:cs typeface="Consolas" pitchFamily="34" charset="-120"/>
              </a:rPr>
              <a:t>week_start:   2011-01-31</a:t>
            </a:r>
            <a:endParaRPr lang="en-US" sz="1550" dirty="0"/>
          </a:p>
          <a:p>
            <a:pPr indent="0" marL="0">
              <a:buNone/>
            </a:pPr>
            <a:r>
              <a:rPr lang="en-US" sz="1550" dirty="0">
                <a:solidFill>
                  <a:srgbClr val="102A43"/>
                </a:solidFill>
                <a:latin typeface="Consolas" pitchFamily="34" charset="0"/>
                <a:ea typeface="Consolas" pitchFamily="34" charset="-122"/>
                <a:cs typeface="Consolas" pitchFamily="34" charset="-120"/>
              </a:rPr>
              <a:t>week_end:     2011-02-06</a:t>
            </a:r>
            <a:endParaRPr lang="en-US" sz="1550" dirty="0"/>
          </a:p>
          <a:p>
            <a:pPr indent="0" marL="0">
              <a:buNone/>
            </a:pPr>
            <a:r>
              <a:rPr lang="en-US" sz="1550" dirty="0">
                <a:solidFill>
                  <a:srgbClr val="102A43"/>
                </a:solidFill>
                <a:latin typeface="Consolas" pitchFamily="34" charset="0"/>
                <a:ea typeface="Consolas" pitchFamily="34" charset="-122"/>
                <a:cs typeface="Consolas" pitchFamily="34" charset="-120"/>
              </a:rPr>
              <a:t>units sold:   9</a:t>
            </a:r>
            <a:endParaRPr lang="en-US" sz="1550" dirty="0"/>
          </a:p>
          <a:p>
            <a:pPr indent="0" marL="0">
              <a:buNone/>
            </a:pPr>
            <a:r>
              <a:rPr lang="en-US" sz="1550" dirty="0">
                <a:solidFill>
                  <a:srgbClr val="102A43"/>
                </a:solidFill>
                <a:latin typeface="Consolas" pitchFamily="34" charset="0"/>
                <a:ea typeface="Consolas" pitchFamily="34" charset="-122"/>
                <a:cs typeface="Consolas" pitchFamily="34" charset="-120"/>
              </a:rPr>
              <a:t>price mean:   2.00</a:t>
            </a:r>
            <a:endParaRPr lang="en-US" sz="1550" dirty="0"/>
          </a:p>
          <a:p>
            <a:pPr indent="0" marL="0">
              <a:buNone/>
            </a:pPr>
            <a:r>
              <a:rPr lang="en-US" sz="1550" dirty="0">
                <a:solidFill>
                  <a:srgbClr val="102A43"/>
                </a:solidFill>
                <a:latin typeface="Consolas" pitchFamily="34" charset="0"/>
                <a:ea typeface="Consolas" pitchFamily="34" charset="-122"/>
                <a:cs typeface="Consolas" pitchFamily="34" charset="-120"/>
              </a:rPr>
              <a:t>event:        SuperBowl</a:t>
            </a:r>
            <a:endParaRPr lang="en-US" sz="1550" dirty="0"/>
          </a:p>
        </p:txBody>
      </p:sp>
      <p:sp>
        <p:nvSpPr>
          <p:cNvPr id="12" name="Text 10"/>
          <p:cNvSpPr/>
          <p:nvPr/>
        </p:nvSpPr>
        <p:spPr>
          <a:xfrm>
            <a:off x="594360" y="6190488"/>
            <a:ext cx="10424160" cy="219456"/>
          </a:xfrm>
          <a:prstGeom prst="rect">
            <a:avLst/>
          </a:prstGeom>
          <a:noFill/>
          <a:ln/>
        </p:spPr>
        <p:txBody>
          <a:bodyPr wrap="square" lIns="0" tIns="0" rIns="0" bIns="0" rtlCol="0" anchor="ctr">
            <a:normAutofit/>
          </a:bodyPr>
          <a:lstStyle/>
          <a:p>
            <a:pPr indent="0" marL="0">
              <a:buNone/>
            </a:pPr>
            <a:r>
              <a:rPr lang="en-US" sz="1000" i="1" dirty="0">
                <a:solidFill>
                  <a:srgbClr val="627D98"/>
                </a:solidFill>
              </a:rPr>
              <a:t>Первые два дня d_1–d_2 исключены как неполная неделя; первая полная неделя начинается 31.01.2011.</a:t>
            </a:r>
            <a:endParaRPr lang="en-US" sz="1000" dirty="0"/>
          </a:p>
        </p:txBody>
      </p:sp>
      <p:sp>
        <p:nvSpPr>
          <p:cNvPr id="25" name="Slide Number Placeholder 0"/>
          <p:cNvSpPr>
            <a:spLocks noGrp="1"/>
          </p:cNvSpPr>
          <p:nvPr>
            <p:ph type="sldNum" sz="quarter" idx="4294967295"/>
          </p:nvPr>
        </p:nvSpPr>
        <p:spPr>
          <a:xfrm>
            <a:off x="11503152" y="6565392"/>
            <a:ext cx="182880" cy="13716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94360" y="530352"/>
            <a:ext cx="2926080" cy="219456"/>
          </a:xfrm>
          <a:prstGeom prst="rect">
            <a:avLst/>
          </a:prstGeom>
          <a:noFill/>
          <a:ln/>
        </p:spPr>
        <p:txBody>
          <a:bodyPr wrap="square" lIns="0" tIns="0" rIns="0" bIns="0" rtlCol="0" anchor="ctr"/>
          <a:lstStyle/>
          <a:p>
            <a:pPr indent="0" marL="0">
              <a:buNone/>
            </a:pPr>
            <a:r>
              <a:rPr lang="en-US" sz="1000" b="1" spc="110" kern="0" dirty="0">
                <a:solidFill>
                  <a:srgbClr val="1976D2"/>
                </a:solidFill>
              </a:rPr>
              <a:t>7 • SPLIT И MODEL-READY ТАБЛИЦЫ</a:t>
            </a:r>
            <a:endParaRPr lang="en-US" sz="1000" dirty="0"/>
          </a:p>
        </p:txBody>
      </p:sp>
      <p:sp>
        <p:nvSpPr>
          <p:cNvPr id="3" name="Text 1"/>
          <p:cNvSpPr/>
          <p:nvPr/>
        </p:nvSpPr>
        <p:spPr>
          <a:xfrm>
            <a:off x="594360" y="804672"/>
            <a:ext cx="10972800" cy="566928"/>
          </a:xfrm>
          <a:prstGeom prst="rect">
            <a:avLst/>
          </a:prstGeom>
          <a:noFill/>
          <a:ln/>
        </p:spPr>
        <p:txBody>
          <a:bodyPr wrap="square" lIns="0" tIns="0" rIns="0" bIns="0" rtlCol="0" anchor="ctr">
            <a:normAutofit/>
          </a:bodyPr>
          <a:lstStyle/>
          <a:p>
            <a:pPr indent="0" marL="0">
              <a:buNone/>
            </a:pPr>
            <a:r>
              <a:rPr lang="en-US" sz="2700" b="1" dirty="0">
                <a:solidFill>
                  <a:srgbClr val="102A43"/>
                </a:solidFill>
              </a:rPr>
              <a:t>Временной порядок защищает модель от будущих данных</a:t>
            </a:r>
            <a:endParaRPr lang="en-US" sz="2700" dirty="0"/>
          </a:p>
        </p:txBody>
      </p:sp>
      <p:sp>
        <p:nvSpPr>
          <p:cNvPr id="4" name="Shape 2"/>
          <p:cNvSpPr/>
          <p:nvPr/>
        </p:nvSpPr>
        <p:spPr>
          <a:xfrm>
            <a:off x="685800" y="1645920"/>
            <a:ext cx="4572000" cy="960120"/>
          </a:xfrm>
          <a:prstGeom prst="roundRect">
            <a:avLst>
              <a:gd name="adj" fmla="val 3810"/>
            </a:avLst>
          </a:prstGeom>
          <a:solidFill>
            <a:srgbClr val="E8F5EE"/>
          </a:solidFill>
          <a:ln w="12700">
            <a:solidFill>
              <a:srgbClr val="9AD2B8"/>
            </a:solidFill>
            <a:prstDash val="solid"/>
          </a:ln>
        </p:spPr>
      </p:sp>
      <p:sp>
        <p:nvSpPr>
          <p:cNvPr id="5" name="Text 3"/>
          <p:cNvSpPr/>
          <p:nvPr/>
        </p:nvSpPr>
        <p:spPr>
          <a:xfrm>
            <a:off x="868680" y="1810512"/>
            <a:ext cx="4206240" cy="530352"/>
          </a:xfrm>
          <a:prstGeom prst="rect">
            <a:avLst/>
          </a:prstGeom>
          <a:noFill/>
          <a:ln/>
        </p:spPr>
        <p:txBody>
          <a:bodyPr wrap="square" lIns="0" tIns="0" rIns="0" bIns="0" rtlCol="0" anchor="ctr"/>
          <a:lstStyle/>
          <a:p>
            <a:pPr algn="ctr" indent="0" marL="0">
              <a:buNone/>
            </a:pPr>
            <a:r>
              <a:rPr lang="en-US" sz="1800" b="1" dirty="0">
                <a:solidFill>
                  <a:srgbClr val="178F65"/>
                </a:solidFill>
              </a:rPr>
              <a:t>TRAIN</a:t>
            </a:r>
            <a:endParaRPr lang="en-US" sz="1800" dirty="0"/>
          </a:p>
          <a:p>
            <a:pPr algn="ctr" indent="0" marL="0">
              <a:buNone/>
            </a:pPr>
            <a:r>
              <a:rPr lang="en-US" sz="1800" b="1" dirty="0">
                <a:solidFill>
                  <a:srgbClr val="178F65"/>
                </a:solidFill>
              </a:rPr>
              <a:t>31.01.2011–27.03.2016</a:t>
            </a:r>
            <a:endParaRPr lang="en-US" sz="1800" dirty="0"/>
          </a:p>
        </p:txBody>
      </p:sp>
      <p:sp>
        <p:nvSpPr>
          <p:cNvPr id="6" name="Shape 4"/>
          <p:cNvSpPr/>
          <p:nvPr/>
        </p:nvSpPr>
        <p:spPr>
          <a:xfrm>
            <a:off x="5394960" y="1645920"/>
            <a:ext cx="2240280" cy="960120"/>
          </a:xfrm>
          <a:prstGeom prst="roundRect">
            <a:avLst>
              <a:gd name="adj" fmla="val 3810"/>
            </a:avLst>
          </a:prstGeom>
          <a:solidFill>
            <a:srgbClr val="FFF7E6"/>
          </a:solidFill>
          <a:ln w="12700">
            <a:solidFill>
              <a:srgbClr val="F7C873"/>
            </a:solidFill>
            <a:prstDash val="solid"/>
          </a:ln>
        </p:spPr>
      </p:sp>
      <p:sp>
        <p:nvSpPr>
          <p:cNvPr id="7" name="Text 5"/>
          <p:cNvSpPr/>
          <p:nvPr/>
        </p:nvSpPr>
        <p:spPr>
          <a:xfrm>
            <a:off x="5577840" y="1810512"/>
            <a:ext cx="1874520" cy="530352"/>
          </a:xfrm>
          <a:prstGeom prst="rect">
            <a:avLst/>
          </a:prstGeom>
          <a:noFill/>
          <a:ln/>
        </p:spPr>
        <p:txBody>
          <a:bodyPr wrap="square" lIns="0" tIns="0" rIns="0" bIns="0" rtlCol="0" anchor="ctr"/>
          <a:lstStyle/>
          <a:p>
            <a:pPr algn="ctr" indent="0" marL="0">
              <a:buNone/>
            </a:pPr>
            <a:r>
              <a:rPr lang="en-US" sz="1650" b="1" dirty="0">
                <a:solidFill>
                  <a:srgbClr val="B66A00"/>
                </a:solidFill>
              </a:rPr>
              <a:t>VALIDATION</a:t>
            </a:r>
            <a:endParaRPr lang="en-US" sz="1650" dirty="0"/>
          </a:p>
          <a:p>
            <a:pPr algn="ctr" indent="0" marL="0">
              <a:buNone/>
            </a:pPr>
            <a:r>
              <a:rPr lang="en-US" sz="1650" b="1" dirty="0">
                <a:solidFill>
                  <a:srgbClr val="B66A00"/>
                </a:solidFill>
              </a:rPr>
              <a:t>28.03–24.04</a:t>
            </a:r>
            <a:endParaRPr lang="en-US" sz="1650" dirty="0"/>
          </a:p>
        </p:txBody>
      </p:sp>
      <p:sp>
        <p:nvSpPr>
          <p:cNvPr id="8" name="Shape 6"/>
          <p:cNvSpPr/>
          <p:nvPr/>
        </p:nvSpPr>
        <p:spPr>
          <a:xfrm>
            <a:off x="7772400" y="1645920"/>
            <a:ext cx="2148840" cy="960120"/>
          </a:xfrm>
          <a:prstGeom prst="roundRect">
            <a:avLst>
              <a:gd name="adj" fmla="val 3810"/>
            </a:avLst>
          </a:prstGeom>
          <a:solidFill>
            <a:srgbClr val="FDECEC"/>
          </a:solidFill>
          <a:ln w="12700">
            <a:solidFill>
              <a:srgbClr val="E6A2A2"/>
            </a:solidFill>
            <a:prstDash val="solid"/>
          </a:ln>
        </p:spPr>
      </p:sp>
      <p:sp>
        <p:nvSpPr>
          <p:cNvPr id="9" name="Text 7"/>
          <p:cNvSpPr/>
          <p:nvPr/>
        </p:nvSpPr>
        <p:spPr>
          <a:xfrm>
            <a:off x="7955280" y="1810512"/>
            <a:ext cx="1783080" cy="530352"/>
          </a:xfrm>
          <a:prstGeom prst="rect">
            <a:avLst/>
          </a:prstGeom>
          <a:noFill/>
          <a:ln/>
        </p:spPr>
        <p:txBody>
          <a:bodyPr wrap="square" lIns="0" tIns="0" rIns="0" bIns="0" rtlCol="0" anchor="ctr"/>
          <a:lstStyle/>
          <a:p>
            <a:pPr algn="ctr" indent="0" marL="0">
              <a:buNone/>
            </a:pPr>
            <a:r>
              <a:rPr lang="en-US" sz="1650" b="1" dirty="0">
                <a:solidFill>
                  <a:srgbClr val="D64545"/>
                </a:solidFill>
              </a:rPr>
              <a:t>TEST</a:t>
            </a:r>
            <a:endParaRPr lang="en-US" sz="1650" dirty="0"/>
          </a:p>
          <a:p>
            <a:pPr algn="ctr" indent="0" marL="0">
              <a:buNone/>
            </a:pPr>
            <a:r>
              <a:rPr lang="en-US" sz="1650" b="1" dirty="0">
                <a:solidFill>
                  <a:srgbClr val="D64545"/>
                </a:solidFill>
              </a:rPr>
              <a:t>25.04–22.05</a:t>
            </a:r>
            <a:endParaRPr lang="en-US" sz="1650" dirty="0"/>
          </a:p>
        </p:txBody>
      </p:sp>
      <p:sp>
        <p:nvSpPr>
          <p:cNvPr id="10" name="Shape 8"/>
          <p:cNvSpPr/>
          <p:nvPr/>
        </p:nvSpPr>
        <p:spPr>
          <a:xfrm>
            <a:off x="10058400" y="1645920"/>
            <a:ext cx="1463040" cy="960120"/>
          </a:xfrm>
          <a:prstGeom prst="roundRect">
            <a:avLst>
              <a:gd name="adj" fmla="val 3810"/>
            </a:avLst>
          </a:prstGeom>
          <a:solidFill>
            <a:srgbClr val="EAF2FB"/>
          </a:solidFill>
          <a:ln w="12700">
            <a:solidFill>
              <a:srgbClr val="B9D7F2"/>
            </a:solidFill>
            <a:prstDash val="solid"/>
          </a:ln>
        </p:spPr>
      </p:sp>
      <p:sp>
        <p:nvSpPr>
          <p:cNvPr id="11" name="Text 9"/>
          <p:cNvSpPr/>
          <p:nvPr/>
        </p:nvSpPr>
        <p:spPr>
          <a:xfrm>
            <a:off x="10168128" y="1810512"/>
            <a:ext cx="1243584" cy="530352"/>
          </a:xfrm>
          <a:prstGeom prst="rect">
            <a:avLst/>
          </a:prstGeom>
          <a:noFill/>
          <a:ln/>
        </p:spPr>
        <p:txBody>
          <a:bodyPr wrap="square" lIns="0" tIns="0" rIns="0" bIns="0" rtlCol="0" anchor="ctr">
            <a:normAutofit/>
          </a:bodyPr>
          <a:lstStyle/>
          <a:p>
            <a:pPr algn="ctr" indent="0" marL="0">
              <a:buNone/>
            </a:pPr>
            <a:r>
              <a:rPr lang="en-US" sz="1500" b="1" dirty="0">
                <a:solidFill>
                  <a:srgbClr val="1976D2"/>
                </a:solidFill>
              </a:rPr>
              <a:t>DEMO</a:t>
            </a:r>
            <a:endParaRPr lang="en-US" sz="1500" dirty="0"/>
          </a:p>
          <a:p>
            <a:pPr algn="ctr" indent="0" marL="0">
              <a:buNone/>
            </a:pPr>
            <a:r>
              <a:rPr lang="en-US" sz="1500" b="1" dirty="0">
                <a:solidFill>
                  <a:srgbClr val="1976D2"/>
                </a:solidFill>
              </a:rPr>
              <a:t>23–29.05</a:t>
            </a:r>
            <a:endParaRPr lang="en-US" sz="1500" dirty="0"/>
          </a:p>
        </p:txBody>
      </p:sp>
      <p:sp>
        <p:nvSpPr>
          <p:cNvPr id="12" name="Shape 10"/>
          <p:cNvSpPr/>
          <p:nvPr/>
        </p:nvSpPr>
        <p:spPr>
          <a:xfrm>
            <a:off x="5266944" y="2121408"/>
            <a:ext cx="109728" cy="0"/>
          </a:xfrm>
          <a:prstGeom prst="line">
            <a:avLst/>
          </a:prstGeom>
          <a:noFill/>
          <a:ln w="25400">
            <a:solidFill>
              <a:srgbClr val="627D98"/>
            </a:solidFill>
            <a:prstDash val="solid"/>
            <a:headEnd type="none"/>
            <a:tailEnd type="triangle"/>
          </a:ln>
        </p:spPr>
      </p:sp>
      <p:sp>
        <p:nvSpPr>
          <p:cNvPr id="13" name="Shape 11"/>
          <p:cNvSpPr/>
          <p:nvPr/>
        </p:nvSpPr>
        <p:spPr>
          <a:xfrm>
            <a:off x="7644384" y="2121408"/>
            <a:ext cx="109728" cy="0"/>
          </a:xfrm>
          <a:prstGeom prst="line">
            <a:avLst/>
          </a:prstGeom>
          <a:noFill/>
          <a:ln w="25400">
            <a:solidFill>
              <a:srgbClr val="627D98"/>
            </a:solidFill>
            <a:prstDash val="solid"/>
            <a:headEnd type="none"/>
            <a:tailEnd type="triangle"/>
          </a:ln>
        </p:spPr>
      </p:sp>
      <p:sp>
        <p:nvSpPr>
          <p:cNvPr id="14" name="Shape 12"/>
          <p:cNvSpPr/>
          <p:nvPr/>
        </p:nvSpPr>
        <p:spPr>
          <a:xfrm>
            <a:off x="9930384" y="2121408"/>
            <a:ext cx="109728" cy="0"/>
          </a:xfrm>
          <a:prstGeom prst="line">
            <a:avLst/>
          </a:prstGeom>
          <a:noFill/>
          <a:ln w="25400">
            <a:solidFill>
              <a:srgbClr val="627D98"/>
            </a:solidFill>
            <a:prstDash val="solid"/>
            <a:headEnd type="none"/>
            <a:tailEnd type="triangle"/>
          </a:ln>
        </p:spPr>
      </p:sp>
      <p:sp>
        <p:nvSpPr>
          <p:cNvPr id="15" name="Text 13"/>
          <p:cNvSpPr/>
          <p:nvPr/>
        </p:nvSpPr>
        <p:spPr>
          <a:xfrm>
            <a:off x="731520" y="3127248"/>
            <a:ext cx="4206240" cy="310896"/>
          </a:xfrm>
          <a:prstGeom prst="rect">
            <a:avLst/>
          </a:prstGeom>
          <a:noFill/>
          <a:ln/>
        </p:spPr>
        <p:txBody>
          <a:bodyPr wrap="square" lIns="0" tIns="0" rIns="0" bIns="0" rtlCol="0" anchor="ctr"/>
          <a:lstStyle/>
          <a:p>
            <a:pPr indent="0" marL="0">
              <a:buNone/>
            </a:pPr>
            <a:r>
              <a:rPr lang="en-US" sz="1800" b="1" dirty="0">
                <a:solidFill>
                  <a:srgbClr val="102A43"/>
                </a:solidFill>
              </a:rPr>
              <a:t>После создания lag и rolling признаков</a:t>
            </a:r>
            <a:endParaRPr lang="en-US" sz="1800" dirty="0"/>
          </a:p>
        </p:txBody>
      </p:sp>
      <p:sp>
        <p:nvSpPr>
          <p:cNvPr id="16" name="Text 14"/>
          <p:cNvSpPr/>
          <p:nvPr/>
        </p:nvSpPr>
        <p:spPr>
          <a:xfrm>
            <a:off x="731520" y="3566160"/>
            <a:ext cx="5257800" cy="1371600"/>
          </a:xfrm>
          <a:prstGeom prst="rect">
            <a:avLst/>
          </a:prstGeom>
          <a:solidFill>
            <a:srgbClr val="EEF4FA"/>
          </a:solidFill>
          <a:ln w="12700">
            <a:solidFill>
              <a:srgbClr val="C9D9E8"/>
            </a:solidFill>
          </a:ln>
        </p:spPr>
        <p:txBody>
          <a:bodyPr wrap="square" lIns="2286" tIns="2286" rIns="2286" bIns="2286" rtlCol="0" anchor="ctr">
            <a:normAutofit/>
          </a:bodyPr>
          <a:lstStyle/>
          <a:p>
            <a:pPr indent="0" marL="0">
              <a:buNone/>
            </a:pPr>
            <a:r>
              <a:rPr lang="en-US" sz="1600" dirty="0">
                <a:solidFill>
                  <a:srgbClr val="102A43"/>
                </a:solidFill>
                <a:latin typeface="Consolas" pitchFamily="34" charset="0"/>
                <a:ea typeface="Consolas" pitchFamily="34" charset="-122"/>
                <a:cs typeface="Consolas" pitchFamily="34" charset="-120"/>
              </a:rPr>
              <a:t>data/processed/m5_foods_features/</a:t>
            </a:r>
            <a:endParaRPr lang="en-US" sz="1600" dirty="0"/>
          </a:p>
          <a:p>
            <a:pPr indent="0" marL="0">
              <a:buNone/>
            </a:pPr>
            <a:r>
              <a:rPr lang="en-US" sz="1600" dirty="0">
                <a:solidFill>
                  <a:srgbClr val="102A43"/>
                </a:solidFill>
                <a:latin typeface="Consolas" pitchFamily="34" charset="0"/>
                <a:ea typeface="Consolas" pitchFamily="34" charset="-122"/>
                <a:cs typeface="Consolas" pitchFamily="34" charset="-120"/>
              </a:rPr>
              <a:t>├── train.parquet       2 888 944 строк</a:t>
            </a:r>
            <a:endParaRPr lang="en-US" sz="1600" dirty="0"/>
          </a:p>
          <a:p>
            <a:pPr indent="0" marL="0">
              <a:buNone/>
            </a:pPr>
            <a:r>
              <a:rPr lang="en-US" sz="1600" dirty="0">
                <a:solidFill>
                  <a:srgbClr val="102A43"/>
                </a:solidFill>
                <a:latin typeface="Consolas" pitchFamily="34" charset="0"/>
                <a:ea typeface="Consolas" pitchFamily="34" charset="-122"/>
                <a:cs typeface="Consolas" pitchFamily="34" charset="-120"/>
              </a:rPr>
              <a:t>├── validation.parquet     57 478 строк</a:t>
            </a:r>
            <a:endParaRPr lang="en-US" sz="1600" dirty="0"/>
          </a:p>
          <a:p>
            <a:pPr indent="0" marL="0">
              <a:buNone/>
            </a:pPr>
            <a:r>
              <a:rPr lang="en-US" sz="1600" dirty="0">
                <a:solidFill>
                  <a:srgbClr val="102A43"/>
                </a:solidFill>
                <a:latin typeface="Consolas" pitchFamily="34" charset="0"/>
                <a:ea typeface="Consolas" pitchFamily="34" charset="-122"/>
                <a:cs typeface="Consolas" pitchFamily="34" charset="-120"/>
              </a:rPr>
              <a:t>└── test.parquet           57 480 строк</a:t>
            </a:r>
            <a:endParaRPr lang="en-US" sz="1600" dirty="0"/>
          </a:p>
        </p:txBody>
      </p:sp>
      <p:sp>
        <p:nvSpPr>
          <p:cNvPr id="17" name="Text 15"/>
          <p:cNvSpPr/>
          <p:nvPr/>
        </p:nvSpPr>
        <p:spPr>
          <a:xfrm>
            <a:off x="6400800" y="3127248"/>
            <a:ext cx="3749040" cy="310896"/>
          </a:xfrm>
          <a:prstGeom prst="rect">
            <a:avLst/>
          </a:prstGeom>
          <a:noFill/>
          <a:ln/>
        </p:spPr>
        <p:txBody>
          <a:bodyPr wrap="square" lIns="0" tIns="0" rIns="0" bIns="0" rtlCol="0" anchor="ctr"/>
          <a:lstStyle/>
          <a:p>
            <a:pPr indent="0" marL="0">
              <a:buNone/>
            </a:pPr>
            <a:r>
              <a:rPr lang="en-US" sz="1800" b="1" dirty="0">
                <a:solidFill>
                  <a:srgbClr val="178F65"/>
                </a:solidFill>
              </a:rPr>
              <a:t>Что получает Random Forest</a:t>
            </a:r>
            <a:endParaRPr lang="en-US" sz="1800" dirty="0"/>
          </a:p>
        </p:txBody>
      </p:sp>
      <p:sp>
        <p:nvSpPr>
          <p:cNvPr id="18" name="Text 16"/>
          <p:cNvSpPr/>
          <p:nvPr/>
        </p:nvSpPr>
        <p:spPr>
          <a:xfrm>
            <a:off x="6400800" y="3566160"/>
            <a:ext cx="4846320" cy="1572768"/>
          </a:xfrm>
          <a:prstGeom prst="rect">
            <a:avLst/>
          </a:prstGeom>
          <a:solidFill>
            <a:srgbClr val="EDF8F3"/>
          </a:solidFill>
          <a:ln w="12700">
            <a:solidFill>
              <a:srgbClr val="B8DDCA"/>
            </a:solidFill>
          </a:ln>
        </p:spPr>
        <p:txBody>
          <a:bodyPr wrap="square" lIns="2286" tIns="2286" rIns="2286" bIns="2286" rtlCol="0" anchor="ctr">
            <a:normAutofit/>
          </a:bodyPr>
          <a:lstStyle/>
          <a:p>
            <a:pPr indent="0" marL="0">
              <a:buNone/>
            </a:pPr>
            <a:r>
              <a:rPr lang="en-US" sz="1550" dirty="0">
                <a:solidFill>
                  <a:srgbClr val="243B53"/>
                </a:solidFill>
              </a:rPr>
              <a:t>20 числовых признаков:</a:t>
            </a:r>
            <a:endParaRPr lang="en-US" sz="1550" dirty="0"/>
          </a:p>
          <a:p>
            <a:pPr indent="0" marL="0">
              <a:buNone/>
            </a:pPr>
            <a:r>
              <a:rPr lang="en-US" sz="1550" dirty="0">
                <a:solidFill>
                  <a:srgbClr val="243B53"/>
                </a:solidFill>
              </a:rPr>
              <a:t>• прошлые продажи и rolling statistics;</a:t>
            </a:r>
            <a:endParaRPr lang="en-US" sz="1550" dirty="0"/>
          </a:p>
          <a:p>
            <a:pPr indent="0" marL="0">
              <a:buNone/>
            </a:pPr>
            <a:r>
              <a:rPr lang="en-US" sz="1550" dirty="0">
                <a:solidFill>
                  <a:srgbClr val="243B53"/>
                </a:solidFill>
              </a:rPr>
              <a:t>• цена и изменение цены;</a:t>
            </a:r>
            <a:endParaRPr lang="en-US" sz="1550" dirty="0"/>
          </a:p>
          <a:p>
            <a:pPr indent="0" marL="0">
              <a:buNone/>
            </a:pPr>
            <a:r>
              <a:rPr lang="en-US" sz="1550" dirty="0">
                <a:solidFill>
                  <a:srgbClr val="243B53"/>
                </a:solidFill>
              </a:rPr>
              <a:t>• год, месяц, неделя, квартал;</a:t>
            </a:r>
            <a:endParaRPr lang="en-US" sz="1550" dirty="0"/>
          </a:p>
          <a:p>
            <a:pPr indent="0" marL="0">
              <a:buNone/>
            </a:pPr>
            <a:r>
              <a:rPr lang="en-US" sz="1550" dirty="0">
                <a:solidFill>
                  <a:srgbClr val="243B53"/>
                </a:solidFill>
              </a:rPr>
              <a:t>• события и SNAP.</a:t>
            </a:r>
            <a:endParaRPr lang="en-US" sz="1550" dirty="0"/>
          </a:p>
          <a:p>
            <a:pPr indent="0" marL="0">
              <a:buNone/>
            </a:pPr>
            <a:r>
              <a:rPr lang="en-US" sz="1550" dirty="0">
                <a:solidFill>
                  <a:srgbClr val="243B53"/>
                </a:solidFill>
              </a:rPr>
              <a:t>Target: weekly_units_sold</a:t>
            </a:r>
            <a:endParaRPr lang="en-US" sz="1550" dirty="0"/>
          </a:p>
        </p:txBody>
      </p:sp>
      <p:sp>
        <p:nvSpPr>
          <p:cNvPr id="19" name="Text 17"/>
          <p:cNvSpPr/>
          <p:nvPr/>
        </p:nvSpPr>
        <p:spPr>
          <a:xfrm>
            <a:off x="594360" y="6190488"/>
            <a:ext cx="10424160" cy="219456"/>
          </a:xfrm>
          <a:prstGeom prst="rect">
            <a:avLst/>
          </a:prstGeom>
          <a:noFill/>
          <a:ln/>
        </p:spPr>
        <p:txBody>
          <a:bodyPr wrap="square" lIns="0" tIns="0" rIns="0" bIns="0" rtlCol="0" anchor="ctr">
            <a:normAutofit/>
          </a:bodyPr>
          <a:lstStyle/>
          <a:p>
            <a:pPr indent="0" marL="0">
              <a:buNone/>
            </a:pPr>
            <a:r>
              <a:rPr lang="en-US" sz="1000" i="1" dirty="0">
                <a:solidFill>
                  <a:srgbClr val="627D98"/>
                </a:solidFill>
              </a:rPr>
              <a:t>Test не выбирал модель: Random Forest был зафиксирован по validation до открытия test target.</a:t>
            </a:r>
            <a:endParaRPr lang="en-US" sz="1000" dirty="0"/>
          </a:p>
        </p:txBody>
      </p:sp>
      <p:sp>
        <p:nvSpPr>
          <p:cNvPr id="25" name="Slide Number Placeholder 0"/>
          <p:cNvSpPr>
            <a:spLocks noGrp="1"/>
          </p:cNvSpPr>
          <p:nvPr>
            <p:ph type="sldNum" sz="quarter" idx="4294967295"/>
          </p:nvPr>
        </p:nvSpPr>
        <p:spPr>
          <a:xfrm>
            <a:off x="11503152" y="6565392"/>
            <a:ext cx="182880" cy="13716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94360" y="530352"/>
            <a:ext cx="2926080" cy="219456"/>
          </a:xfrm>
          <a:prstGeom prst="rect">
            <a:avLst/>
          </a:prstGeom>
          <a:noFill/>
          <a:ln/>
        </p:spPr>
        <p:txBody>
          <a:bodyPr wrap="square" lIns="0" tIns="0" rIns="0" bIns="0" rtlCol="0" anchor="ctr"/>
          <a:lstStyle/>
          <a:p>
            <a:pPr indent="0" marL="0">
              <a:buNone/>
            </a:pPr>
            <a:r>
              <a:rPr lang="en-US" sz="1000" b="1" spc="110" kern="0" dirty="0">
                <a:solidFill>
                  <a:srgbClr val="1976D2"/>
                </a:solidFill>
              </a:rPr>
              <a:t>3 • ПОДГОТОВКА ДАННЫХ</a:t>
            </a:r>
            <a:endParaRPr lang="en-US" sz="1000" dirty="0"/>
          </a:p>
        </p:txBody>
      </p:sp>
      <p:sp>
        <p:nvSpPr>
          <p:cNvPr id="3" name="Text 1"/>
          <p:cNvSpPr/>
          <p:nvPr/>
        </p:nvSpPr>
        <p:spPr>
          <a:xfrm>
            <a:off x="594360" y="804672"/>
            <a:ext cx="10972800" cy="566928"/>
          </a:xfrm>
          <a:prstGeom prst="rect">
            <a:avLst/>
          </a:prstGeom>
          <a:noFill/>
          <a:ln/>
        </p:spPr>
        <p:txBody>
          <a:bodyPr wrap="square" lIns="0" tIns="0" rIns="0" bIns="0" rtlCol="0" anchor="ctr">
            <a:normAutofit/>
          </a:bodyPr>
          <a:lstStyle/>
          <a:p>
            <a:pPr indent="0" marL="0">
              <a:buNone/>
            </a:pPr>
            <a:r>
              <a:rPr lang="en-US" sz="2700" b="1" dirty="0">
                <a:solidFill>
                  <a:srgbClr val="102A43"/>
                </a:solidFill>
              </a:rPr>
              <a:t>Аудит и очистка — цепочка решений</a:t>
            </a:r>
            <a:endParaRPr lang="en-US" sz="2700" dirty="0"/>
          </a:p>
        </p:txBody>
      </p:sp>
      <p:sp>
        <p:nvSpPr>
          <p:cNvPr id="4" name="Shape 2"/>
          <p:cNvSpPr/>
          <p:nvPr/>
        </p:nvSpPr>
        <p:spPr>
          <a:xfrm>
            <a:off x="640080" y="1600200"/>
            <a:ext cx="1874520" cy="2240280"/>
          </a:xfrm>
          <a:prstGeom prst="roundRect">
            <a:avLst>
              <a:gd name="adj" fmla="val 3902"/>
            </a:avLst>
          </a:prstGeom>
          <a:solidFill>
            <a:srgbClr val="FFFFFF"/>
          </a:solidFill>
          <a:ln w="15240">
            <a:solidFill>
              <a:srgbClr val="D9E2EC"/>
            </a:solidFill>
            <a:prstDash val="solid"/>
          </a:ln>
          <a:effectLst>
            <a:outerShdw sx="100000" sy="100000" kx="0" ky="0" algn="bl" rotWithShape="0" blurRad="19050" dist="50800" dir="2700000">
              <a:srgbClr val="B8C6D1">
                <a:alpha val="16000"/>
              </a:srgbClr>
            </a:outerShdw>
          </a:effectLst>
        </p:spPr>
      </p:sp>
      <p:sp>
        <p:nvSpPr>
          <p:cNvPr id="5" name="Shape 3"/>
          <p:cNvSpPr/>
          <p:nvPr/>
        </p:nvSpPr>
        <p:spPr>
          <a:xfrm>
            <a:off x="640080" y="1600200"/>
            <a:ext cx="73152" cy="2240280"/>
          </a:xfrm>
          <a:prstGeom prst="rect">
            <a:avLst/>
          </a:prstGeom>
          <a:solidFill>
            <a:srgbClr val="1976D2"/>
          </a:solidFill>
          <a:ln w="12700">
            <a:solidFill>
              <a:srgbClr val="1976D2"/>
            </a:solidFill>
            <a:prstDash val="solid"/>
          </a:ln>
        </p:spPr>
      </p:sp>
      <p:sp>
        <p:nvSpPr>
          <p:cNvPr id="6" name="Text 4"/>
          <p:cNvSpPr/>
          <p:nvPr/>
        </p:nvSpPr>
        <p:spPr>
          <a:xfrm>
            <a:off x="896112" y="1783080"/>
            <a:ext cx="1463040" cy="274320"/>
          </a:xfrm>
          <a:prstGeom prst="rect">
            <a:avLst/>
          </a:prstGeom>
          <a:noFill/>
          <a:ln/>
        </p:spPr>
        <p:txBody>
          <a:bodyPr wrap="square" lIns="0" tIns="0" rIns="0" bIns="0" rtlCol="0" anchor="ctr">
            <a:normAutofit/>
          </a:bodyPr>
          <a:lstStyle/>
          <a:p>
            <a:pPr indent="0" marL="0">
              <a:buNone/>
            </a:pPr>
            <a:r>
              <a:rPr lang="en-US" sz="1500" b="1" dirty="0">
                <a:solidFill>
                  <a:srgbClr val="102A43"/>
                </a:solidFill>
              </a:rPr>
              <a:t>Проверить</a:t>
            </a:r>
            <a:endParaRPr lang="en-US" sz="1500" dirty="0"/>
          </a:p>
        </p:txBody>
      </p:sp>
      <p:sp>
        <p:nvSpPr>
          <p:cNvPr id="7" name="Text 5"/>
          <p:cNvSpPr/>
          <p:nvPr/>
        </p:nvSpPr>
        <p:spPr>
          <a:xfrm>
            <a:off x="896112" y="2167128"/>
            <a:ext cx="1435608" cy="1527048"/>
          </a:xfrm>
          <a:prstGeom prst="rect">
            <a:avLst/>
          </a:prstGeom>
          <a:noFill/>
          <a:ln/>
        </p:spPr>
        <p:txBody>
          <a:bodyPr wrap="square" lIns="254" tIns="254" rIns="254" bIns="254" rtlCol="0" anchor="ctr">
            <a:normAutofit/>
          </a:bodyPr>
          <a:lstStyle/>
          <a:p>
            <a:pPr indent="0" marL="0">
              <a:buNone/>
            </a:pPr>
            <a:r>
              <a:rPr lang="en-US" sz="1150" dirty="0">
                <a:solidFill>
                  <a:srgbClr val="243B53"/>
                </a:solidFill>
              </a:rPr>
              <a:t>Схемы, пропуски, дубликаты, типы, отрицательные значения</a:t>
            </a:r>
            <a:endParaRPr lang="en-US" sz="1150" dirty="0"/>
          </a:p>
        </p:txBody>
      </p:sp>
      <p:sp>
        <p:nvSpPr>
          <p:cNvPr id="8" name="Shape 6"/>
          <p:cNvSpPr/>
          <p:nvPr/>
        </p:nvSpPr>
        <p:spPr>
          <a:xfrm>
            <a:off x="2523744" y="2651760"/>
            <a:ext cx="329184" cy="0"/>
          </a:xfrm>
          <a:prstGeom prst="line">
            <a:avLst/>
          </a:prstGeom>
          <a:noFill/>
          <a:ln w="25400">
            <a:solidFill>
              <a:srgbClr val="627D98"/>
            </a:solidFill>
            <a:prstDash val="solid"/>
            <a:headEnd type="none"/>
            <a:tailEnd type="triangle"/>
          </a:ln>
        </p:spPr>
      </p:sp>
      <p:sp>
        <p:nvSpPr>
          <p:cNvPr id="9" name="Shape 7"/>
          <p:cNvSpPr/>
          <p:nvPr/>
        </p:nvSpPr>
        <p:spPr>
          <a:xfrm>
            <a:off x="2898648" y="1600200"/>
            <a:ext cx="1874520" cy="2240280"/>
          </a:xfrm>
          <a:prstGeom prst="roundRect">
            <a:avLst>
              <a:gd name="adj" fmla="val 3902"/>
            </a:avLst>
          </a:prstGeom>
          <a:solidFill>
            <a:srgbClr val="FFFFFF"/>
          </a:solidFill>
          <a:ln w="15240">
            <a:solidFill>
              <a:srgbClr val="D9E2EC"/>
            </a:solidFill>
            <a:prstDash val="solid"/>
          </a:ln>
          <a:effectLst>
            <a:outerShdw sx="100000" sy="100000" kx="0" ky="0" algn="bl" rotWithShape="0" blurRad="19050" dist="50800" dir="2700000">
              <a:srgbClr val="B8C6D1">
                <a:alpha val="16000"/>
              </a:srgbClr>
            </a:outerShdw>
          </a:effectLst>
        </p:spPr>
      </p:sp>
      <p:sp>
        <p:nvSpPr>
          <p:cNvPr id="10" name="Shape 8"/>
          <p:cNvSpPr/>
          <p:nvPr/>
        </p:nvSpPr>
        <p:spPr>
          <a:xfrm>
            <a:off x="2898648" y="1600200"/>
            <a:ext cx="73152" cy="2240280"/>
          </a:xfrm>
          <a:prstGeom prst="rect">
            <a:avLst/>
          </a:prstGeom>
          <a:solidFill>
            <a:srgbClr val="2CB1BC"/>
          </a:solidFill>
          <a:ln w="12700">
            <a:solidFill>
              <a:srgbClr val="2CB1BC"/>
            </a:solidFill>
            <a:prstDash val="solid"/>
          </a:ln>
        </p:spPr>
      </p:sp>
      <p:sp>
        <p:nvSpPr>
          <p:cNvPr id="11" name="Text 9"/>
          <p:cNvSpPr/>
          <p:nvPr/>
        </p:nvSpPr>
        <p:spPr>
          <a:xfrm>
            <a:off x="3154680" y="1783080"/>
            <a:ext cx="1463040" cy="274320"/>
          </a:xfrm>
          <a:prstGeom prst="rect">
            <a:avLst/>
          </a:prstGeom>
          <a:noFill/>
          <a:ln/>
        </p:spPr>
        <p:txBody>
          <a:bodyPr wrap="square" lIns="0" tIns="0" rIns="0" bIns="0" rtlCol="0" anchor="ctr">
            <a:normAutofit/>
          </a:bodyPr>
          <a:lstStyle/>
          <a:p>
            <a:pPr indent="0" marL="0">
              <a:buNone/>
            </a:pPr>
            <a:r>
              <a:rPr lang="en-US" sz="1500" b="1" dirty="0">
                <a:solidFill>
                  <a:srgbClr val="102A43"/>
                </a:solidFill>
              </a:rPr>
              <a:t>Собрать неделю</a:t>
            </a:r>
            <a:endParaRPr lang="en-US" sz="1500" dirty="0"/>
          </a:p>
        </p:txBody>
      </p:sp>
      <p:sp>
        <p:nvSpPr>
          <p:cNvPr id="12" name="Text 10"/>
          <p:cNvSpPr/>
          <p:nvPr/>
        </p:nvSpPr>
        <p:spPr>
          <a:xfrm>
            <a:off x="3154680" y="2167128"/>
            <a:ext cx="1435608" cy="1527048"/>
          </a:xfrm>
          <a:prstGeom prst="rect">
            <a:avLst/>
          </a:prstGeom>
          <a:noFill/>
          <a:ln/>
        </p:spPr>
        <p:txBody>
          <a:bodyPr wrap="square" lIns="254" tIns="254" rIns="254" bIns="254" rtlCol="0" anchor="ctr">
            <a:normAutofit/>
          </a:bodyPr>
          <a:lstStyle/>
          <a:p>
            <a:pPr indent="0" marL="0">
              <a:buNone/>
            </a:pPr>
            <a:r>
              <a:rPr lang="en-US" sz="1150" dirty="0">
                <a:solidFill>
                  <a:srgbClr val="243B53"/>
                </a:solidFill>
              </a:rPr>
              <a:t>Сумма 7 дней, цена, события и SNAP</a:t>
            </a:r>
            <a:endParaRPr lang="en-US" sz="1150" dirty="0"/>
          </a:p>
        </p:txBody>
      </p:sp>
      <p:sp>
        <p:nvSpPr>
          <p:cNvPr id="13" name="Shape 11"/>
          <p:cNvSpPr/>
          <p:nvPr/>
        </p:nvSpPr>
        <p:spPr>
          <a:xfrm>
            <a:off x="4782312" y="2651760"/>
            <a:ext cx="329184" cy="0"/>
          </a:xfrm>
          <a:prstGeom prst="line">
            <a:avLst/>
          </a:prstGeom>
          <a:noFill/>
          <a:ln w="25400">
            <a:solidFill>
              <a:srgbClr val="627D98"/>
            </a:solidFill>
            <a:prstDash val="solid"/>
            <a:headEnd type="none"/>
            <a:tailEnd type="triangle"/>
          </a:ln>
        </p:spPr>
      </p:sp>
      <p:sp>
        <p:nvSpPr>
          <p:cNvPr id="14" name="Shape 12"/>
          <p:cNvSpPr/>
          <p:nvPr/>
        </p:nvSpPr>
        <p:spPr>
          <a:xfrm>
            <a:off x="5157216" y="1600200"/>
            <a:ext cx="1874520" cy="2240280"/>
          </a:xfrm>
          <a:prstGeom prst="roundRect">
            <a:avLst>
              <a:gd name="adj" fmla="val 3902"/>
            </a:avLst>
          </a:prstGeom>
          <a:solidFill>
            <a:srgbClr val="FFFFFF"/>
          </a:solidFill>
          <a:ln w="15240">
            <a:solidFill>
              <a:srgbClr val="D9E2EC"/>
            </a:solidFill>
            <a:prstDash val="solid"/>
          </a:ln>
          <a:effectLst>
            <a:outerShdw sx="100000" sy="100000" kx="0" ky="0" algn="bl" rotWithShape="0" blurRad="19050" dist="50800" dir="2700000">
              <a:srgbClr val="B8C6D1">
                <a:alpha val="16000"/>
              </a:srgbClr>
            </a:outerShdw>
          </a:effectLst>
        </p:spPr>
      </p:sp>
      <p:sp>
        <p:nvSpPr>
          <p:cNvPr id="15" name="Shape 13"/>
          <p:cNvSpPr/>
          <p:nvPr/>
        </p:nvSpPr>
        <p:spPr>
          <a:xfrm>
            <a:off x="5157216" y="1600200"/>
            <a:ext cx="73152" cy="2240280"/>
          </a:xfrm>
          <a:prstGeom prst="rect">
            <a:avLst/>
          </a:prstGeom>
          <a:solidFill>
            <a:srgbClr val="F59E0B"/>
          </a:solidFill>
          <a:ln w="12700">
            <a:solidFill>
              <a:srgbClr val="F59E0B"/>
            </a:solidFill>
            <a:prstDash val="solid"/>
          </a:ln>
        </p:spPr>
      </p:sp>
      <p:sp>
        <p:nvSpPr>
          <p:cNvPr id="16" name="Text 14"/>
          <p:cNvSpPr/>
          <p:nvPr/>
        </p:nvSpPr>
        <p:spPr>
          <a:xfrm>
            <a:off x="5413248" y="1783080"/>
            <a:ext cx="1463040" cy="274320"/>
          </a:xfrm>
          <a:prstGeom prst="rect">
            <a:avLst/>
          </a:prstGeom>
          <a:noFill/>
          <a:ln/>
        </p:spPr>
        <p:txBody>
          <a:bodyPr wrap="square" lIns="0" tIns="0" rIns="0" bIns="0" rtlCol="0" anchor="ctr">
            <a:normAutofit/>
          </a:bodyPr>
          <a:lstStyle/>
          <a:p>
            <a:pPr indent="0" marL="0">
              <a:buNone/>
            </a:pPr>
            <a:r>
              <a:rPr lang="en-US" sz="1500" b="1" dirty="0">
                <a:solidFill>
                  <a:srgbClr val="102A43"/>
                </a:solidFill>
              </a:rPr>
              <a:t>Отфильтровать</a:t>
            </a:r>
            <a:endParaRPr lang="en-US" sz="1500" dirty="0"/>
          </a:p>
        </p:txBody>
      </p:sp>
      <p:sp>
        <p:nvSpPr>
          <p:cNvPr id="17" name="Text 15"/>
          <p:cNvSpPr/>
          <p:nvPr/>
        </p:nvSpPr>
        <p:spPr>
          <a:xfrm>
            <a:off x="5413248" y="2167128"/>
            <a:ext cx="1435608" cy="1527048"/>
          </a:xfrm>
          <a:prstGeom prst="rect">
            <a:avLst/>
          </a:prstGeom>
          <a:noFill/>
          <a:ln/>
        </p:spPr>
        <p:txBody>
          <a:bodyPr wrap="square" lIns="254" tIns="254" rIns="254" bIns="254" rtlCol="0" anchor="ctr">
            <a:normAutofit/>
          </a:bodyPr>
          <a:lstStyle/>
          <a:p>
            <a:pPr indent="0" marL="0">
              <a:buNone/>
            </a:pPr>
            <a:r>
              <a:rPr lang="en-US" sz="1150" dirty="0">
                <a:solidFill>
                  <a:srgbClr val="243B53"/>
                </a:solidFill>
              </a:rPr>
              <a:t>Неполные недели и недели без действительной цены</a:t>
            </a:r>
            <a:endParaRPr lang="en-US" sz="1150" dirty="0"/>
          </a:p>
        </p:txBody>
      </p:sp>
      <p:sp>
        <p:nvSpPr>
          <p:cNvPr id="18" name="Shape 16"/>
          <p:cNvSpPr/>
          <p:nvPr/>
        </p:nvSpPr>
        <p:spPr>
          <a:xfrm>
            <a:off x="7040880" y="2651760"/>
            <a:ext cx="329184" cy="0"/>
          </a:xfrm>
          <a:prstGeom prst="line">
            <a:avLst/>
          </a:prstGeom>
          <a:noFill/>
          <a:ln w="25400">
            <a:solidFill>
              <a:srgbClr val="627D98"/>
            </a:solidFill>
            <a:prstDash val="solid"/>
            <a:headEnd type="none"/>
            <a:tailEnd type="triangle"/>
          </a:ln>
        </p:spPr>
      </p:sp>
      <p:sp>
        <p:nvSpPr>
          <p:cNvPr id="19" name="Shape 17"/>
          <p:cNvSpPr/>
          <p:nvPr/>
        </p:nvSpPr>
        <p:spPr>
          <a:xfrm>
            <a:off x="7415784" y="1600200"/>
            <a:ext cx="1874520" cy="2240280"/>
          </a:xfrm>
          <a:prstGeom prst="roundRect">
            <a:avLst>
              <a:gd name="adj" fmla="val 3902"/>
            </a:avLst>
          </a:prstGeom>
          <a:solidFill>
            <a:srgbClr val="FFFFFF"/>
          </a:solidFill>
          <a:ln w="15240">
            <a:solidFill>
              <a:srgbClr val="D9E2EC"/>
            </a:solidFill>
            <a:prstDash val="solid"/>
          </a:ln>
          <a:effectLst>
            <a:outerShdw sx="100000" sy="100000" kx="0" ky="0" algn="bl" rotWithShape="0" blurRad="19050" dist="50800" dir="2700000">
              <a:srgbClr val="B8C6D1">
                <a:alpha val="16000"/>
              </a:srgbClr>
            </a:outerShdw>
          </a:effectLst>
        </p:spPr>
      </p:sp>
      <p:sp>
        <p:nvSpPr>
          <p:cNvPr id="20" name="Shape 18"/>
          <p:cNvSpPr/>
          <p:nvPr/>
        </p:nvSpPr>
        <p:spPr>
          <a:xfrm>
            <a:off x="7415784" y="1600200"/>
            <a:ext cx="73152" cy="2240280"/>
          </a:xfrm>
          <a:prstGeom prst="rect">
            <a:avLst/>
          </a:prstGeom>
          <a:solidFill>
            <a:srgbClr val="178F65"/>
          </a:solidFill>
          <a:ln w="12700">
            <a:solidFill>
              <a:srgbClr val="178F65"/>
            </a:solidFill>
            <a:prstDash val="solid"/>
          </a:ln>
        </p:spPr>
      </p:sp>
      <p:sp>
        <p:nvSpPr>
          <p:cNvPr id="21" name="Text 19"/>
          <p:cNvSpPr/>
          <p:nvPr/>
        </p:nvSpPr>
        <p:spPr>
          <a:xfrm>
            <a:off x="7671816" y="1783080"/>
            <a:ext cx="1463040" cy="274320"/>
          </a:xfrm>
          <a:prstGeom prst="rect">
            <a:avLst/>
          </a:prstGeom>
          <a:noFill/>
          <a:ln/>
        </p:spPr>
        <p:txBody>
          <a:bodyPr wrap="square" lIns="0" tIns="0" rIns="0" bIns="0" rtlCol="0" anchor="ctr">
            <a:normAutofit/>
          </a:bodyPr>
          <a:lstStyle/>
          <a:p>
            <a:pPr indent="0" marL="0">
              <a:buNone/>
            </a:pPr>
            <a:r>
              <a:rPr lang="en-US" sz="1500" b="1" dirty="0">
                <a:solidFill>
                  <a:srgbClr val="102A43"/>
                </a:solidFill>
              </a:rPr>
              <a:t>Сохранить</a:t>
            </a:r>
            <a:endParaRPr lang="en-US" sz="1500" dirty="0"/>
          </a:p>
        </p:txBody>
      </p:sp>
      <p:sp>
        <p:nvSpPr>
          <p:cNvPr id="22" name="Text 20"/>
          <p:cNvSpPr/>
          <p:nvPr/>
        </p:nvSpPr>
        <p:spPr>
          <a:xfrm>
            <a:off x="7671816" y="2167128"/>
            <a:ext cx="1435608" cy="1527048"/>
          </a:xfrm>
          <a:prstGeom prst="rect">
            <a:avLst/>
          </a:prstGeom>
          <a:noFill/>
          <a:ln/>
        </p:spPr>
        <p:txBody>
          <a:bodyPr wrap="square" lIns="254" tIns="254" rIns="254" bIns="254" rtlCol="0" anchor="ctr">
            <a:normAutofit/>
          </a:bodyPr>
          <a:lstStyle/>
          <a:p>
            <a:pPr indent="0" marL="0">
              <a:buNone/>
            </a:pPr>
            <a:r>
              <a:rPr lang="en-US" sz="1150" dirty="0">
                <a:solidFill>
                  <a:srgbClr val="243B53"/>
                </a:solidFill>
              </a:rPr>
              <a:t>Нули и выбросы как валидные наблюдения с флагом</a:t>
            </a:r>
            <a:endParaRPr lang="en-US" sz="1150" dirty="0"/>
          </a:p>
        </p:txBody>
      </p:sp>
      <p:sp>
        <p:nvSpPr>
          <p:cNvPr id="23" name="Shape 21"/>
          <p:cNvSpPr/>
          <p:nvPr/>
        </p:nvSpPr>
        <p:spPr>
          <a:xfrm>
            <a:off x="9299448" y="2651760"/>
            <a:ext cx="329184" cy="0"/>
          </a:xfrm>
          <a:prstGeom prst="line">
            <a:avLst/>
          </a:prstGeom>
          <a:noFill/>
          <a:ln w="25400">
            <a:solidFill>
              <a:srgbClr val="627D98"/>
            </a:solidFill>
            <a:prstDash val="solid"/>
            <a:headEnd type="none"/>
            <a:tailEnd type="triangle"/>
          </a:ln>
        </p:spPr>
      </p:sp>
      <p:sp>
        <p:nvSpPr>
          <p:cNvPr id="24" name="Shape 22"/>
          <p:cNvSpPr/>
          <p:nvPr/>
        </p:nvSpPr>
        <p:spPr>
          <a:xfrm>
            <a:off x="9674352" y="1600200"/>
            <a:ext cx="1874520" cy="2240280"/>
          </a:xfrm>
          <a:prstGeom prst="roundRect">
            <a:avLst>
              <a:gd name="adj" fmla="val 3902"/>
            </a:avLst>
          </a:prstGeom>
          <a:solidFill>
            <a:srgbClr val="FFFFFF"/>
          </a:solidFill>
          <a:ln w="15240">
            <a:solidFill>
              <a:srgbClr val="D9E2EC"/>
            </a:solidFill>
            <a:prstDash val="solid"/>
          </a:ln>
          <a:effectLst>
            <a:outerShdw sx="100000" sy="100000" kx="0" ky="0" algn="bl" rotWithShape="0" blurRad="19050" dist="50800" dir="2700000">
              <a:srgbClr val="B8C6D1">
                <a:alpha val="16000"/>
              </a:srgbClr>
            </a:outerShdw>
          </a:effectLst>
        </p:spPr>
      </p:sp>
      <p:sp>
        <p:nvSpPr>
          <p:cNvPr id="25" name="Shape 23"/>
          <p:cNvSpPr/>
          <p:nvPr/>
        </p:nvSpPr>
        <p:spPr>
          <a:xfrm>
            <a:off x="9674352" y="1600200"/>
            <a:ext cx="73152" cy="2240280"/>
          </a:xfrm>
          <a:prstGeom prst="rect">
            <a:avLst/>
          </a:prstGeom>
          <a:solidFill>
            <a:srgbClr val="D64545"/>
          </a:solidFill>
          <a:ln w="12700">
            <a:solidFill>
              <a:srgbClr val="D64545"/>
            </a:solidFill>
            <a:prstDash val="solid"/>
          </a:ln>
        </p:spPr>
      </p:sp>
      <p:sp>
        <p:nvSpPr>
          <p:cNvPr id="26" name="Text 24"/>
          <p:cNvSpPr/>
          <p:nvPr/>
        </p:nvSpPr>
        <p:spPr>
          <a:xfrm>
            <a:off x="9930384" y="1783080"/>
            <a:ext cx="1463040" cy="274320"/>
          </a:xfrm>
          <a:prstGeom prst="rect">
            <a:avLst/>
          </a:prstGeom>
          <a:noFill/>
          <a:ln/>
        </p:spPr>
        <p:txBody>
          <a:bodyPr wrap="square" lIns="0" tIns="0" rIns="0" bIns="0" rtlCol="0" anchor="ctr">
            <a:normAutofit/>
          </a:bodyPr>
          <a:lstStyle/>
          <a:p>
            <a:pPr indent="0" marL="0">
              <a:buNone/>
            </a:pPr>
            <a:r>
              <a:rPr lang="en-US" sz="1500" b="1" dirty="0">
                <a:solidFill>
                  <a:srgbClr val="102A43"/>
                </a:solidFill>
              </a:rPr>
              <a:t>Зафиксировать</a:t>
            </a:r>
            <a:endParaRPr lang="en-US" sz="1500" dirty="0"/>
          </a:p>
        </p:txBody>
      </p:sp>
      <p:sp>
        <p:nvSpPr>
          <p:cNvPr id="27" name="Text 25"/>
          <p:cNvSpPr/>
          <p:nvPr/>
        </p:nvSpPr>
        <p:spPr>
          <a:xfrm>
            <a:off x="9930384" y="2167128"/>
            <a:ext cx="1435608" cy="1527048"/>
          </a:xfrm>
          <a:prstGeom prst="rect">
            <a:avLst/>
          </a:prstGeom>
          <a:noFill/>
          <a:ln/>
        </p:spPr>
        <p:txBody>
          <a:bodyPr wrap="square" lIns="254" tIns="254" rIns="254" bIns="254" rtlCol="0" anchor="ctr">
            <a:normAutofit/>
          </a:bodyPr>
          <a:lstStyle/>
          <a:p>
            <a:pPr indent="0" marL="0">
              <a:buNone/>
            </a:pPr>
            <a:r>
              <a:rPr lang="en-US" sz="1150" dirty="0">
                <a:solidFill>
                  <a:srgbClr val="243B53"/>
                </a:solidFill>
              </a:rPr>
              <a:t>Количество строк и причины каждого решения</a:t>
            </a:r>
            <a:endParaRPr lang="en-US" sz="1150" dirty="0"/>
          </a:p>
        </p:txBody>
      </p:sp>
      <p:sp>
        <p:nvSpPr>
          <p:cNvPr id="28" name="Shape 26"/>
          <p:cNvSpPr/>
          <p:nvPr/>
        </p:nvSpPr>
        <p:spPr>
          <a:xfrm>
            <a:off x="914400" y="4251960"/>
            <a:ext cx="10332720" cy="1051560"/>
          </a:xfrm>
          <a:prstGeom prst="roundRect">
            <a:avLst>
              <a:gd name="adj" fmla="val 4348"/>
            </a:avLst>
          </a:prstGeom>
          <a:solidFill>
            <a:srgbClr val="FFF7E6"/>
          </a:solidFill>
          <a:ln w="12700">
            <a:solidFill>
              <a:srgbClr val="F7C873"/>
            </a:solidFill>
            <a:prstDash val="solid"/>
          </a:ln>
        </p:spPr>
      </p:sp>
      <p:sp>
        <p:nvSpPr>
          <p:cNvPr id="29" name="Text 27"/>
          <p:cNvSpPr/>
          <p:nvPr/>
        </p:nvSpPr>
        <p:spPr>
          <a:xfrm>
            <a:off x="1188720" y="4507992"/>
            <a:ext cx="1920240" cy="292608"/>
          </a:xfrm>
          <a:prstGeom prst="rect">
            <a:avLst/>
          </a:prstGeom>
          <a:noFill/>
          <a:ln/>
        </p:spPr>
        <p:txBody>
          <a:bodyPr wrap="square" lIns="0" tIns="0" rIns="0" bIns="0" rtlCol="0" anchor="ctr"/>
          <a:lstStyle/>
          <a:p>
            <a:pPr indent="0" marL="0">
              <a:buNone/>
            </a:pPr>
            <a:r>
              <a:rPr lang="en-US" sz="1500" b="1" dirty="0">
                <a:solidFill>
                  <a:srgbClr val="B66A00"/>
                </a:solidFill>
              </a:rPr>
              <a:t>Главное решение</a:t>
            </a:r>
            <a:endParaRPr lang="en-US" sz="1500" dirty="0"/>
          </a:p>
        </p:txBody>
      </p:sp>
      <p:sp>
        <p:nvSpPr>
          <p:cNvPr id="30" name="Text 28"/>
          <p:cNvSpPr/>
          <p:nvPr/>
        </p:nvSpPr>
        <p:spPr>
          <a:xfrm>
            <a:off x="3108960" y="4389120"/>
            <a:ext cx="7726680" cy="530352"/>
          </a:xfrm>
          <a:prstGeom prst="rect">
            <a:avLst/>
          </a:prstGeom>
          <a:noFill/>
          <a:ln/>
        </p:spPr>
        <p:txBody>
          <a:bodyPr wrap="square" lIns="254" tIns="254" rIns="254" bIns="254" rtlCol="0" anchor="ctr">
            <a:normAutofit/>
          </a:bodyPr>
          <a:lstStyle/>
          <a:p>
            <a:pPr indent="0" marL="0">
              <a:buNone/>
            </a:pPr>
            <a:r>
              <a:rPr lang="en-US" sz="1500" b="1" dirty="0">
                <a:solidFill>
                  <a:srgbClr val="102A43"/>
                </a:solidFill>
              </a:rPr>
              <a:t>Нулевой спрос и высокие продажи не удалялись автоматически: они отражают реальное поведение и анализировались отдельно.</a:t>
            </a:r>
            <a:endParaRPr lang="en-US" sz="1500" dirty="0"/>
          </a:p>
        </p:txBody>
      </p:sp>
      <p:sp>
        <p:nvSpPr>
          <p:cNvPr id="31" name="Text 29"/>
          <p:cNvSpPr/>
          <p:nvPr/>
        </p:nvSpPr>
        <p:spPr>
          <a:xfrm>
            <a:off x="594360" y="6190488"/>
            <a:ext cx="10424160" cy="219456"/>
          </a:xfrm>
          <a:prstGeom prst="rect">
            <a:avLst/>
          </a:prstGeom>
          <a:noFill/>
          <a:ln/>
        </p:spPr>
        <p:txBody>
          <a:bodyPr wrap="square" lIns="0" tIns="0" rIns="0" bIns="0" rtlCol="0" anchor="ctr">
            <a:normAutofit/>
          </a:bodyPr>
          <a:lstStyle/>
          <a:p>
            <a:pPr indent="0" marL="0">
              <a:buNone/>
            </a:pPr>
            <a:r>
              <a:rPr lang="en-US" sz="1000" i="1" dirty="0">
                <a:solidFill>
                  <a:srgbClr val="627D98"/>
                </a:solidFill>
              </a:rPr>
              <a:t>Оригинальные CSV остались неизменными; обработанные данные воспроизводятся ноутбуками 01–02.</a:t>
            </a:r>
            <a:endParaRPr lang="en-US" sz="1000" dirty="0"/>
          </a:p>
        </p:txBody>
      </p:sp>
      <p:sp>
        <p:nvSpPr>
          <p:cNvPr id="25" name="Slide Number Placeholder 0"/>
          <p:cNvSpPr>
            <a:spLocks noGrp="1"/>
          </p:cNvSpPr>
          <p:nvPr>
            <p:ph type="sldNum" sz="quarter" idx="4294967295"/>
          </p:nvPr>
        </p:nvSpPr>
        <p:spPr>
          <a:xfrm>
            <a:off x="11503152" y="6565392"/>
            <a:ext cx="182880" cy="13716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94360" y="530352"/>
            <a:ext cx="2926080" cy="219456"/>
          </a:xfrm>
          <a:prstGeom prst="rect">
            <a:avLst/>
          </a:prstGeom>
          <a:noFill/>
          <a:ln/>
        </p:spPr>
        <p:txBody>
          <a:bodyPr wrap="square" lIns="0" tIns="0" rIns="0" bIns="0" rtlCol="0" anchor="ctr"/>
          <a:lstStyle/>
          <a:p>
            <a:pPr indent="0" marL="0">
              <a:buNone/>
            </a:pPr>
            <a:r>
              <a:rPr lang="en-US" sz="1000" b="1" spc="110" kern="0" dirty="0">
                <a:solidFill>
                  <a:srgbClr val="1976D2"/>
                </a:solidFill>
              </a:rPr>
              <a:t>4 • LEAKAGE-SAFE PIPELINE</a:t>
            </a:r>
            <a:endParaRPr lang="en-US" sz="1000" dirty="0"/>
          </a:p>
        </p:txBody>
      </p:sp>
      <p:sp>
        <p:nvSpPr>
          <p:cNvPr id="3" name="Text 1"/>
          <p:cNvSpPr/>
          <p:nvPr/>
        </p:nvSpPr>
        <p:spPr>
          <a:xfrm>
            <a:off x="594360" y="804672"/>
            <a:ext cx="10972800" cy="566928"/>
          </a:xfrm>
          <a:prstGeom prst="rect">
            <a:avLst/>
          </a:prstGeom>
          <a:noFill/>
          <a:ln/>
        </p:spPr>
        <p:txBody>
          <a:bodyPr wrap="square" lIns="0" tIns="0" rIns="0" bIns="0" rtlCol="0" anchor="ctr">
            <a:normAutofit/>
          </a:bodyPr>
          <a:lstStyle/>
          <a:p>
            <a:pPr indent="0" marL="0">
              <a:buNone/>
            </a:pPr>
            <a:r>
              <a:rPr lang="en-US" sz="2700" b="1" dirty="0">
                <a:solidFill>
                  <a:srgbClr val="102A43"/>
                </a:solidFill>
              </a:rPr>
              <a:t>Как я защитил проект от утечки данных</a:t>
            </a:r>
            <a:endParaRPr lang="en-US" sz="2700" dirty="0"/>
          </a:p>
        </p:txBody>
      </p:sp>
      <p:sp>
        <p:nvSpPr>
          <p:cNvPr id="4" name="Shape 2"/>
          <p:cNvSpPr/>
          <p:nvPr/>
        </p:nvSpPr>
        <p:spPr>
          <a:xfrm>
            <a:off x="731520" y="1965960"/>
            <a:ext cx="4800600" cy="1051560"/>
          </a:xfrm>
          <a:prstGeom prst="roundRect">
            <a:avLst>
              <a:gd name="adj" fmla="val 3478"/>
            </a:avLst>
          </a:prstGeom>
          <a:solidFill>
            <a:srgbClr val="E8F5EE"/>
          </a:solidFill>
          <a:ln w="12700">
            <a:solidFill>
              <a:srgbClr val="9AD2B8"/>
            </a:solidFill>
            <a:prstDash val="solid"/>
          </a:ln>
        </p:spPr>
      </p:sp>
      <p:sp>
        <p:nvSpPr>
          <p:cNvPr id="5" name="Text 3"/>
          <p:cNvSpPr/>
          <p:nvPr/>
        </p:nvSpPr>
        <p:spPr>
          <a:xfrm>
            <a:off x="960120" y="2130552"/>
            <a:ext cx="1051560" cy="274320"/>
          </a:xfrm>
          <a:prstGeom prst="rect">
            <a:avLst/>
          </a:prstGeom>
          <a:noFill/>
          <a:ln/>
        </p:spPr>
        <p:txBody>
          <a:bodyPr wrap="square" lIns="0" tIns="0" rIns="0" bIns="0" rtlCol="0" anchor="ctr"/>
          <a:lstStyle/>
          <a:p>
            <a:pPr indent="0" marL="0">
              <a:buNone/>
            </a:pPr>
            <a:r>
              <a:rPr lang="en-US" sz="1800" b="1" dirty="0">
                <a:solidFill>
                  <a:srgbClr val="178F65"/>
                </a:solidFill>
              </a:rPr>
              <a:t>TRAIN</a:t>
            </a:r>
            <a:endParaRPr lang="en-US" sz="1800" dirty="0"/>
          </a:p>
        </p:txBody>
      </p:sp>
      <p:sp>
        <p:nvSpPr>
          <p:cNvPr id="6" name="Text 4"/>
          <p:cNvSpPr/>
          <p:nvPr/>
        </p:nvSpPr>
        <p:spPr>
          <a:xfrm>
            <a:off x="1993392" y="2148840"/>
            <a:ext cx="3154680" cy="274320"/>
          </a:xfrm>
          <a:prstGeom prst="rect">
            <a:avLst/>
          </a:prstGeom>
          <a:noFill/>
          <a:ln/>
        </p:spPr>
        <p:txBody>
          <a:bodyPr wrap="square" lIns="0" tIns="0" rIns="0" bIns="0" rtlCol="0" anchor="ctr"/>
          <a:lstStyle/>
          <a:p>
            <a:pPr indent="0" marL="0">
              <a:buNone/>
            </a:pPr>
            <a:r>
              <a:rPr lang="en-US" sz="1300" dirty="0">
                <a:solidFill>
                  <a:srgbClr val="243B53"/>
                </a:solidFill>
              </a:rPr>
              <a:t>обучение признаков и модели</a:t>
            </a:r>
            <a:endParaRPr lang="en-US" sz="1300" dirty="0"/>
          </a:p>
        </p:txBody>
      </p:sp>
      <p:sp>
        <p:nvSpPr>
          <p:cNvPr id="7" name="Shape 5"/>
          <p:cNvSpPr/>
          <p:nvPr/>
        </p:nvSpPr>
        <p:spPr>
          <a:xfrm>
            <a:off x="5623560" y="1965960"/>
            <a:ext cx="2468880" cy="1051560"/>
          </a:xfrm>
          <a:prstGeom prst="roundRect">
            <a:avLst>
              <a:gd name="adj" fmla="val 3478"/>
            </a:avLst>
          </a:prstGeom>
          <a:solidFill>
            <a:srgbClr val="FFF7E6"/>
          </a:solidFill>
          <a:ln w="12700">
            <a:solidFill>
              <a:srgbClr val="F7C873"/>
            </a:solidFill>
            <a:prstDash val="solid"/>
          </a:ln>
        </p:spPr>
      </p:sp>
      <p:sp>
        <p:nvSpPr>
          <p:cNvPr id="8" name="Text 6"/>
          <p:cNvSpPr/>
          <p:nvPr/>
        </p:nvSpPr>
        <p:spPr>
          <a:xfrm>
            <a:off x="5870448" y="2130552"/>
            <a:ext cx="1965960" cy="274320"/>
          </a:xfrm>
          <a:prstGeom prst="rect">
            <a:avLst/>
          </a:prstGeom>
          <a:noFill/>
          <a:ln/>
        </p:spPr>
        <p:txBody>
          <a:bodyPr wrap="square" lIns="0" tIns="0" rIns="0" bIns="0" rtlCol="0" anchor="ctr"/>
          <a:lstStyle/>
          <a:p>
            <a:pPr algn="ctr" indent="0" marL="0">
              <a:buNone/>
            </a:pPr>
            <a:r>
              <a:rPr lang="en-US" sz="1700" b="1" dirty="0">
                <a:solidFill>
                  <a:srgbClr val="B66A00"/>
                </a:solidFill>
              </a:rPr>
              <a:t>VALIDATION</a:t>
            </a:r>
            <a:endParaRPr lang="en-US" sz="1700" dirty="0"/>
          </a:p>
        </p:txBody>
      </p:sp>
      <p:sp>
        <p:nvSpPr>
          <p:cNvPr id="9" name="Text 7"/>
          <p:cNvSpPr/>
          <p:nvPr/>
        </p:nvSpPr>
        <p:spPr>
          <a:xfrm>
            <a:off x="5925312" y="2532888"/>
            <a:ext cx="1828800" cy="228600"/>
          </a:xfrm>
          <a:prstGeom prst="rect">
            <a:avLst/>
          </a:prstGeom>
          <a:noFill/>
          <a:ln/>
        </p:spPr>
        <p:txBody>
          <a:bodyPr wrap="square" lIns="0" tIns="0" rIns="0" bIns="0" rtlCol="0" anchor="ctr"/>
          <a:lstStyle/>
          <a:p>
            <a:pPr algn="ctr" indent="0" marL="0">
              <a:buNone/>
            </a:pPr>
            <a:r>
              <a:rPr lang="en-US" sz="1200" dirty="0">
                <a:solidFill>
                  <a:srgbClr val="243B53"/>
                </a:solidFill>
              </a:rPr>
              <a:t>выбор модели</a:t>
            </a:r>
            <a:endParaRPr lang="en-US" sz="1200" dirty="0"/>
          </a:p>
        </p:txBody>
      </p:sp>
      <p:sp>
        <p:nvSpPr>
          <p:cNvPr id="10" name="Shape 8"/>
          <p:cNvSpPr/>
          <p:nvPr/>
        </p:nvSpPr>
        <p:spPr>
          <a:xfrm>
            <a:off x="8183880" y="1965960"/>
            <a:ext cx="3246120" cy="1051560"/>
          </a:xfrm>
          <a:prstGeom prst="roundRect">
            <a:avLst>
              <a:gd name="adj" fmla="val 3478"/>
            </a:avLst>
          </a:prstGeom>
          <a:solidFill>
            <a:srgbClr val="FDECEC"/>
          </a:solidFill>
          <a:ln w="12700">
            <a:solidFill>
              <a:srgbClr val="E6A2A2"/>
            </a:solidFill>
            <a:prstDash val="solid"/>
          </a:ln>
        </p:spPr>
      </p:sp>
      <p:sp>
        <p:nvSpPr>
          <p:cNvPr id="11" name="Text 9"/>
          <p:cNvSpPr/>
          <p:nvPr/>
        </p:nvSpPr>
        <p:spPr>
          <a:xfrm>
            <a:off x="8430768" y="2130552"/>
            <a:ext cx="2743200" cy="274320"/>
          </a:xfrm>
          <a:prstGeom prst="rect">
            <a:avLst/>
          </a:prstGeom>
          <a:noFill/>
          <a:ln/>
        </p:spPr>
        <p:txBody>
          <a:bodyPr wrap="square" lIns="0" tIns="0" rIns="0" bIns="0" rtlCol="0" anchor="ctr"/>
          <a:lstStyle/>
          <a:p>
            <a:pPr algn="ctr" indent="0" marL="0">
              <a:buNone/>
            </a:pPr>
            <a:r>
              <a:rPr lang="en-US" sz="1700" b="1" dirty="0">
                <a:solidFill>
                  <a:srgbClr val="D64545"/>
                </a:solidFill>
              </a:rPr>
              <a:t>PROTECTED TEST</a:t>
            </a:r>
            <a:endParaRPr lang="en-US" sz="1700" dirty="0"/>
          </a:p>
        </p:txBody>
      </p:sp>
      <p:sp>
        <p:nvSpPr>
          <p:cNvPr id="12" name="Text 10"/>
          <p:cNvSpPr/>
          <p:nvPr/>
        </p:nvSpPr>
        <p:spPr>
          <a:xfrm>
            <a:off x="8458200" y="2532888"/>
            <a:ext cx="2697480" cy="228600"/>
          </a:xfrm>
          <a:prstGeom prst="rect">
            <a:avLst/>
          </a:prstGeom>
          <a:noFill/>
          <a:ln/>
        </p:spPr>
        <p:txBody>
          <a:bodyPr wrap="square" lIns="0" tIns="0" rIns="0" bIns="0" rtlCol="0" anchor="ctr"/>
          <a:lstStyle/>
          <a:p>
            <a:pPr algn="ctr" indent="0" marL="0">
              <a:buNone/>
            </a:pPr>
            <a:r>
              <a:rPr lang="en-US" sz="1200" dirty="0">
                <a:solidFill>
                  <a:srgbClr val="243B53"/>
                </a:solidFill>
              </a:rPr>
              <a:t>одна финальная проверка</a:t>
            </a:r>
            <a:endParaRPr lang="en-US" sz="1200" dirty="0"/>
          </a:p>
        </p:txBody>
      </p:sp>
      <p:sp>
        <p:nvSpPr>
          <p:cNvPr id="13" name="Shape 11"/>
          <p:cNvSpPr/>
          <p:nvPr/>
        </p:nvSpPr>
        <p:spPr>
          <a:xfrm>
            <a:off x="5504688" y="2496312"/>
            <a:ext cx="91440" cy="0"/>
          </a:xfrm>
          <a:prstGeom prst="line">
            <a:avLst/>
          </a:prstGeom>
          <a:noFill/>
          <a:ln w="25400">
            <a:solidFill>
              <a:srgbClr val="627D98"/>
            </a:solidFill>
            <a:prstDash val="solid"/>
            <a:headEnd type="none"/>
            <a:tailEnd type="triangle"/>
          </a:ln>
        </p:spPr>
      </p:sp>
      <p:sp>
        <p:nvSpPr>
          <p:cNvPr id="14" name="Shape 12"/>
          <p:cNvSpPr/>
          <p:nvPr/>
        </p:nvSpPr>
        <p:spPr>
          <a:xfrm>
            <a:off x="8074152" y="2496312"/>
            <a:ext cx="91440" cy="0"/>
          </a:xfrm>
          <a:prstGeom prst="line">
            <a:avLst/>
          </a:prstGeom>
          <a:noFill/>
          <a:ln w="25400">
            <a:solidFill>
              <a:srgbClr val="627D98"/>
            </a:solidFill>
            <a:prstDash val="solid"/>
            <a:headEnd type="none"/>
            <a:tailEnd type="triangle"/>
          </a:ln>
        </p:spPr>
      </p:sp>
      <p:sp>
        <p:nvSpPr>
          <p:cNvPr id="15" name="Shape 13"/>
          <p:cNvSpPr/>
          <p:nvPr/>
        </p:nvSpPr>
        <p:spPr>
          <a:xfrm>
            <a:off x="731520" y="3703320"/>
            <a:ext cx="3383280" cy="1325880"/>
          </a:xfrm>
          <a:prstGeom prst="roundRect">
            <a:avLst>
              <a:gd name="adj" fmla="val 5517"/>
            </a:avLst>
          </a:prstGeom>
          <a:solidFill>
            <a:srgbClr val="FFFFFF"/>
          </a:solidFill>
          <a:ln w="15240">
            <a:solidFill>
              <a:srgbClr val="D9E2EC"/>
            </a:solidFill>
            <a:prstDash val="solid"/>
          </a:ln>
          <a:effectLst>
            <a:outerShdw sx="100000" sy="100000" kx="0" ky="0" algn="bl" rotWithShape="0" blurRad="19050" dist="50800" dir="2700000">
              <a:srgbClr val="B8C6D1">
                <a:alpha val="16000"/>
              </a:srgbClr>
            </a:outerShdw>
          </a:effectLst>
        </p:spPr>
      </p:sp>
      <p:sp>
        <p:nvSpPr>
          <p:cNvPr id="16" name="Shape 14"/>
          <p:cNvSpPr/>
          <p:nvPr/>
        </p:nvSpPr>
        <p:spPr>
          <a:xfrm>
            <a:off x="731520" y="3703320"/>
            <a:ext cx="73152" cy="1325880"/>
          </a:xfrm>
          <a:prstGeom prst="rect">
            <a:avLst/>
          </a:prstGeom>
          <a:solidFill>
            <a:srgbClr val="1976D2"/>
          </a:solidFill>
          <a:ln w="12700">
            <a:solidFill>
              <a:srgbClr val="1976D2"/>
            </a:solidFill>
            <a:prstDash val="solid"/>
          </a:ln>
        </p:spPr>
      </p:sp>
      <p:sp>
        <p:nvSpPr>
          <p:cNvPr id="17" name="Text 15"/>
          <p:cNvSpPr/>
          <p:nvPr/>
        </p:nvSpPr>
        <p:spPr>
          <a:xfrm>
            <a:off x="987552" y="3886200"/>
            <a:ext cx="2971800" cy="274320"/>
          </a:xfrm>
          <a:prstGeom prst="rect">
            <a:avLst/>
          </a:prstGeom>
          <a:noFill/>
          <a:ln/>
        </p:spPr>
        <p:txBody>
          <a:bodyPr wrap="square" lIns="0" tIns="0" rIns="0" bIns="0" rtlCol="0" anchor="ctr">
            <a:normAutofit/>
          </a:bodyPr>
          <a:lstStyle/>
          <a:p>
            <a:pPr indent="0" marL="0">
              <a:buNone/>
            </a:pPr>
            <a:r>
              <a:rPr lang="en-US" sz="1500" b="1" dirty="0">
                <a:solidFill>
                  <a:srgbClr val="102A43"/>
                </a:solidFill>
              </a:rPr>
              <a:t>Прошлое → будущее</a:t>
            </a:r>
            <a:endParaRPr lang="en-US" sz="1500" dirty="0"/>
          </a:p>
        </p:txBody>
      </p:sp>
      <p:sp>
        <p:nvSpPr>
          <p:cNvPr id="18" name="Text 16"/>
          <p:cNvSpPr/>
          <p:nvPr/>
        </p:nvSpPr>
        <p:spPr>
          <a:xfrm>
            <a:off x="987552" y="4270248"/>
            <a:ext cx="2944368" cy="612648"/>
          </a:xfrm>
          <a:prstGeom prst="rect">
            <a:avLst/>
          </a:prstGeom>
          <a:noFill/>
          <a:ln/>
        </p:spPr>
        <p:txBody>
          <a:bodyPr wrap="square" lIns="254" tIns="254" rIns="254" bIns="254" rtlCol="0" anchor="ctr">
            <a:normAutofit/>
          </a:bodyPr>
          <a:lstStyle/>
          <a:p>
            <a:pPr indent="0" marL="0">
              <a:buNone/>
            </a:pPr>
            <a:r>
              <a:rPr lang="en-US" sz="1150" dirty="0">
                <a:solidFill>
                  <a:srgbClr val="243B53"/>
                </a:solidFill>
              </a:rPr>
              <a:t>Хронологическое разделение вместо случайного перемешивания.</a:t>
            </a:r>
            <a:endParaRPr lang="en-US" sz="1150" dirty="0"/>
          </a:p>
        </p:txBody>
      </p:sp>
      <p:sp>
        <p:nvSpPr>
          <p:cNvPr id="19" name="Shape 17"/>
          <p:cNvSpPr/>
          <p:nvPr/>
        </p:nvSpPr>
        <p:spPr>
          <a:xfrm>
            <a:off x="4407408" y="3703320"/>
            <a:ext cx="3383280" cy="1325880"/>
          </a:xfrm>
          <a:prstGeom prst="roundRect">
            <a:avLst>
              <a:gd name="adj" fmla="val 5517"/>
            </a:avLst>
          </a:prstGeom>
          <a:solidFill>
            <a:srgbClr val="FFFFFF"/>
          </a:solidFill>
          <a:ln w="15240">
            <a:solidFill>
              <a:srgbClr val="D9E2EC"/>
            </a:solidFill>
            <a:prstDash val="solid"/>
          </a:ln>
          <a:effectLst>
            <a:outerShdw sx="100000" sy="100000" kx="0" ky="0" algn="bl" rotWithShape="0" blurRad="19050" dist="50800" dir="2700000">
              <a:srgbClr val="B8C6D1">
                <a:alpha val="16000"/>
              </a:srgbClr>
            </a:outerShdw>
          </a:effectLst>
        </p:spPr>
      </p:sp>
      <p:sp>
        <p:nvSpPr>
          <p:cNvPr id="20" name="Shape 18"/>
          <p:cNvSpPr/>
          <p:nvPr/>
        </p:nvSpPr>
        <p:spPr>
          <a:xfrm>
            <a:off x="4407408" y="3703320"/>
            <a:ext cx="73152" cy="1325880"/>
          </a:xfrm>
          <a:prstGeom prst="rect">
            <a:avLst/>
          </a:prstGeom>
          <a:solidFill>
            <a:srgbClr val="2CB1BC"/>
          </a:solidFill>
          <a:ln w="12700">
            <a:solidFill>
              <a:srgbClr val="2CB1BC"/>
            </a:solidFill>
            <a:prstDash val="solid"/>
          </a:ln>
        </p:spPr>
      </p:sp>
      <p:sp>
        <p:nvSpPr>
          <p:cNvPr id="21" name="Text 19"/>
          <p:cNvSpPr/>
          <p:nvPr/>
        </p:nvSpPr>
        <p:spPr>
          <a:xfrm>
            <a:off x="4663440" y="3886200"/>
            <a:ext cx="2971800" cy="274320"/>
          </a:xfrm>
          <a:prstGeom prst="rect">
            <a:avLst/>
          </a:prstGeom>
          <a:noFill/>
          <a:ln/>
        </p:spPr>
        <p:txBody>
          <a:bodyPr wrap="square" lIns="0" tIns="0" rIns="0" bIns="0" rtlCol="0" anchor="ctr">
            <a:normAutofit/>
          </a:bodyPr>
          <a:lstStyle/>
          <a:p>
            <a:pPr indent="0" marL="0">
              <a:buNone/>
            </a:pPr>
            <a:r>
              <a:rPr lang="en-US" sz="1500" b="1" dirty="0">
                <a:solidFill>
                  <a:srgbClr val="102A43"/>
                </a:solidFill>
              </a:rPr>
              <a:t>Только прошлые продажи</a:t>
            </a:r>
            <a:endParaRPr lang="en-US" sz="1500" dirty="0"/>
          </a:p>
        </p:txBody>
      </p:sp>
      <p:sp>
        <p:nvSpPr>
          <p:cNvPr id="22" name="Text 20"/>
          <p:cNvSpPr/>
          <p:nvPr/>
        </p:nvSpPr>
        <p:spPr>
          <a:xfrm>
            <a:off x="4663440" y="4270248"/>
            <a:ext cx="2944368" cy="612648"/>
          </a:xfrm>
          <a:prstGeom prst="rect">
            <a:avLst/>
          </a:prstGeom>
          <a:noFill/>
          <a:ln/>
        </p:spPr>
        <p:txBody>
          <a:bodyPr wrap="square" lIns="254" tIns="254" rIns="254" bIns="254" rtlCol="0" anchor="ctr">
            <a:normAutofit/>
          </a:bodyPr>
          <a:lstStyle/>
          <a:p>
            <a:pPr indent="0" marL="0">
              <a:buNone/>
            </a:pPr>
            <a:r>
              <a:rPr lang="en-US" sz="1150" dirty="0">
                <a:solidFill>
                  <a:srgbClr val="243B53"/>
                </a:solidFill>
              </a:rPr>
              <a:t>lag и rolling используют shift(1): текущий target не входит в свои признаки.</a:t>
            </a:r>
            <a:endParaRPr lang="en-US" sz="1150" dirty="0"/>
          </a:p>
        </p:txBody>
      </p:sp>
      <p:sp>
        <p:nvSpPr>
          <p:cNvPr id="23" name="Shape 21"/>
          <p:cNvSpPr/>
          <p:nvPr/>
        </p:nvSpPr>
        <p:spPr>
          <a:xfrm>
            <a:off x="8083296" y="3703320"/>
            <a:ext cx="3383280" cy="1325880"/>
          </a:xfrm>
          <a:prstGeom prst="roundRect">
            <a:avLst>
              <a:gd name="adj" fmla="val 5517"/>
            </a:avLst>
          </a:prstGeom>
          <a:solidFill>
            <a:srgbClr val="FFFFFF"/>
          </a:solidFill>
          <a:ln w="15240">
            <a:solidFill>
              <a:srgbClr val="D9E2EC"/>
            </a:solidFill>
            <a:prstDash val="solid"/>
          </a:ln>
          <a:effectLst>
            <a:outerShdw sx="100000" sy="100000" kx="0" ky="0" algn="bl" rotWithShape="0" blurRad="19050" dist="50800" dir="2700000">
              <a:srgbClr val="B8C6D1">
                <a:alpha val="16000"/>
              </a:srgbClr>
            </a:outerShdw>
          </a:effectLst>
        </p:spPr>
      </p:sp>
      <p:sp>
        <p:nvSpPr>
          <p:cNvPr id="24" name="Shape 22"/>
          <p:cNvSpPr/>
          <p:nvPr/>
        </p:nvSpPr>
        <p:spPr>
          <a:xfrm>
            <a:off x="8083296" y="3703320"/>
            <a:ext cx="73152" cy="1325880"/>
          </a:xfrm>
          <a:prstGeom prst="rect">
            <a:avLst/>
          </a:prstGeom>
          <a:solidFill>
            <a:srgbClr val="D64545"/>
          </a:solidFill>
          <a:ln w="12700">
            <a:solidFill>
              <a:srgbClr val="D64545"/>
            </a:solidFill>
            <a:prstDash val="solid"/>
          </a:ln>
        </p:spPr>
      </p:sp>
      <p:sp>
        <p:nvSpPr>
          <p:cNvPr id="25" name="Text 23"/>
          <p:cNvSpPr/>
          <p:nvPr/>
        </p:nvSpPr>
        <p:spPr>
          <a:xfrm>
            <a:off x="8339328" y="3886200"/>
            <a:ext cx="2971800" cy="274320"/>
          </a:xfrm>
          <a:prstGeom prst="rect">
            <a:avLst/>
          </a:prstGeom>
          <a:noFill/>
          <a:ln/>
        </p:spPr>
        <p:txBody>
          <a:bodyPr wrap="square" lIns="0" tIns="0" rIns="0" bIns="0" rtlCol="0" anchor="ctr">
            <a:normAutofit/>
          </a:bodyPr>
          <a:lstStyle/>
          <a:p>
            <a:pPr indent="0" marL="0">
              <a:buNone/>
            </a:pPr>
            <a:r>
              <a:rPr lang="en-US" sz="1500" b="1" dirty="0">
                <a:solidFill>
                  <a:srgbClr val="102A43"/>
                </a:solidFill>
              </a:rPr>
              <a:t>Test не выбирает победителя</a:t>
            </a:r>
            <a:endParaRPr lang="en-US" sz="1500" dirty="0"/>
          </a:p>
        </p:txBody>
      </p:sp>
      <p:sp>
        <p:nvSpPr>
          <p:cNvPr id="26" name="Text 24"/>
          <p:cNvSpPr/>
          <p:nvPr/>
        </p:nvSpPr>
        <p:spPr>
          <a:xfrm>
            <a:off x="8339328" y="4270248"/>
            <a:ext cx="2944368" cy="612648"/>
          </a:xfrm>
          <a:prstGeom prst="rect">
            <a:avLst/>
          </a:prstGeom>
          <a:noFill/>
          <a:ln/>
        </p:spPr>
        <p:txBody>
          <a:bodyPr wrap="square" lIns="254" tIns="254" rIns="254" bIns="254" rtlCol="0" anchor="ctr">
            <a:normAutofit/>
          </a:bodyPr>
          <a:lstStyle/>
          <a:p>
            <a:pPr indent="0" marL="0">
              <a:buNone/>
            </a:pPr>
            <a:r>
              <a:rPr lang="en-US" sz="1150" dirty="0">
                <a:solidFill>
                  <a:srgbClr val="243B53"/>
                </a:solidFill>
              </a:rPr>
              <a:t>После test модель не настраивалась повторно.</a:t>
            </a:r>
            <a:endParaRPr lang="en-US" sz="1150" dirty="0"/>
          </a:p>
        </p:txBody>
      </p:sp>
      <p:sp>
        <p:nvSpPr>
          <p:cNvPr id="27" name="Text 25"/>
          <p:cNvSpPr/>
          <p:nvPr/>
        </p:nvSpPr>
        <p:spPr>
          <a:xfrm>
            <a:off x="594360" y="6190488"/>
            <a:ext cx="10424160" cy="219456"/>
          </a:xfrm>
          <a:prstGeom prst="rect">
            <a:avLst/>
          </a:prstGeom>
          <a:noFill/>
          <a:ln/>
        </p:spPr>
        <p:txBody>
          <a:bodyPr wrap="square" lIns="0" tIns="0" rIns="0" bIns="0" rtlCol="0" anchor="ctr">
            <a:normAutofit/>
          </a:bodyPr>
          <a:lstStyle/>
          <a:p>
            <a:pPr indent="0" marL="0">
              <a:buNone/>
            </a:pPr>
            <a:r>
              <a:rPr lang="en-US" sz="1000" i="1" dirty="0">
                <a:solidFill>
                  <a:srgbClr val="627D98"/>
                </a:solidFill>
              </a:rPr>
              <a:t>Проверки: временной порядок, точность lag, дубликаты ключей, пропуски и доступность признаков.</a:t>
            </a:r>
            <a:endParaRPr lang="en-US" sz="1000" dirty="0"/>
          </a:p>
        </p:txBody>
      </p:sp>
      <p:sp>
        <p:nvSpPr>
          <p:cNvPr id="25" name="Slide Number Placeholder 0"/>
          <p:cNvSpPr>
            <a:spLocks noGrp="1"/>
          </p:cNvSpPr>
          <p:nvPr>
            <p:ph type="sldNum" sz="quarter" idx="4294967295"/>
          </p:nvPr>
        </p:nvSpPr>
        <p:spPr>
          <a:xfrm>
            <a:off x="11503152" y="6565392"/>
            <a:ext cx="182880" cy="13716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94360" y="530352"/>
            <a:ext cx="2926080" cy="219456"/>
          </a:xfrm>
          <a:prstGeom prst="rect">
            <a:avLst/>
          </a:prstGeom>
          <a:noFill/>
          <a:ln/>
        </p:spPr>
        <p:txBody>
          <a:bodyPr wrap="square" lIns="0" tIns="0" rIns="0" bIns="0" rtlCol="0" anchor="ctr"/>
          <a:lstStyle/>
          <a:p>
            <a:pPr indent="0" marL="0">
              <a:buNone/>
            </a:pPr>
            <a:r>
              <a:rPr lang="en-US" sz="1000" b="1" spc="110" kern="0" dirty="0">
                <a:solidFill>
                  <a:srgbClr val="1976D2"/>
                </a:solidFill>
              </a:rPr>
              <a:t>5 • BASELINE И МОДЕЛИ</a:t>
            </a:r>
            <a:endParaRPr lang="en-US" sz="1000" dirty="0"/>
          </a:p>
        </p:txBody>
      </p:sp>
      <p:sp>
        <p:nvSpPr>
          <p:cNvPr id="3" name="Text 1"/>
          <p:cNvSpPr/>
          <p:nvPr/>
        </p:nvSpPr>
        <p:spPr>
          <a:xfrm>
            <a:off x="594360" y="804672"/>
            <a:ext cx="10972800" cy="566928"/>
          </a:xfrm>
          <a:prstGeom prst="rect">
            <a:avLst/>
          </a:prstGeom>
          <a:noFill/>
          <a:ln/>
        </p:spPr>
        <p:txBody>
          <a:bodyPr wrap="square" lIns="0" tIns="0" rIns="0" bIns="0" rtlCol="0" anchor="ctr">
            <a:normAutofit/>
          </a:bodyPr>
          <a:lstStyle/>
          <a:p>
            <a:pPr indent="0" marL="0">
              <a:buNone/>
            </a:pPr>
            <a:r>
              <a:rPr lang="en-US" sz="2700" b="1" dirty="0">
                <a:solidFill>
                  <a:srgbClr val="102A43"/>
                </a:solidFill>
              </a:rPr>
              <a:t>Эксперименты: почему выбран Random Forest</a:t>
            </a:r>
            <a:endParaRPr lang="en-US" sz="2700" dirty="0"/>
          </a:p>
        </p:txBody>
      </p:sp>
      <p:graphicFrame>
        <p:nvGraphicFramePr>
          <p:cNvPr id="4" name="Chart 0" descr=""/>
          <p:cNvGraphicFramePr/>
          <p:nvPr/>
        </p:nvGraphicFramePr>
        <p:xfrm>
          <a:off x="685800" y="1554480"/>
          <a:ext cx="5623560" cy="39319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720840" y="1600200"/>
            <a:ext cx="4617720" cy="1097280"/>
          </a:xfrm>
          <a:prstGeom prst="roundRect">
            <a:avLst>
              <a:gd name="adj" fmla="val 6667"/>
            </a:avLst>
          </a:prstGeom>
          <a:solidFill>
            <a:srgbClr val="FFFFFF"/>
          </a:solidFill>
          <a:ln w="15240">
            <a:solidFill>
              <a:srgbClr val="D9E2EC"/>
            </a:solidFill>
            <a:prstDash val="solid"/>
          </a:ln>
          <a:effectLst>
            <a:outerShdw sx="100000" sy="100000" kx="0" ky="0" algn="bl" rotWithShape="0" blurRad="19050" dist="50800" dir="2700000">
              <a:srgbClr val="B8C6D1">
                <a:alpha val="16000"/>
              </a:srgbClr>
            </a:outerShdw>
          </a:effectLst>
        </p:spPr>
      </p:sp>
      <p:sp>
        <p:nvSpPr>
          <p:cNvPr id="6" name="Shape 3"/>
          <p:cNvSpPr/>
          <p:nvPr/>
        </p:nvSpPr>
        <p:spPr>
          <a:xfrm>
            <a:off x="6720840" y="1600200"/>
            <a:ext cx="73152" cy="1097280"/>
          </a:xfrm>
          <a:prstGeom prst="rect">
            <a:avLst/>
          </a:prstGeom>
          <a:solidFill>
            <a:srgbClr val="1976D2"/>
          </a:solidFill>
          <a:ln w="12700">
            <a:solidFill>
              <a:srgbClr val="1976D2"/>
            </a:solidFill>
            <a:prstDash val="solid"/>
          </a:ln>
        </p:spPr>
      </p:sp>
      <p:sp>
        <p:nvSpPr>
          <p:cNvPr id="7" name="Text 4"/>
          <p:cNvSpPr/>
          <p:nvPr/>
        </p:nvSpPr>
        <p:spPr>
          <a:xfrm>
            <a:off x="6976872" y="1783080"/>
            <a:ext cx="4206240" cy="274320"/>
          </a:xfrm>
          <a:prstGeom prst="rect">
            <a:avLst/>
          </a:prstGeom>
          <a:noFill/>
          <a:ln/>
        </p:spPr>
        <p:txBody>
          <a:bodyPr wrap="square" lIns="0" tIns="0" rIns="0" bIns="0" rtlCol="0" anchor="ctr">
            <a:normAutofit/>
          </a:bodyPr>
          <a:lstStyle/>
          <a:p>
            <a:pPr indent="0" marL="0">
              <a:buNone/>
            </a:pPr>
            <a:r>
              <a:rPr lang="en-US" sz="1500" b="1" dirty="0">
                <a:solidFill>
                  <a:srgbClr val="102A43"/>
                </a:solidFill>
              </a:rPr>
              <a:t>Baseline: 4.517 MAE</a:t>
            </a:r>
            <a:endParaRPr lang="en-US" sz="1500" dirty="0"/>
          </a:p>
        </p:txBody>
      </p:sp>
      <p:sp>
        <p:nvSpPr>
          <p:cNvPr id="8" name="Text 5"/>
          <p:cNvSpPr/>
          <p:nvPr/>
        </p:nvSpPr>
        <p:spPr>
          <a:xfrm>
            <a:off x="6976872" y="2167128"/>
            <a:ext cx="4178808" cy="384048"/>
          </a:xfrm>
          <a:prstGeom prst="rect">
            <a:avLst/>
          </a:prstGeom>
          <a:noFill/>
          <a:ln/>
        </p:spPr>
        <p:txBody>
          <a:bodyPr wrap="square" lIns="254" tIns="254" rIns="254" bIns="254" rtlCol="0" anchor="ctr">
            <a:normAutofit/>
          </a:bodyPr>
          <a:lstStyle/>
          <a:p>
            <a:pPr indent="0" marL="0">
              <a:buNone/>
            </a:pPr>
            <a:r>
              <a:rPr lang="en-US" sz="1150" dirty="0">
                <a:solidFill>
                  <a:srgbClr val="243B53"/>
                </a:solidFill>
              </a:rPr>
              <a:t>Среднее продаж за предыдущие четыре недели.</a:t>
            </a:r>
            <a:endParaRPr lang="en-US" sz="1150" dirty="0"/>
          </a:p>
        </p:txBody>
      </p:sp>
      <p:sp>
        <p:nvSpPr>
          <p:cNvPr id="9" name="Shape 6"/>
          <p:cNvSpPr/>
          <p:nvPr/>
        </p:nvSpPr>
        <p:spPr>
          <a:xfrm>
            <a:off x="6720840" y="2880360"/>
            <a:ext cx="4617720" cy="1097280"/>
          </a:xfrm>
          <a:prstGeom prst="roundRect">
            <a:avLst>
              <a:gd name="adj" fmla="val 6667"/>
            </a:avLst>
          </a:prstGeom>
          <a:solidFill>
            <a:srgbClr val="FFFFFF"/>
          </a:solidFill>
          <a:ln w="15240">
            <a:solidFill>
              <a:srgbClr val="D9E2EC"/>
            </a:solidFill>
            <a:prstDash val="solid"/>
          </a:ln>
          <a:effectLst>
            <a:outerShdw sx="100000" sy="100000" kx="0" ky="0" algn="bl" rotWithShape="0" blurRad="19050" dist="50800" dir="2700000">
              <a:srgbClr val="B8C6D1">
                <a:alpha val="16000"/>
              </a:srgbClr>
            </a:outerShdw>
          </a:effectLst>
        </p:spPr>
      </p:sp>
      <p:sp>
        <p:nvSpPr>
          <p:cNvPr id="10" name="Shape 7"/>
          <p:cNvSpPr/>
          <p:nvPr/>
        </p:nvSpPr>
        <p:spPr>
          <a:xfrm>
            <a:off x="6720840" y="2880360"/>
            <a:ext cx="73152" cy="1097280"/>
          </a:xfrm>
          <a:prstGeom prst="rect">
            <a:avLst/>
          </a:prstGeom>
          <a:solidFill>
            <a:srgbClr val="F59E0B"/>
          </a:solidFill>
          <a:ln w="12700">
            <a:solidFill>
              <a:srgbClr val="F59E0B"/>
            </a:solidFill>
            <a:prstDash val="solid"/>
          </a:ln>
        </p:spPr>
      </p:sp>
      <p:sp>
        <p:nvSpPr>
          <p:cNvPr id="11" name="Text 8"/>
          <p:cNvSpPr/>
          <p:nvPr/>
        </p:nvSpPr>
        <p:spPr>
          <a:xfrm>
            <a:off x="6976872" y="3063240"/>
            <a:ext cx="4206240" cy="274320"/>
          </a:xfrm>
          <a:prstGeom prst="rect">
            <a:avLst/>
          </a:prstGeom>
          <a:noFill/>
          <a:ln/>
        </p:spPr>
        <p:txBody>
          <a:bodyPr wrap="square" lIns="0" tIns="0" rIns="0" bIns="0" rtlCol="0" anchor="ctr">
            <a:normAutofit/>
          </a:bodyPr>
          <a:lstStyle/>
          <a:p>
            <a:pPr indent="0" marL="0">
              <a:buNone/>
            </a:pPr>
            <a:r>
              <a:rPr lang="en-US" sz="1500" b="1" dirty="0">
                <a:solidFill>
                  <a:srgbClr val="102A43"/>
                </a:solidFill>
              </a:rPr>
              <a:t>Linear Regression: 4.766</a:t>
            </a:r>
            <a:endParaRPr lang="en-US" sz="1500" dirty="0"/>
          </a:p>
        </p:txBody>
      </p:sp>
      <p:sp>
        <p:nvSpPr>
          <p:cNvPr id="12" name="Text 9"/>
          <p:cNvSpPr/>
          <p:nvPr/>
        </p:nvSpPr>
        <p:spPr>
          <a:xfrm>
            <a:off x="6976872" y="3447288"/>
            <a:ext cx="4178808" cy="384048"/>
          </a:xfrm>
          <a:prstGeom prst="rect">
            <a:avLst/>
          </a:prstGeom>
          <a:noFill/>
          <a:ln/>
        </p:spPr>
        <p:txBody>
          <a:bodyPr wrap="square" lIns="254" tIns="254" rIns="254" bIns="254" rtlCol="0" anchor="ctr">
            <a:normAutofit/>
          </a:bodyPr>
          <a:lstStyle/>
          <a:p>
            <a:pPr indent="0" marL="0">
              <a:buNone/>
            </a:pPr>
            <a:r>
              <a:rPr lang="en-US" sz="1150" dirty="0">
                <a:solidFill>
                  <a:srgbClr val="243B53"/>
                </a:solidFill>
              </a:rPr>
              <a:t>Простая модель не уловила нелинейные зависимости и была хуже baseline.</a:t>
            </a:r>
            <a:endParaRPr lang="en-US" sz="1150" dirty="0"/>
          </a:p>
        </p:txBody>
      </p:sp>
      <p:sp>
        <p:nvSpPr>
          <p:cNvPr id="13" name="Shape 10"/>
          <p:cNvSpPr/>
          <p:nvPr/>
        </p:nvSpPr>
        <p:spPr>
          <a:xfrm>
            <a:off x="6720840" y="4160520"/>
            <a:ext cx="4617720" cy="1097280"/>
          </a:xfrm>
          <a:prstGeom prst="roundRect">
            <a:avLst>
              <a:gd name="adj" fmla="val 6667"/>
            </a:avLst>
          </a:prstGeom>
          <a:solidFill>
            <a:srgbClr val="FFFFFF"/>
          </a:solidFill>
          <a:ln w="15240">
            <a:solidFill>
              <a:srgbClr val="D9E2EC"/>
            </a:solidFill>
            <a:prstDash val="solid"/>
          </a:ln>
          <a:effectLst>
            <a:outerShdw sx="100000" sy="100000" kx="0" ky="0" algn="bl" rotWithShape="0" blurRad="19050" dist="50800" dir="2700000">
              <a:srgbClr val="B8C6D1">
                <a:alpha val="16000"/>
              </a:srgbClr>
            </a:outerShdw>
          </a:effectLst>
        </p:spPr>
      </p:sp>
      <p:sp>
        <p:nvSpPr>
          <p:cNvPr id="14" name="Shape 11"/>
          <p:cNvSpPr/>
          <p:nvPr/>
        </p:nvSpPr>
        <p:spPr>
          <a:xfrm>
            <a:off x="6720840" y="4160520"/>
            <a:ext cx="73152" cy="1097280"/>
          </a:xfrm>
          <a:prstGeom prst="rect">
            <a:avLst/>
          </a:prstGeom>
          <a:solidFill>
            <a:srgbClr val="178F65"/>
          </a:solidFill>
          <a:ln w="12700">
            <a:solidFill>
              <a:srgbClr val="178F65"/>
            </a:solidFill>
            <a:prstDash val="solid"/>
          </a:ln>
        </p:spPr>
      </p:sp>
      <p:sp>
        <p:nvSpPr>
          <p:cNvPr id="15" name="Text 12"/>
          <p:cNvSpPr/>
          <p:nvPr/>
        </p:nvSpPr>
        <p:spPr>
          <a:xfrm>
            <a:off x="6976872" y="4343400"/>
            <a:ext cx="4206240" cy="274320"/>
          </a:xfrm>
          <a:prstGeom prst="rect">
            <a:avLst/>
          </a:prstGeom>
          <a:noFill/>
          <a:ln/>
        </p:spPr>
        <p:txBody>
          <a:bodyPr wrap="square" lIns="0" tIns="0" rIns="0" bIns="0" rtlCol="0" anchor="ctr">
            <a:normAutofit/>
          </a:bodyPr>
          <a:lstStyle/>
          <a:p>
            <a:pPr indent="0" marL="0">
              <a:buNone/>
            </a:pPr>
            <a:r>
              <a:rPr lang="en-US" sz="1500" b="1" dirty="0">
                <a:solidFill>
                  <a:srgbClr val="102A43"/>
                </a:solidFill>
              </a:rPr>
              <a:t>Random Forest: 4.270</a:t>
            </a:r>
            <a:endParaRPr lang="en-US" sz="1500" dirty="0"/>
          </a:p>
        </p:txBody>
      </p:sp>
      <p:sp>
        <p:nvSpPr>
          <p:cNvPr id="16" name="Text 13"/>
          <p:cNvSpPr/>
          <p:nvPr/>
        </p:nvSpPr>
        <p:spPr>
          <a:xfrm>
            <a:off x="6976872" y="4727448"/>
            <a:ext cx="4178808" cy="384048"/>
          </a:xfrm>
          <a:prstGeom prst="rect">
            <a:avLst/>
          </a:prstGeom>
          <a:noFill/>
          <a:ln/>
        </p:spPr>
        <p:txBody>
          <a:bodyPr wrap="square" lIns="254" tIns="254" rIns="254" bIns="254" rtlCol="0" anchor="ctr">
            <a:normAutofit/>
          </a:bodyPr>
          <a:lstStyle/>
          <a:p>
            <a:pPr indent="0" marL="0">
              <a:buNone/>
            </a:pPr>
            <a:r>
              <a:rPr lang="en-US" sz="1150" dirty="0">
                <a:solidFill>
                  <a:srgbClr val="243B53"/>
                </a:solidFill>
              </a:rPr>
              <a:t>Лучший validation MAE: улучшение относительно baseline на 5.48%.</a:t>
            </a:r>
            <a:endParaRPr lang="en-US" sz="1150" dirty="0"/>
          </a:p>
        </p:txBody>
      </p:sp>
      <p:sp>
        <p:nvSpPr>
          <p:cNvPr id="17" name="Text 14"/>
          <p:cNvSpPr/>
          <p:nvPr/>
        </p:nvSpPr>
        <p:spPr>
          <a:xfrm>
            <a:off x="594360" y="6190488"/>
            <a:ext cx="10424160" cy="219456"/>
          </a:xfrm>
          <a:prstGeom prst="rect">
            <a:avLst/>
          </a:prstGeom>
          <a:noFill/>
          <a:ln/>
        </p:spPr>
        <p:txBody>
          <a:bodyPr wrap="square" lIns="0" tIns="0" rIns="0" bIns="0" rtlCol="0" anchor="ctr">
            <a:normAutofit/>
          </a:bodyPr>
          <a:lstStyle/>
          <a:p>
            <a:pPr indent="0" marL="0">
              <a:buNone/>
            </a:pPr>
            <a:r>
              <a:rPr lang="en-US" sz="1000" i="1" dirty="0">
                <a:solidFill>
                  <a:srgbClr val="627D98"/>
                </a:solidFill>
              </a:rPr>
              <a:t>Одинаковые split, 20 признаков и метрика; параметры и артефакты каждого запуска сохранены в MLflow.</a:t>
            </a:r>
            <a:endParaRPr lang="en-US" sz="1000" dirty="0"/>
          </a:p>
        </p:txBody>
      </p:sp>
      <p:sp>
        <p:nvSpPr>
          <p:cNvPr id="25" name="Slide Number Placeholder 0"/>
          <p:cNvSpPr>
            <a:spLocks noGrp="1"/>
          </p:cNvSpPr>
          <p:nvPr>
            <p:ph type="sldNum" sz="quarter" idx="4294967295"/>
          </p:nvPr>
        </p:nvSpPr>
        <p:spPr>
          <a:xfrm>
            <a:off x="11503152" y="6565392"/>
            <a:ext cx="182880" cy="13716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94360" y="530352"/>
            <a:ext cx="2926080" cy="219456"/>
          </a:xfrm>
          <a:prstGeom prst="rect">
            <a:avLst/>
          </a:prstGeom>
          <a:noFill/>
          <a:ln/>
        </p:spPr>
        <p:txBody>
          <a:bodyPr wrap="square" lIns="0" tIns="0" rIns="0" bIns="0" rtlCol="0" anchor="ctr"/>
          <a:lstStyle/>
          <a:p>
            <a:pPr indent="0" marL="0">
              <a:buNone/>
            </a:pPr>
            <a:r>
              <a:rPr lang="en-US" sz="1000" b="1" spc="110" kern="0" dirty="0">
                <a:solidFill>
                  <a:srgbClr val="1976D2"/>
                </a:solidFill>
              </a:rPr>
              <a:t>6 • PROTECTED TEST</a:t>
            </a:r>
            <a:endParaRPr lang="en-US" sz="1000" dirty="0"/>
          </a:p>
        </p:txBody>
      </p:sp>
      <p:sp>
        <p:nvSpPr>
          <p:cNvPr id="3" name="Text 1"/>
          <p:cNvSpPr/>
          <p:nvPr/>
        </p:nvSpPr>
        <p:spPr>
          <a:xfrm>
            <a:off x="594360" y="804672"/>
            <a:ext cx="10972800" cy="566928"/>
          </a:xfrm>
          <a:prstGeom prst="rect">
            <a:avLst/>
          </a:prstGeom>
          <a:noFill/>
          <a:ln/>
        </p:spPr>
        <p:txBody>
          <a:bodyPr wrap="square" lIns="0" tIns="0" rIns="0" bIns="0" rtlCol="0" anchor="ctr">
            <a:normAutofit/>
          </a:bodyPr>
          <a:lstStyle/>
          <a:p>
            <a:pPr indent="0" marL="0">
              <a:buNone/>
            </a:pPr>
            <a:r>
              <a:rPr lang="en-US" sz="2700" b="1" dirty="0">
                <a:solidFill>
                  <a:srgbClr val="102A43"/>
                </a:solidFill>
              </a:rPr>
              <a:t>Финальный результат на невидимых данных</a:t>
            </a:r>
            <a:endParaRPr lang="en-US" sz="2700" dirty="0"/>
          </a:p>
        </p:txBody>
      </p:sp>
      <p:sp>
        <p:nvSpPr>
          <p:cNvPr id="4" name="Shape 2"/>
          <p:cNvSpPr/>
          <p:nvPr/>
        </p:nvSpPr>
        <p:spPr>
          <a:xfrm>
            <a:off x="731520" y="1600200"/>
            <a:ext cx="2331720" cy="1005840"/>
          </a:xfrm>
          <a:prstGeom prst="roundRect">
            <a:avLst>
              <a:gd name="adj" fmla="val 5455"/>
            </a:avLst>
          </a:prstGeom>
          <a:solidFill>
            <a:srgbClr val="FFFFFF"/>
          </a:solidFill>
          <a:ln w="12700">
            <a:solidFill>
              <a:srgbClr val="D9E2EC"/>
            </a:solidFill>
            <a:prstDash val="solid"/>
          </a:ln>
        </p:spPr>
      </p:sp>
      <p:sp>
        <p:nvSpPr>
          <p:cNvPr id="5" name="Text 3"/>
          <p:cNvSpPr/>
          <p:nvPr/>
        </p:nvSpPr>
        <p:spPr>
          <a:xfrm>
            <a:off x="822960" y="1728216"/>
            <a:ext cx="2148840" cy="402336"/>
          </a:xfrm>
          <a:prstGeom prst="rect">
            <a:avLst/>
          </a:prstGeom>
          <a:noFill/>
          <a:ln/>
        </p:spPr>
        <p:txBody>
          <a:bodyPr wrap="square" lIns="0" tIns="0" rIns="0" bIns="0" rtlCol="0" anchor="ctr">
            <a:normAutofit/>
          </a:bodyPr>
          <a:lstStyle/>
          <a:p>
            <a:pPr algn="ctr" indent="0" marL="0">
              <a:buNone/>
            </a:pPr>
            <a:r>
              <a:rPr lang="en-US" sz="2400" b="1" dirty="0">
                <a:solidFill>
                  <a:srgbClr val="1976D2"/>
                </a:solidFill>
              </a:rPr>
              <a:t>57 480</a:t>
            </a:r>
            <a:endParaRPr lang="en-US" sz="2400" dirty="0"/>
          </a:p>
        </p:txBody>
      </p:sp>
      <p:sp>
        <p:nvSpPr>
          <p:cNvPr id="6" name="Text 4"/>
          <p:cNvSpPr/>
          <p:nvPr/>
        </p:nvSpPr>
        <p:spPr>
          <a:xfrm>
            <a:off x="841248" y="2212848"/>
            <a:ext cx="2112264" cy="237744"/>
          </a:xfrm>
          <a:prstGeom prst="rect">
            <a:avLst/>
          </a:prstGeom>
          <a:noFill/>
          <a:ln/>
        </p:spPr>
        <p:txBody>
          <a:bodyPr wrap="square" lIns="0" tIns="0" rIns="0" bIns="0" rtlCol="0" anchor="ctr">
            <a:normAutofit/>
          </a:bodyPr>
          <a:lstStyle/>
          <a:p>
            <a:pPr algn="ctr" indent="0" marL="0">
              <a:buNone/>
            </a:pPr>
            <a:r>
              <a:rPr lang="en-US" sz="1050" dirty="0">
                <a:solidFill>
                  <a:srgbClr val="627D98"/>
                </a:solidFill>
              </a:rPr>
              <a:t>test-строк</a:t>
            </a:r>
            <a:endParaRPr lang="en-US" sz="1050" dirty="0"/>
          </a:p>
        </p:txBody>
      </p:sp>
      <p:sp>
        <p:nvSpPr>
          <p:cNvPr id="7" name="Shape 5"/>
          <p:cNvSpPr/>
          <p:nvPr/>
        </p:nvSpPr>
        <p:spPr>
          <a:xfrm>
            <a:off x="3337560" y="1600200"/>
            <a:ext cx="2331720" cy="1005840"/>
          </a:xfrm>
          <a:prstGeom prst="roundRect">
            <a:avLst>
              <a:gd name="adj" fmla="val 5455"/>
            </a:avLst>
          </a:prstGeom>
          <a:solidFill>
            <a:srgbClr val="FFFFFF"/>
          </a:solidFill>
          <a:ln w="12700">
            <a:solidFill>
              <a:srgbClr val="D9E2EC"/>
            </a:solidFill>
            <a:prstDash val="solid"/>
          </a:ln>
        </p:spPr>
      </p:sp>
      <p:sp>
        <p:nvSpPr>
          <p:cNvPr id="8" name="Text 6"/>
          <p:cNvSpPr/>
          <p:nvPr/>
        </p:nvSpPr>
        <p:spPr>
          <a:xfrm>
            <a:off x="3429000" y="1728216"/>
            <a:ext cx="2148840" cy="402336"/>
          </a:xfrm>
          <a:prstGeom prst="rect">
            <a:avLst/>
          </a:prstGeom>
          <a:noFill/>
          <a:ln/>
        </p:spPr>
        <p:txBody>
          <a:bodyPr wrap="square" lIns="0" tIns="0" rIns="0" bIns="0" rtlCol="0" anchor="ctr">
            <a:normAutofit/>
          </a:bodyPr>
          <a:lstStyle/>
          <a:p>
            <a:pPr algn="ctr" indent="0" marL="0">
              <a:buNone/>
            </a:pPr>
            <a:r>
              <a:rPr lang="en-US" sz="2400" b="1" dirty="0">
                <a:solidFill>
                  <a:srgbClr val="178F65"/>
                </a:solidFill>
              </a:rPr>
              <a:t>4.4179</a:t>
            </a:r>
            <a:endParaRPr lang="en-US" sz="2400" dirty="0"/>
          </a:p>
        </p:txBody>
      </p:sp>
      <p:sp>
        <p:nvSpPr>
          <p:cNvPr id="9" name="Text 7"/>
          <p:cNvSpPr/>
          <p:nvPr/>
        </p:nvSpPr>
        <p:spPr>
          <a:xfrm>
            <a:off x="3447288" y="2212848"/>
            <a:ext cx="2112264" cy="237744"/>
          </a:xfrm>
          <a:prstGeom prst="rect">
            <a:avLst/>
          </a:prstGeom>
          <a:noFill/>
          <a:ln/>
        </p:spPr>
        <p:txBody>
          <a:bodyPr wrap="square" lIns="0" tIns="0" rIns="0" bIns="0" rtlCol="0" anchor="ctr">
            <a:normAutofit/>
          </a:bodyPr>
          <a:lstStyle/>
          <a:p>
            <a:pPr algn="ctr" indent="0" marL="0">
              <a:buNone/>
            </a:pPr>
            <a:r>
              <a:rPr lang="en-US" sz="1050" dirty="0">
                <a:solidFill>
                  <a:srgbClr val="627D98"/>
                </a:solidFill>
              </a:rPr>
              <a:t>Random Forest MAE</a:t>
            </a:r>
            <a:endParaRPr lang="en-US" sz="1050" dirty="0"/>
          </a:p>
        </p:txBody>
      </p:sp>
      <p:sp>
        <p:nvSpPr>
          <p:cNvPr id="10" name="Shape 8"/>
          <p:cNvSpPr/>
          <p:nvPr/>
        </p:nvSpPr>
        <p:spPr>
          <a:xfrm>
            <a:off x="5943600" y="1600200"/>
            <a:ext cx="2331720" cy="1005840"/>
          </a:xfrm>
          <a:prstGeom prst="roundRect">
            <a:avLst>
              <a:gd name="adj" fmla="val 5455"/>
            </a:avLst>
          </a:prstGeom>
          <a:solidFill>
            <a:srgbClr val="FFFFFF"/>
          </a:solidFill>
          <a:ln w="12700">
            <a:solidFill>
              <a:srgbClr val="D9E2EC"/>
            </a:solidFill>
            <a:prstDash val="solid"/>
          </a:ln>
        </p:spPr>
      </p:sp>
      <p:sp>
        <p:nvSpPr>
          <p:cNvPr id="11" name="Text 9"/>
          <p:cNvSpPr/>
          <p:nvPr/>
        </p:nvSpPr>
        <p:spPr>
          <a:xfrm>
            <a:off x="6035040" y="1728216"/>
            <a:ext cx="2148840" cy="402336"/>
          </a:xfrm>
          <a:prstGeom prst="rect">
            <a:avLst/>
          </a:prstGeom>
          <a:noFill/>
          <a:ln/>
        </p:spPr>
        <p:txBody>
          <a:bodyPr wrap="square" lIns="0" tIns="0" rIns="0" bIns="0" rtlCol="0" anchor="ctr">
            <a:normAutofit/>
          </a:bodyPr>
          <a:lstStyle/>
          <a:p>
            <a:pPr algn="ctr" indent="0" marL="0">
              <a:buNone/>
            </a:pPr>
            <a:r>
              <a:rPr lang="en-US" sz="2400" b="1" dirty="0">
                <a:solidFill>
                  <a:srgbClr val="F59E0B"/>
                </a:solidFill>
              </a:rPr>
              <a:t>4.7874</a:t>
            </a:r>
            <a:endParaRPr lang="en-US" sz="2400" dirty="0"/>
          </a:p>
        </p:txBody>
      </p:sp>
      <p:sp>
        <p:nvSpPr>
          <p:cNvPr id="12" name="Text 10"/>
          <p:cNvSpPr/>
          <p:nvPr/>
        </p:nvSpPr>
        <p:spPr>
          <a:xfrm>
            <a:off x="6053328" y="2212848"/>
            <a:ext cx="2112264" cy="237744"/>
          </a:xfrm>
          <a:prstGeom prst="rect">
            <a:avLst/>
          </a:prstGeom>
          <a:noFill/>
          <a:ln/>
        </p:spPr>
        <p:txBody>
          <a:bodyPr wrap="square" lIns="0" tIns="0" rIns="0" bIns="0" rtlCol="0" anchor="ctr">
            <a:normAutofit/>
          </a:bodyPr>
          <a:lstStyle/>
          <a:p>
            <a:pPr algn="ctr" indent="0" marL="0">
              <a:buNone/>
            </a:pPr>
            <a:r>
              <a:rPr lang="en-US" sz="1050" dirty="0">
                <a:solidFill>
                  <a:srgbClr val="627D98"/>
                </a:solidFill>
              </a:rPr>
              <a:t>baseline MAE</a:t>
            </a:r>
            <a:endParaRPr lang="en-US" sz="1050" dirty="0"/>
          </a:p>
        </p:txBody>
      </p:sp>
      <p:sp>
        <p:nvSpPr>
          <p:cNvPr id="13" name="Shape 11"/>
          <p:cNvSpPr/>
          <p:nvPr/>
        </p:nvSpPr>
        <p:spPr>
          <a:xfrm>
            <a:off x="8549640" y="1600200"/>
            <a:ext cx="2331720" cy="1005840"/>
          </a:xfrm>
          <a:prstGeom prst="roundRect">
            <a:avLst>
              <a:gd name="adj" fmla="val 5455"/>
            </a:avLst>
          </a:prstGeom>
          <a:solidFill>
            <a:srgbClr val="FFFFFF"/>
          </a:solidFill>
          <a:ln w="12700">
            <a:solidFill>
              <a:srgbClr val="D9E2EC"/>
            </a:solidFill>
            <a:prstDash val="solid"/>
          </a:ln>
        </p:spPr>
      </p:sp>
      <p:sp>
        <p:nvSpPr>
          <p:cNvPr id="14" name="Text 12"/>
          <p:cNvSpPr/>
          <p:nvPr/>
        </p:nvSpPr>
        <p:spPr>
          <a:xfrm>
            <a:off x="8641080" y="1728216"/>
            <a:ext cx="2148840" cy="402336"/>
          </a:xfrm>
          <a:prstGeom prst="rect">
            <a:avLst/>
          </a:prstGeom>
          <a:noFill/>
          <a:ln/>
        </p:spPr>
        <p:txBody>
          <a:bodyPr wrap="square" lIns="0" tIns="0" rIns="0" bIns="0" rtlCol="0" anchor="ctr">
            <a:normAutofit/>
          </a:bodyPr>
          <a:lstStyle/>
          <a:p>
            <a:pPr algn="ctr" indent="0" marL="0">
              <a:buNone/>
            </a:pPr>
            <a:r>
              <a:rPr lang="en-US" sz="2400" b="1" dirty="0">
                <a:solidFill>
                  <a:srgbClr val="178F65"/>
                </a:solidFill>
              </a:rPr>
              <a:t>7.72%</a:t>
            </a:r>
            <a:endParaRPr lang="en-US" sz="2400" dirty="0"/>
          </a:p>
        </p:txBody>
      </p:sp>
      <p:sp>
        <p:nvSpPr>
          <p:cNvPr id="15" name="Text 13"/>
          <p:cNvSpPr/>
          <p:nvPr/>
        </p:nvSpPr>
        <p:spPr>
          <a:xfrm>
            <a:off x="8659368" y="2212848"/>
            <a:ext cx="2112264" cy="237744"/>
          </a:xfrm>
          <a:prstGeom prst="rect">
            <a:avLst/>
          </a:prstGeom>
          <a:noFill/>
          <a:ln/>
        </p:spPr>
        <p:txBody>
          <a:bodyPr wrap="square" lIns="0" tIns="0" rIns="0" bIns="0" rtlCol="0" anchor="ctr">
            <a:normAutofit/>
          </a:bodyPr>
          <a:lstStyle/>
          <a:p>
            <a:pPr algn="ctr" indent="0" marL="0">
              <a:buNone/>
            </a:pPr>
            <a:r>
              <a:rPr lang="en-US" sz="1050" dirty="0">
                <a:solidFill>
                  <a:srgbClr val="627D98"/>
                </a:solidFill>
              </a:rPr>
              <a:t>улучшение MAE</a:t>
            </a:r>
            <a:endParaRPr lang="en-US" sz="1050" dirty="0"/>
          </a:p>
        </p:txBody>
      </p:sp>
      <p:sp>
        <p:nvSpPr>
          <p:cNvPr id="16" name="Shape 14"/>
          <p:cNvSpPr/>
          <p:nvPr/>
        </p:nvSpPr>
        <p:spPr>
          <a:xfrm>
            <a:off x="914400" y="3246120"/>
            <a:ext cx="10332720" cy="1325880"/>
          </a:xfrm>
          <a:prstGeom prst="roundRect">
            <a:avLst>
              <a:gd name="adj" fmla="val 4138"/>
            </a:avLst>
          </a:prstGeom>
          <a:solidFill>
            <a:srgbClr val="E8F5EE"/>
          </a:solidFill>
          <a:ln w="12700">
            <a:solidFill>
              <a:srgbClr val="9AD2B8"/>
            </a:solidFill>
            <a:prstDash val="solid"/>
          </a:ln>
        </p:spPr>
      </p:sp>
      <p:sp>
        <p:nvSpPr>
          <p:cNvPr id="17" name="Text 15"/>
          <p:cNvSpPr/>
          <p:nvPr/>
        </p:nvSpPr>
        <p:spPr>
          <a:xfrm>
            <a:off x="1234440" y="3529584"/>
            <a:ext cx="2926080" cy="347472"/>
          </a:xfrm>
          <a:prstGeom prst="rect">
            <a:avLst/>
          </a:prstGeom>
          <a:noFill/>
          <a:ln/>
        </p:spPr>
        <p:txBody>
          <a:bodyPr wrap="square" lIns="0" tIns="0" rIns="0" bIns="0" rtlCol="0" anchor="ctr"/>
          <a:lstStyle/>
          <a:p>
            <a:pPr indent="0" marL="0">
              <a:buNone/>
            </a:pPr>
            <a:r>
              <a:rPr lang="en-US" sz="1800" b="1" dirty="0">
                <a:solidFill>
                  <a:srgbClr val="178F65"/>
                </a:solidFill>
              </a:rPr>
              <a:t>Что означает MAE 4.4179?</a:t>
            </a:r>
            <a:endParaRPr lang="en-US" sz="1800" dirty="0"/>
          </a:p>
        </p:txBody>
      </p:sp>
      <p:sp>
        <p:nvSpPr>
          <p:cNvPr id="18" name="Text 16"/>
          <p:cNvSpPr/>
          <p:nvPr/>
        </p:nvSpPr>
        <p:spPr>
          <a:xfrm>
            <a:off x="3931920" y="3401568"/>
            <a:ext cx="6720840" cy="594360"/>
          </a:xfrm>
          <a:prstGeom prst="rect">
            <a:avLst/>
          </a:prstGeom>
          <a:noFill/>
          <a:ln/>
        </p:spPr>
        <p:txBody>
          <a:bodyPr wrap="square" lIns="254" tIns="254" rIns="254" bIns="254" rtlCol="0" anchor="ctr">
            <a:normAutofit/>
          </a:bodyPr>
          <a:lstStyle/>
          <a:p>
            <a:pPr indent="0" marL="0">
              <a:buNone/>
            </a:pPr>
            <a:r>
              <a:rPr lang="en-US" sz="1700" b="1" dirty="0">
                <a:solidFill>
                  <a:srgbClr val="102A43"/>
                </a:solidFill>
              </a:rPr>
              <a:t>В среднем прогноз отличается от фактических недельных продаж примерно на 4.42 единицы товара.</a:t>
            </a:r>
            <a:endParaRPr lang="en-US" sz="1700" dirty="0"/>
          </a:p>
        </p:txBody>
      </p:sp>
      <p:sp>
        <p:nvSpPr>
          <p:cNvPr id="19" name="Text 17"/>
          <p:cNvSpPr/>
          <p:nvPr/>
        </p:nvSpPr>
        <p:spPr>
          <a:xfrm>
            <a:off x="1234440" y="4983480"/>
            <a:ext cx="9738360" cy="621792"/>
          </a:xfrm>
          <a:prstGeom prst="rect">
            <a:avLst/>
          </a:prstGeom>
          <a:noFill/>
          <a:ln/>
        </p:spPr>
        <p:txBody>
          <a:bodyPr wrap="square" lIns="254" tIns="254" rIns="254" bIns="254" rtlCol="0" anchor="ctr">
            <a:normAutofit/>
          </a:bodyPr>
          <a:lstStyle/>
          <a:p>
            <a:pPr algn="ctr" indent="0" marL="0">
              <a:buNone/>
            </a:pPr>
            <a:r>
              <a:rPr lang="en-US" sz="1400" dirty="0">
                <a:solidFill>
                  <a:srgbClr val="243B53"/>
                </a:solidFill>
              </a:rPr>
              <a:t>Дополнительная метрика: RMSE = 9.1329. Она сильнее штрафует крупные ошибки и показывает, что редкие сложные недели всё ещё важны.</a:t>
            </a:r>
            <a:endParaRPr lang="en-US" sz="1400" dirty="0"/>
          </a:p>
        </p:txBody>
      </p:sp>
      <p:sp>
        <p:nvSpPr>
          <p:cNvPr id="20" name="Text 18"/>
          <p:cNvSpPr/>
          <p:nvPr/>
        </p:nvSpPr>
        <p:spPr>
          <a:xfrm>
            <a:off x="594360" y="6190488"/>
            <a:ext cx="10424160" cy="219456"/>
          </a:xfrm>
          <a:prstGeom prst="rect">
            <a:avLst/>
          </a:prstGeom>
          <a:noFill/>
          <a:ln/>
        </p:spPr>
        <p:txBody>
          <a:bodyPr wrap="square" lIns="0" tIns="0" rIns="0" bIns="0" rtlCol="0" anchor="ctr">
            <a:normAutofit/>
          </a:bodyPr>
          <a:lstStyle/>
          <a:p>
            <a:pPr indent="0" marL="0">
              <a:buNone/>
            </a:pPr>
            <a:r>
              <a:rPr lang="en-US" sz="1000" i="1" dirty="0">
                <a:solidFill>
                  <a:srgbClr val="627D98"/>
                </a:solidFill>
              </a:rPr>
              <a:t>Честный вывод: модель лучше baseline, но улучшение не отменяет анализ ошибок.</a:t>
            </a:r>
            <a:endParaRPr lang="en-US" sz="1000" dirty="0"/>
          </a:p>
        </p:txBody>
      </p:sp>
      <p:sp>
        <p:nvSpPr>
          <p:cNvPr id="25" name="Slide Number Placeholder 0"/>
          <p:cNvSpPr>
            <a:spLocks noGrp="1"/>
          </p:cNvSpPr>
          <p:nvPr>
            <p:ph type="sldNum" sz="quarter" idx="4294967295"/>
          </p:nvPr>
        </p:nvSpPr>
        <p:spPr>
          <a:xfrm>
            <a:off x="11503152" y="6565392"/>
            <a:ext cx="182880" cy="13716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94360" y="530352"/>
            <a:ext cx="2926080" cy="219456"/>
          </a:xfrm>
          <a:prstGeom prst="rect">
            <a:avLst/>
          </a:prstGeom>
          <a:noFill/>
          <a:ln/>
        </p:spPr>
        <p:txBody>
          <a:bodyPr wrap="square" lIns="0" tIns="0" rIns="0" bIns="0" rtlCol="0" anchor="ctr"/>
          <a:lstStyle/>
          <a:p>
            <a:pPr indent="0" marL="0">
              <a:buNone/>
            </a:pPr>
            <a:r>
              <a:rPr lang="en-US" sz="1000" b="1" spc="110" kern="0" dirty="0">
                <a:solidFill>
                  <a:srgbClr val="1976D2"/>
                </a:solidFill>
              </a:rPr>
              <a:t>7 • ERROR ANALYSIS</a:t>
            </a:r>
            <a:endParaRPr lang="en-US" sz="1000" dirty="0"/>
          </a:p>
        </p:txBody>
      </p:sp>
      <p:sp>
        <p:nvSpPr>
          <p:cNvPr id="3" name="Text 1"/>
          <p:cNvSpPr/>
          <p:nvPr/>
        </p:nvSpPr>
        <p:spPr>
          <a:xfrm>
            <a:off x="594360" y="804672"/>
            <a:ext cx="10972800" cy="566928"/>
          </a:xfrm>
          <a:prstGeom prst="rect">
            <a:avLst/>
          </a:prstGeom>
          <a:noFill/>
          <a:ln/>
        </p:spPr>
        <p:txBody>
          <a:bodyPr wrap="square" lIns="0" tIns="0" rIns="0" bIns="0" rtlCol="0" anchor="ctr">
            <a:normAutofit/>
          </a:bodyPr>
          <a:lstStyle/>
          <a:p>
            <a:pPr indent="0" marL="0">
              <a:buNone/>
            </a:pPr>
            <a:r>
              <a:rPr lang="en-US" sz="2700" b="1" dirty="0">
                <a:solidFill>
                  <a:srgbClr val="102A43"/>
                </a:solidFill>
              </a:rPr>
              <a:t>Где модель ошибается сильнее</a:t>
            </a:r>
            <a:endParaRPr lang="en-US" sz="2700" dirty="0"/>
          </a:p>
        </p:txBody>
      </p:sp>
      <p:sp>
        <p:nvSpPr>
          <p:cNvPr id="4" name="Shape 2"/>
          <p:cNvSpPr/>
          <p:nvPr/>
        </p:nvSpPr>
        <p:spPr>
          <a:xfrm>
            <a:off x="731520" y="1508760"/>
            <a:ext cx="2423160" cy="1005840"/>
          </a:xfrm>
          <a:prstGeom prst="roundRect">
            <a:avLst>
              <a:gd name="adj" fmla="val 5455"/>
            </a:avLst>
          </a:prstGeom>
          <a:solidFill>
            <a:srgbClr val="FFFFFF"/>
          </a:solidFill>
          <a:ln w="12700">
            <a:solidFill>
              <a:srgbClr val="D9E2EC"/>
            </a:solidFill>
            <a:prstDash val="solid"/>
          </a:ln>
        </p:spPr>
      </p:sp>
      <p:sp>
        <p:nvSpPr>
          <p:cNvPr id="5" name="Text 3"/>
          <p:cNvSpPr/>
          <p:nvPr/>
        </p:nvSpPr>
        <p:spPr>
          <a:xfrm>
            <a:off x="822960" y="1636776"/>
            <a:ext cx="2240280" cy="402336"/>
          </a:xfrm>
          <a:prstGeom prst="rect">
            <a:avLst/>
          </a:prstGeom>
          <a:noFill/>
          <a:ln/>
        </p:spPr>
        <p:txBody>
          <a:bodyPr wrap="square" lIns="0" tIns="0" rIns="0" bIns="0" rtlCol="0" anchor="ctr">
            <a:normAutofit/>
          </a:bodyPr>
          <a:lstStyle/>
          <a:p>
            <a:pPr algn="ctr" indent="0" marL="0">
              <a:buNone/>
            </a:pPr>
            <a:r>
              <a:rPr lang="en-US" sz="2400" b="1" dirty="0">
                <a:solidFill>
                  <a:srgbClr val="178F65"/>
                </a:solidFill>
              </a:rPr>
              <a:t>76.08%</a:t>
            </a:r>
            <a:endParaRPr lang="en-US" sz="2400" dirty="0"/>
          </a:p>
        </p:txBody>
      </p:sp>
      <p:sp>
        <p:nvSpPr>
          <p:cNvPr id="6" name="Text 4"/>
          <p:cNvSpPr/>
          <p:nvPr/>
        </p:nvSpPr>
        <p:spPr>
          <a:xfrm>
            <a:off x="841248" y="2121408"/>
            <a:ext cx="2203704" cy="237744"/>
          </a:xfrm>
          <a:prstGeom prst="rect">
            <a:avLst/>
          </a:prstGeom>
          <a:noFill/>
          <a:ln/>
        </p:spPr>
        <p:txBody>
          <a:bodyPr wrap="square" lIns="0" tIns="0" rIns="0" bIns="0" rtlCol="0" anchor="ctr">
            <a:normAutofit/>
          </a:bodyPr>
          <a:lstStyle/>
          <a:p>
            <a:pPr algn="ctr" indent="0" marL="0">
              <a:buNone/>
            </a:pPr>
            <a:r>
              <a:rPr lang="en-US" sz="1050" dirty="0">
                <a:solidFill>
                  <a:srgbClr val="627D98"/>
                </a:solidFill>
              </a:rPr>
              <a:t>ошибок ≤ 5 единиц</a:t>
            </a:r>
            <a:endParaRPr lang="en-US" sz="1050" dirty="0"/>
          </a:p>
        </p:txBody>
      </p:sp>
      <p:sp>
        <p:nvSpPr>
          <p:cNvPr id="7" name="Shape 5"/>
          <p:cNvSpPr/>
          <p:nvPr/>
        </p:nvSpPr>
        <p:spPr>
          <a:xfrm>
            <a:off x="3429000" y="1508760"/>
            <a:ext cx="2423160" cy="1005840"/>
          </a:xfrm>
          <a:prstGeom prst="roundRect">
            <a:avLst>
              <a:gd name="adj" fmla="val 5455"/>
            </a:avLst>
          </a:prstGeom>
          <a:solidFill>
            <a:srgbClr val="FFFFFF"/>
          </a:solidFill>
          <a:ln w="12700">
            <a:solidFill>
              <a:srgbClr val="D9E2EC"/>
            </a:solidFill>
            <a:prstDash val="solid"/>
          </a:ln>
        </p:spPr>
      </p:sp>
      <p:sp>
        <p:nvSpPr>
          <p:cNvPr id="8" name="Text 6"/>
          <p:cNvSpPr/>
          <p:nvPr/>
        </p:nvSpPr>
        <p:spPr>
          <a:xfrm>
            <a:off x="3520440" y="1636776"/>
            <a:ext cx="2240280" cy="402336"/>
          </a:xfrm>
          <a:prstGeom prst="rect">
            <a:avLst/>
          </a:prstGeom>
          <a:noFill/>
          <a:ln/>
        </p:spPr>
        <p:txBody>
          <a:bodyPr wrap="square" lIns="0" tIns="0" rIns="0" bIns="0" rtlCol="0" anchor="ctr">
            <a:normAutofit/>
          </a:bodyPr>
          <a:lstStyle/>
          <a:p>
            <a:pPr algn="ctr" indent="0" marL="0">
              <a:buNone/>
            </a:pPr>
            <a:r>
              <a:rPr lang="en-US" sz="2400" b="1" dirty="0">
                <a:solidFill>
                  <a:srgbClr val="1976D2"/>
                </a:solidFill>
              </a:rPr>
              <a:t>2.34</a:t>
            </a:r>
            <a:endParaRPr lang="en-US" sz="2400" dirty="0"/>
          </a:p>
        </p:txBody>
      </p:sp>
      <p:sp>
        <p:nvSpPr>
          <p:cNvPr id="9" name="Text 7"/>
          <p:cNvSpPr/>
          <p:nvPr/>
        </p:nvSpPr>
        <p:spPr>
          <a:xfrm>
            <a:off x="3538728" y="2121408"/>
            <a:ext cx="2203704" cy="237744"/>
          </a:xfrm>
          <a:prstGeom prst="rect">
            <a:avLst/>
          </a:prstGeom>
          <a:noFill/>
          <a:ln/>
        </p:spPr>
        <p:txBody>
          <a:bodyPr wrap="square" lIns="0" tIns="0" rIns="0" bIns="0" rtlCol="0" anchor="ctr">
            <a:normAutofit/>
          </a:bodyPr>
          <a:lstStyle/>
          <a:p>
            <a:pPr algn="ctr" indent="0" marL="0">
              <a:buNone/>
            </a:pPr>
            <a:r>
              <a:rPr lang="en-US" sz="1050" dirty="0">
                <a:solidFill>
                  <a:srgbClr val="627D98"/>
                </a:solidFill>
              </a:rPr>
              <a:t>медианная ошибка</a:t>
            </a:r>
            <a:endParaRPr lang="en-US" sz="1050" dirty="0"/>
          </a:p>
        </p:txBody>
      </p:sp>
      <p:sp>
        <p:nvSpPr>
          <p:cNvPr id="10" name="Shape 8"/>
          <p:cNvSpPr/>
          <p:nvPr/>
        </p:nvSpPr>
        <p:spPr>
          <a:xfrm>
            <a:off x="6126480" y="1508760"/>
            <a:ext cx="2423160" cy="1005840"/>
          </a:xfrm>
          <a:prstGeom prst="roundRect">
            <a:avLst>
              <a:gd name="adj" fmla="val 5455"/>
            </a:avLst>
          </a:prstGeom>
          <a:solidFill>
            <a:srgbClr val="FFFFFF"/>
          </a:solidFill>
          <a:ln w="12700">
            <a:solidFill>
              <a:srgbClr val="D9E2EC"/>
            </a:solidFill>
            <a:prstDash val="solid"/>
          </a:ln>
        </p:spPr>
      </p:sp>
      <p:sp>
        <p:nvSpPr>
          <p:cNvPr id="11" name="Text 9"/>
          <p:cNvSpPr/>
          <p:nvPr/>
        </p:nvSpPr>
        <p:spPr>
          <a:xfrm>
            <a:off x="6217920" y="1636776"/>
            <a:ext cx="2240280" cy="402336"/>
          </a:xfrm>
          <a:prstGeom prst="rect">
            <a:avLst/>
          </a:prstGeom>
          <a:noFill/>
          <a:ln/>
        </p:spPr>
        <p:txBody>
          <a:bodyPr wrap="square" lIns="0" tIns="0" rIns="0" bIns="0" rtlCol="0" anchor="ctr">
            <a:normAutofit/>
          </a:bodyPr>
          <a:lstStyle/>
          <a:p>
            <a:pPr algn="ctr" indent="0" marL="0">
              <a:buNone/>
            </a:pPr>
            <a:r>
              <a:rPr lang="en-US" sz="2400" b="1" dirty="0">
                <a:solidFill>
                  <a:srgbClr val="D64545"/>
                </a:solidFill>
              </a:rPr>
              <a:t>12.33</a:t>
            </a:r>
            <a:endParaRPr lang="en-US" sz="2400" dirty="0"/>
          </a:p>
        </p:txBody>
      </p:sp>
      <p:sp>
        <p:nvSpPr>
          <p:cNvPr id="12" name="Text 10"/>
          <p:cNvSpPr/>
          <p:nvPr/>
        </p:nvSpPr>
        <p:spPr>
          <a:xfrm>
            <a:off x="6236208" y="2121408"/>
            <a:ext cx="2203704" cy="237744"/>
          </a:xfrm>
          <a:prstGeom prst="rect">
            <a:avLst/>
          </a:prstGeom>
          <a:noFill/>
          <a:ln/>
        </p:spPr>
        <p:txBody>
          <a:bodyPr wrap="square" lIns="0" tIns="0" rIns="0" bIns="0" rtlCol="0" anchor="ctr">
            <a:normAutofit/>
          </a:bodyPr>
          <a:lstStyle/>
          <a:p>
            <a:pPr algn="ctr" indent="0" marL="0">
              <a:buNone/>
            </a:pPr>
            <a:r>
              <a:rPr lang="en-US" sz="1050" dirty="0">
                <a:solidFill>
                  <a:srgbClr val="627D98"/>
                </a:solidFill>
              </a:rPr>
              <a:t>MAE при спросе 21+</a:t>
            </a:r>
            <a:endParaRPr lang="en-US" sz="1050" dirty="0"/>
          </a:p>
        </p:txBody>
      </p:sp>
      <p:sp>
        <p:nvSpPr>
          <p:cNvPr id="13" name="Shape 11"/>
          <p:cNvSpPr/>
          <p:nvPr/>
        </p:nvSpPr>
        <p:spPr>
          <a:xfrm>
            <a:off x="8823960" y="1508760"/>
            <a:ext cx="2423160" cy="1005840"/>
          </a:xfrm>
          <a:prstGeom prst="roundRect">
            <a:avLst>
              <a:gd name="adj" fmla="val 5455"/>
            </a:avLst>
          </a:prstGeom>
          <a:solidFill>
            <a:srgbClr val="FFFFFF"/>
          </a:solidFill>
          <a:ln w="12700">
            <a:solidFill>
              <a:srgbClr val="D9E2EC"/>
            </a:solidFill>
            <a:prstDash val="solid"/>
          </a:ln>
        </p:spPr>
      </p:sp>
      <p:sp>
        <p:nvSpPr>
          <p:cNvPr id="14" name="Text 12"/>
          <p:cNvSpPr/>
          <p:nvPr/>
        </p:nvSpPr>
        <p:spPr>
          <a:xfrm>
            <a:off x="8915400" y="1636776"/>
            <a:ext cx="2240280" cy="402336"/>
          </a:xfrm>
          <a:prstGeom prst="rect">
            <a:avLst/>
          </a:prstGeom>
          <a:noFill/>
          <a:ln/>
        </p:spPr>
        <p:txBody>
          <a:bodyPr wrap="square" lIns="0" tIns="0" rIns="0" bIns="0" rtlCol="0" anchor="ctr">
            <a:normAutofit/>
          </a:bodyPr>
          <a:lstStyle/>
          <a:p>
            <a:pPr algn="ctr" indent="0" marL="0">
              <a:buNone/>
            </a:pPr>
            <a:r>
              <a:rPr lang="en-US" sz="2400" b="1" dirty="0">
                <a:solidFill>
                  <a:srgbClr val="D64545"/>
                </a:solidFill>
              </a:rPr>
              <a:t>−5.10</a:t>
            </a:r>
            <a:endParaRPr lang="en-US" sz="2400" dirty="0"/>
          </a:p>
        </p:txBody>
      </p:sp>
      <p:sp>
        <p:nvSpPr>
          <p:cNvPr id="15" name="Text 13"/>
          <p:cNvSpPr/>
          <p:nvPr/>
        </p:nvSpPr>
        <p:spPr>
          <a:xfrm>
            <a:off x="8933688" y="2121408"/>
            <a:ext cx="2203704" cy="237744"/>
          </a:xfrm>
          <a:prstGeom prst="rect">
            <a:avLst/>
          </a:prstGeom>
          <a:noFill/>
          <a:ln/>
        </p:spPr>
        <p:txBody>
          <a:bodyPr wrap="square" lIns="0" tIns="0" rIns="0" bIns="0" rtlCol="0" anchor="ctr">
            <a:normAutofit/>
          </a:bodyPr>
          <a:lstStyle/>
          <a:p>
            <a:pPr algn="ctr" indent="0" marL="0">
              <a:buNone/>
            </a:pPr>
            <a:r>
              <a:rPr lang="en-US" sz="1050" dirty="0">
                <a:solidFill>
                  <a:srgbClr val="627D98"/>
                </a:solidFill>
              </a:rPr>
              <a:t>среднее недопредсказание 21+</a:t>
            </a:r>
            <a:endParaRPr lang="en-US" sz="1050" dirty="0"/>
          </a:p>
        </p:txBody>
      </p:sp>
      <p:sp>
        <p:nvSpPr>
          <p:cNvPr id="16" name="Shape 14"/>
          <p:cNvSpPr/>
          <p:nvPr/>
        </p:nvSpPr>
        <p:spPr>
          <a:xfrm>
            <a:off x="731520" y="3063240"/>
            <a:ext cx="3337560" cy="1417320"/>
          </a:xfrm>
          <a:prstGeom prst="roundRect">
            <a:avLst>
              <a:gd name="adj" fmla="val 5161"/>
            </a:avLst>
          </a:prstGeom>
          <a:solidFill>
            <a:srgbClr val="FFFFFF"/>
          </a:solidFill>
          <a:ln w="15240">
            <a:solidFill>
              <a:srgbClr val="D9E2EC"/>
            </a:solidFill>
            <a:prstDash val="solid"/>
          </a:ln>
          <a:effectLst>
            <a:outerShdw sx="100000" sy="100000" kx="0" ky="0" algn="bl" rotWithShape="0" blurRad="19050" dist="50800" dir="2700000">
              <a:srgbClr val="B8C6D1">
                <a:alpha val="16000"/>
              </a:srgbClr>
            </a:outerShdw>
          </a:effectLst>
        </p:spPr>
      </p:sp>
      <p:sp>
        <p:nvSpPr>
          <p:cNvPr id="17" name="Shape 15"/>
          <p:cNvSpPr/>
          <p:nvPr/>
        </p:nvSpPr>
        <p:spPr>
          <a:xfrm>
            <a:off x="731520" y="3063240"/>
            <a:ext cx="73152" cy="1417320"/>
          </a:xfrm>
          <a:prstGeom prst="rect">
            <a:avLst/>
          </a:prstGeom>
          <a:solidFill>
            <a:srgbClr val="F59E0B"/>
          </a:solidFill>
          <a:ln w="12700">
            <a:solidFill>
              <a:srgbClr val="F59E0B"/>
            </a:solidFill>
            <a:prstDash val="solid"/>
          </a:ln>
        </p:spPr>
      </p:sp>
      <p:sp>
        <p:nvSpPr>
          <p:cNvPr id="18" name="Text 16"/>
          <p:cNvSpPr/>
          <p:nvPr/>
        </p:nvSpPr>
        <p:spPr>
          <a:xfrm>
            <a:off x="987552" y="3246120"/>
            <a:ext cx="2926080" cy="274320"/>
          </a:xfrm>
          <a:prstGeom prst="rect">
            <a:avLst/>
          </a:prstGeom>
          <a:noFill/>
          <a:ln/>
        </p:spPr>
        <p:txBody>
          <a:bodyPr wrap="square" lIns="0" tIns="0" rIns="0" bIns="0" rtlCol="0" anchor="ctr">
            <a:normAutofit/>
          </a:bodyPr>
          <a:lstStyle/>
          <a:p>
            <a:pPr indent="0" marL="0">
              <a:buNone/>
            </a:pPr>
            <a:r>
              <a:rPr lang="en-US" sz="1500" b="1" dirty="0">
                <a:solidFill>
                  <a:srgbClr val="102A43"/>
                </a:solidFill>
              </a:rPr>
              <a:t>Слабый магазин</a:t>
            </a:r>
            <a:endParaRPr lang="en-US" sz="1500" dirty="0"/>
          </a:p>
        </p:txBody>
      </p:sp>
      <p:sp>
        <p:nvSpPr>
          <p:cNvPr id="19" name="Text 17"/>
          <p:cNvSpPr/>
          <p:nvPr/>
        </p:nvSpPr>
        <p:spPr>
          <a:xfrm>
            <a:off x="987552" y="3630168"/>
            <a:ext cx="2898648" cy="704088"/>
          </a:xfrm>
          <a:prstGeom prst="rect">
            <a:avLst/>
          </a:prstGeom>
          <a:noFill/>
          <a:ln/>
        </p:spPr>
        <p:txBody>
          <a:bodyPr wrap="square" lIns="254" tIns="254" rIns="254" bIns="254" rtlCol="0" anchor="ctr">
            <a:normAutofit/>
          </a:bodyPr>
          <a:lstStyle/>
          <a:p>
            <a:pPr indent="0" marL="0">
              <a:buNone/>
            </a:pPr>
            <a:r>
              <a:rPr lang="en-US" sz="1150" dirty="0">
                <a:solidFill>
                  <a:srgbClr val="243B53"/>
                </a:solidFill>
              </a:rPr>
              <a:t>WI_2 имеет самый высокий test MAE среди магазинов.</a:t>
            </a:r>
            <a:endParaRPr lang="en-US" sz="1150" dirty="0"/>
          </a:p>
        </p:txBody>
      </p:sp>
      <p:sp>
        <p:nvSpPr>
          <p:cNvPr id="20" name="Shape 18"/>
          <p:cNvSpPr/>
          <p:nvPr/>
        </p:nvSpPr>
        <p:spPr>
          <a:xfrm>
            <a:off x="4434840" y="3063240"/>
            <a:ext cx="3337560" cy="1417320"/>
          </a:xfrm>
          <a:prstGeom prst="roundRect">
            <a:avLst>
              <a:gd name="adj" fmla="val 5161"/>
            </a:avLst>
          </a:prstGeom>
          <a:solidFill>
            <a:srgbClr val="FFFFFF"/>
          </a:solidFill>
          <a:ln w="15240">
            <a:solidFill>
              <a:srgbClr val="D9E2EC"/>
            </a:solidFill>
            <a:prstDash val="solid"/>
          </a:ln>
          <a:effectLst>
            <a:outerShdw sx="100000" sy="100000" kx="0" ky="0" algn="bl" rotWithShape="0" blurRad="19050" dist="50800" dir="2700000">
              <a:srgbClr val="B8C6D1">
                <a:alpha val="16000"/>
              </a:srgbClr>
            </a:outerShdw>
          </a:effectLst>
        </p:spPr>
      </p:sp>
      <p:sp>
        <p:nvSpPr>
          <p:cNvPr id="21" name="Shape 19"/>
          <p:cNvSpPr/>
          <p:nvPr/>
        </p:nvSpPr>
        <p:spPr>
          <a:xfrm>
            <a:off x="4434840" y="3063240"/>
            <a:ext cx="73152" cy="1417320"/>
          </a:xfrm>
          <a:prstGeom prst="rect">
            <a:avLst/>
          </a:prstGeom>
          <a:solidFill>
            <a:srgbClr val="F59E0B"/>
          </a:solidFill>
          <a:ln w="12700">
            <a:solidFill>
              <a:srgbClr val="F59E0B"/>
            </a:solidFill>
            <a:prstDash val="solid"/>
          </a:ln>
        </p:spPr>
      </p:sp>
      <p:sp>
        <p:nvSpPr>
          <p:cNvPr id="22" name="Text 20"/>
          <p:cNvSpPr/>
          <p:nvPr/>
        </p:nvSpPr>
        <p:spPr>
          <a:xfrm>
            <a:off x="4690872" y="3246120"/>
            <a:ext cx="2926080" cy="274320"/>
          </a:xfrm>
          <a:prstGeom prst="rect">
            <a:avLst/>
          </a:prstGeom>
          <a:noFill/>
          <a:ln/>
        </p:spPr>
        <p:txBody>
          <a:bodyPr wrap="square" lIns="0" tIns="0" rIns="0" bIns="0" rtlCol="0" anchor="ctr">
            <a:normAutofit/>
          </a:bodyPr>
          <a:lstStyle/>
          <a:p>
            <a:pPr indent="0" marL="0">
              <a:buNone/>
            </a:pPr>
            <a:r>
              <a:rPr lang="en-US" sz="1500" b="1" dirty="0">
                <a:solidFill>
                  <a:srgbClr val="102A43"/>
                </a:solidFill>
              </a:rPr>
              <a:t>Слабый отдел</a:t>
            </a:r>
            <a:endParaRPr lang="en-US" sz="1500" dirty="0"/>
          </a:p>
        </p:txBody>
      </p:sp>
      <p:sp>
        <p:nvSpPr>
          <p:cNvPr id="23" name="Text 21"/>
          <p:cNvSpPr/>
          <p:nvPr/>
        </p:nvSpPr>
        <p:spPr>
          <a:xfrm>
            <a:off x="4690872" y="3630168"/>
            <a:ext cx="2898648" cy="704088"/>
          </a:xfrm>
          <a:prstGeom prst="rect">
            <a:avLst/>
          </a:prstGeom>
          <a:noFill/>
          <a:ln/>
        </p:spPr>
        <p:txBody>
          <a:bodyPr wrap="square" lIns="254" tIns="254" rIns="254" bIns="254" rtlCol="0" anchor="ctr">
            <a:normAutofit/>
          </a:bodyPr>
          <a:lstStyle/>
          <a:p>
            <a:pPr indent="0" marL="0">
              <a:buNone/>
            </a:pPr>
            <a:r>
              <a:rPr lang="en-US" sz="1150" dirty="0">
                <a:solidFill>
                  <a:srgbClr val="243B53"/>
                </a:solidFill>
              </a:rPr>
              <a:t>FOODS_3 — самый сложный отдел по test MAE.</a:t>
            </a:r>
            <a:endParaRPr lang="en-US" sz="1150" dirty="0"/>
          </a:p>
        </p:txBody>
      </p:sp>
      <p:sp>
        <p:nvSpPr>
          <p:cNvPr id="24" name="Shape 22"/>
          <p:cNvSpPr/>
          <p:nvPr/>
        </p:nvSpPr>
        <p:spPr>
          <a:xfrm>
            <a:off x="8138160" y="3063240"/>
            <a:ext cx="3337560" cy="1417320"/>
          </a:xfrm>
          <a:prstGeom prst="roundRect">
            <a:avLst>
              <a:gd name="adj" fmla="val 5161"/>
            </a:avLst>
          </a:prstGeom>
          <a:solidFill>
            <a:srgbClr val="FFFFFF"/>
          </a:solidFill>
          <a:ln w="15240">
            <a:solidFill>
              <a:srgbClr val="D9E2EC"/>
            </a:solidFill>
            <a:prstDash val="solid"/>
          </a:ln>
          <a:effectLst>
            <a:outerShdw sx="100000" sy="100000" kx="0" ky="0" algn="bl" rotWithShape="0" blurRad="19050" dist="50800" dir="2700000">
              <a:srgbClr val="B8C6D1">
                <a:alpha val="16000"/>
              </a:srgbClr>
            </a:outerShdw>
          </a:effectLst>
        </p:spPr>
      </p:sp>
      <p:sp>
        <p:nvSpPr>
          <p:cNvPr id="25" name="Shape 23"/>
          <p:cNvSpPr/>
          <p:nvPr/>
        </p:nvSpPr>
        <p:spPr>
          <a:xfrm>
            <a:off x="8138160" y="3063240"/>
            <a:ext cx="73152" cy="1417320"/>
          </a:xfrm>
          <a:prstGeom prst="rect">
            <a:avLst/>
          </a:prstGeom>
          <a:solidFill>
            <a:srgbClr val="D64545"/>
          </a:solidFill>
          <a:ln w="12700">
            <a:solidFill>
              <a:srgbClr val="D64545"/>
            </a:solidFill>
            <a:prstDash val="solid"/>
          </a:ln>
        </p:spPr>
      </p:sp>
      <p:sp>
        <p:nvSpPr>
          <p:cNvPr id="26" name="Text 24"/>
          <p:cNvSpPr/>
          <p:nvPr/>
        </p:nvSpPr>
        <p:spPr>
          <a:xfrm>
            <a:off x="8394192" y="3246120"/>
            <a:ext cx="2926080" cy="274320"/>
          </a:xfrm>
          <a:prstGeom prst="rect">
            <a:avLst/>
          </a:prstGeom>
          <a:noFill/>
          <a:ln/>
        </p:spPr>
        <p:txBody>
          <a:bodyPr wrap="square" lIns="0" tIns="0" rIns="0" bIns="0" rtlCol="0" anchor="ctr">
            <a:normAutofit/>
          </a:bodyPr>
          <a:lstStyle/>
          <a:p>
            <a:pPr indent="0" marL="0">
              <a:buNone/>
            </a:pPr>
            <a:r>
              <a:rPr lang="en-US" sz="1500" b="1" dirty="0">
                <a:solidFill>
                  <a:srgbClr val="102A43"/>
                </a:solidFill>
              </a:rPr>
              <a:t>Главный риск</a:t>
            </a:r>
            <a:endParaRPr lang="en-US" sz="1500" dirty="0"/>
          </a:p>
        </p:txBody>
      </p:sp>
      <p:sp>
        <p:nvSpPr>
          <p:cNvPr id="27" name="Text 25"/>
          <p:cNvSpPr/>
          <p:nvPr/>
        </p:nvSpPr>
        <p:spPr>
          <a:xfrm>
            <a:off x="8394192" y="3630168"/>
            <a:ext cx="2898648" cy="704088"/>
          </a:xfrm>
          <a:prstGeom prst="rect">
            <a:avLst/>
          </a:prstGeom>
          <a:noFill/>
          <a:ln/>
        </p:spPr>
        <p:txBody>
          <a:bodyPr wrap="square" lIns="254" tIns="254" rIns="254" bIns="254" rtlCol="0" anchor="ctr">
            <a:normAutofit/>
          </a:bodyPr>
          <a:lstStyle/>
          <a:p>
            <a:pPr indent="0" marL="0">
              <a:buNone/>
            </a:pPr>
            <a:r>
              <a:rPr lang="en-US" sz="1150" dirty="0">
                <a:solidFill>
                  <a:srgbClr val="243B53"/>
                </a:solidFill>
              </a:rPr>
              <a:t>Во время всплесков модель склонна недооценивать спрос — возможен недостаток запасов.</a:t>
            </a:r>
            <a:endParaRPr lang="en-US" sz="1150" dirty="0"/>
          </a:p>
        </p:txBody>
      </p:sp>
      <p:sp>
        <p:nvSpPr>
          <p:cNvPr id="28" name="Shape 26"/>
          <p:cNvSpPr/>
          <p:nvPr/>
        </p:nvSpPr>
        <p:spPr>
          <a:xfrm>
            <a:off x="1371600" y="4983480"/>
            <a:ext cx="9418320" cy="658368"/>
          </a:xfrm>
          <a:prstGeom prst="roundRect">
            <a:avLst>
              <a:gd name="adj" fmla="val 5556"/>
            </a:avLst>
          </a:prstGeom>
          <a:solidFill>
            <a:srgbClr val="FFF7E6"/>
          </a:solidFill>
          <a:ln w="12700">
            <a:solidFill>
              <a:srgbClr val="F7C873"/>
            </a:solidFill>
            <a:prstDash val="solid"/>
          </a:ln>
        </p:spPr>
      </p:sp>
      <p:sp>
        <p:nvSpPr>
          <p:cNvPr id="29" name="Text 27"/>
          <p:cNvSpPr/>
          <p:nvPr/>
        </p:nvSpPr>
        <p:spPr>
          <a:xfrm>
            <a:off x="1645920" y="5184648"/>
            <a:ext cx="8869680" cy="256032"/>
          </a:xfrm>
          <a:prstGeom prst="rect">
            <a:avLst/>
          </a:prstGeom>
          <a:noFill/>
          <a:ln/>
        </p:spPr>
        <p:txBody>
          <a:bodyPr wrap="square" lIns="0" tIns="0" rIns="0" bIns="0" rtlCol="0" anchor="ctr"/>
          <a:lstStyle/>
          <a:p>
            <a:pPr algn="ctr" indent="0" marL="0">
              <a:buNone/>
            </a:pPr>
            <a:r>
              <a:rPr lang="en-US" sz="1700" b="1" dirty="0">
                <a:solidFill>
                  <a:srgbClr val="9A5B00"/>
                </a:solidFill>
              </a:rPr>
              <a:t>Решение: прогнозы высоких объёмов должны проходить human review.</a:t>
            </a:r>
            <a:endParaRPr lang="en-US" sz="1700" dirty="0"/>
          </a:p>
        </p:txBody>
      </p:sp>
      <p:sp>
        <p:nvSpPr>
          <p:cNvPr id="30" name="Text 28"/>
          <p:cNvSpPr/>
          <p:nvPr/>
        </p:nvSpPr>
        <p:spPr>
          <a:xfrm>
            <a:off x="594360" y="6190488"/>
            <a:ext cx="10424160" cy="219456"/>
          </a:xfrm>
          <a:prstGeom prst="rect">
            <a:avLst/>
          </a:prstGeom>
          <a:noFill/>
          <a:ln/>
        </p:spPr>
        <p:txBody>
          <a:bodyPr wrap="square" lIns="0" tIns="0" rIns="0" bIns="0" rtlCol="0" anchor="ctr">
            <a:normAutofit/>
          </a:bodyPr>
          <a:lstStyle/>
          <a:p>
            <a:pPr indent="0" marL="0">
              <a:buNone/>
            </a:pPr>
            <a:r>
              <a:rPr lang="en-US" sz="1000" i="1" dirty="0">
                <a:solidFill>
                  <a:srgbClr val="627D98"/>
                </a:solidFill>
              </a:rPr>
              <a:t>Сохранены 25 конкретных худших случаев; ошибки не скрываются и не используются для повторной настройки test.</a:t>
            </a:r>
            <a:endParaRPr lang="en-US" sz="1000" dirty="0"/>
          </a:p>
        </p:txBody>
      </p:sp>
      <p:sp>
        <p:nvSpPr>
          <p:cNvPr id="25" name="Slide Number Placeholder 0"/>
          <p:cNvSpPr>
            <a:spLocks noGrp="1"/>
          </p:cNvSpPr>
          <p:nvPr>
            <p:ph type="sldNum" sz="quarter" idx="4294967295"/>
          </p:nvPr>
        </p:nvSpPr>
        <p:spPr>
          <a:xfrm>
            <a:off x="11503152" y="6565392"/>
            <a:ext cx="182880" cy="13716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94360" y="530352"/>
            <a:ext cx="2926080" cy="219456"/>
          </a:xfrm>
          <a:prstGeom prst="rect">
            <a:avLst/>
          </a:prstGeom>
          <a:noFill/>
          <a:ln/>
        </p:spPr>
        <p:txBody>
          <a:bodyPr wrap="square" lIns="0" tIns="0" rIns="0" bIns="0" rtlCol="0" anchor="ctr"/>
          <a:lstStyle/>
          <a:p>
            <a:pPr indent="0" marL="0">
              <a:buNone/>
            </a:pPr>
            <a:r>
              <a:rPr lang="en-US" sz="1000" b="1" spc="110" kern="0" dirty="0">
                <a:solidFill>
                  <a:srgbClr val="1976D2"/>
                </a:solidFill>
              </a:rPr>
              <a:t>8 • ВАЖНОСТЬ ПРИЗНАКОВ</a:t>
            </a:r>
            <a:endParaRPr lang="en-US" sz="1000" dirty="0"/>
          </a:p>
        </p:txBody>
      </p:sp>
      <p:sp>
        <p:nvSpPr>
          <p:cNvPr id="3" name="Text 1"/>
          <p:cNvSpPr/>
          <p:nvPr/>
        </p:nvSpPr>
        <p:spPr>
          <a:xfrm>
            <a:off x="594360" y="804672"/>
            <a:ext cx="10972800" cy="566928"/>
          </a:xfrm>
          <a:prstGeom prst="rect">
            <a:avLst/>
          </a:prstGeom>
          <a:noFill/>
          <a:ln/>
        </p:spPr>
        <p:txBody>
          <a:bodyPr wrap="square" lIns="0" tIns="0" rIns="0" bIns="0" rtlCol="0" anchor="ctr">
            <a:normAutofit/>
          </a:bodyPr>
          <a:lstStyle/>
          <a:p>
            <a:pPr indent="0" marL="0">
              <a:buNone/>
            </a:pPr>
            <a:r>
              <a:rPr lang="en-US" sz="2700" b="1" dirty="0">
                <a:solidFill>
                  <a:srgbClr val="102A43"/>
                </a:solidFill>
              </a:rPr>
              <a:t>Что использует Random Forest</a:t>
            </a:r>
            <a:endParaRPr lang="en-US" sz="2700" dirty="0"/>
          </a:p>
        </p:txBody>
      </p:sp>
      <p:graphicFrame>
        <p:nvGraphicFramePr>
          <p:cNvPr id="4" name="Chart 0" descr=""/>
          <p:cNvGraphicFramePr/>
          <p:nvPr/>
        </p:nvGraphicFramePr>
        <p:xfrm>
          <a:off x="731520" y="1508760"/>
          <a:ext cx="566928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812280" y="1554480"/>
            <a:ext cx="4526280" cy="1188720"/>
          </a:xfrm>
          <a:prstGeom prst="roundRect">
            <a:avLst>
              <a:gd name="adj" fmla="val 6154"/>
            </a:avLst>
          </a:prstGeom>
          <a:solidFill>
            <a:srgbClr val="FFFFFF"/>
          </a:solidFill>
          <a:ln w="15240">
            <a:solidFill>
              <a:srgbClr val="D9E2EC"/>
            </a:solidFill>
            <a:prstDash val="solid"/>
          </a:ln>
          <a:effectLst>
            <a:outerShdw sx="100000" sy="100000" kx="0" ky="0" algn="bl" rotWithShape="0" blurRad="19050" dist="50800" dir="2700000">
              <a:srgbClr val="B8C6D1">
                <a:alpha val="16000"/>
              </a:srgbClr>
            </a:outerShdw>
          </a:effectLst>
        </p:spPr>
      </p:sp>
      <p:sp>
        <p:nvSpPr>
          <p:cNvPr id="6" name="Shape 3"/>
          <p:cNvSpPr/>
          <p:nvPr/>
        </p:nvSpPr>
        <p:spPr>
          <a:xfrm>
            <a:off x="6812280" y="1554480"/>
            <a:ext cx="73152" cy="1188720"/>
          </a:xfrm>
          <a:prstGeom prst="rect">
            <a:avLst/>
          </a:prstGeom>
          <a:solidFill>
            <a:srgbClr val="1976D2"/>
          </a:solidFill>
          <a:ln w="12700">
            <a:solidFill>
              <a:srgbClr val="1976D2"/>
            </a:solidFill>
            <a:prstDash val="solid"/>
          </a:ln>
        </p:spPr>
      </p:sp>
      <p:sp>
        <p:nvSpPr>
          <p:cNvPr id="7" name="Text 4"/>
          <p:cNvSpPr/>
          <p:nvPr/>
        </p:nvSpPr>
        <p:spPr>
          <a:xfrm>
            <a:off x="7068312" y="1737360"/>
            <a:ext cx="4114800" cy="274320"/>
          </a:xfrm>
          <a:prstGeom prst="rect">
            <a:avLst/>
          </a:prstGeom>
          <a:noFill/>
          <a:ln/>
        </p:spPr>
        <p:txBody>
          <a:bodyPr wrap="square" lIns="0" tIns="0" rIns="0" bIns="0" rtlCol="0" anchor="ctr">
            <a:normAutofit/>
          </a:bodyPr>
          <a:lstStyle/>
          <a:p>
            <a:pPr indent="0" marL="0">
              <a:buNone/>
            </a:pPr>
            <a:r>
              <a:rPr lang="en-US" sz="1500" b="1" dirty="0">
                <a:solidFill>
                  <a:srgbClr val="102A43"/>
                </a:solidFill>
              </a:rPr>
              <a:t>sales_lag_1</a:t>
            </a:r>
            <a:endParaRPr lang="en-US" sz="1500" dirty="0"/>
          </a:p>
        </p:txBody>
      </p:sp>
      <p:sp>
        <p:nvSpPr>
          <p:cNvPr id="8" name="Text 5"/>
          <p:cNvSpPr/>
          <p:nvPr/>
        </p:nvSpPr>
        <p:spPr>
          <a:xfrm>
            <a:off x="7068312" y="2121408"/>
            <a:ext cx="4087368" cy="475488"/>
          </a:xfrm>
          <a:prstGeom prst="rect">
            <a:avLst/>
          </a:prstGeom>
          <a:noFill/>
          <a:ln/>
        </p:spPr>
        <p:txBody>
          <a:bodyPr wrap="square" lIns="254" tIns="254" rIns="254" bIns="254" rtlCol="0" anchor="ctr">
            <a:normAutofit/>
          </a:bodyPr>
          <a:lstStyle/>
          <a:p>
            <a:pPr indent="0" marL="0">
              <a:buNone/>
            </a:pPr>
            <a:r>
              <a:rPr lang="en-US" sz="1150" dirty="0">
                <a:solidFill>
                  <a:srgbClr val="243B53"/>
                </a:solidFill>
              </a:rPr>
              <a:t>Продажи того же товара в том же магазине одну неделю назад.</a:t>
            </a:r>
            <a:endParaRPr lang="en-US" sz="1150" dirty="0"/>
          </a:p>
        </p:txBody>
      </p:sp>
      <p:sp>
        <p:nvSpPr>
          <p:cNvPr id="9" name="Shape 6"/>
          <p:cNvSpPr/>
          <p:nvPr/>
        </p:nvSpPr>
        <p:spPr>
          <a:xfrm>
            <a:off x="6812280" y="2926080"/>
            <a:ext cx="4526280" cy="1188720"/>
          </a:xfrm>
          <a:prstGeom prst="roundRect">
            <a:avLst>
              <a:gd name="adj" fmla="val 6154"/>
            </a:avLst>
          </a:prstGeom>
          <a:solidFill>
            <a:srgbClr val="FFFFFF"/>
          </a:solidFill>
          <a:ln w="15240">
            <a:solidFill>
              <a:srgbClr val="D9E2EC"/>
            </a:solidFill>
            <a:prstDash val="solid"/>
          </a:ln>
          <a:effectLst>
            <a:outerShdw sx="100000" sy="100000" kx="0" ky="0" algn="bl" rotWithShape="0" blurRad="19050" dist="50800" dir="2700000">
              <a:srgbClr val="B8C6D1">
                <a:alpha val="16000"/>
              </a:srgbClr>
            </a:outerShdw>
          </a:effectLst>
        </p:spPr>
      </p:sp>
      <p:sp>
        <p:nvSpPr>
          <p:cNvPr id="10" name="Shape 7"/>
          <p:cNvSpPr/>
          <p:nvPr/>
        </p:nvSpPr>
        <p:spPr>
          <a:xfrm>
            <a:off x="6812280" y="2926080"/>
            <a:ext cx="73152" cy="1188720"/>
          </a:xfrm>
          <a:prstGeom prst="rect">
            <a:avLst/>
          </a:prstGeom>
          <a:solidFill>
            <a:srgbClr val="2CB1BC"/>
          </a:solidFill>
          <a:ln w="12700">
            <a:solidFill>
              <a:srgbClr val="2CB1BC"/>
            </a:solidFill>
            <a:prstDash val="solid"/>
          </a:ln>
        </p:spPr>
      </p:sp>
      <p:sp>
        <p:nvSpPr>
          <p:cNvPr id="11" name="Text 8"/>
          <p:cNvSpPr/>
          <p:nvPr/>
        </p:nvSpPr>
        <p:spPr>
          <a:xfrm>
            <a:off x="7068312" y="3108960"/>
            <a:ext cx="4114800" cy="274320"/>
          </a:xfrm>
          <a:prstGeom prst="rect">
            <a:avLst/>
          </a:prstGeom>
          <a:noFill/>
          <a:ln/>
        </p:spPr>
        <p:txBody>
          <a:bodyPr wrap="square" lIns="0" tIns="0" rIns="0" bIns="0" rtlCol="0" anchor="ctr">
            <a:normAutofit/>
          </a:bodyPr>
          <a:lstStyle/>
          <a:p>
            <a:pPr indent="0" marL="0">
              <a:buNone/>
            </a:pPr>
            <a:r>
              <a:rPr lang="en-US" sz="1500" b="1" dirty="0">
                <a:solidFill>
                  <a:srgbClr val="102A43"/>
                </a:solidFill>
              </a:rPr>
              <a:t>sales_roll_mean_4</a:t>
            </a:r>
            <a:endParaRPr lang="en-US" sz="1500" dirty="0"/>
          </a:p>
        </p:txBody>
      </p:sp>
      <p:sp>
        <p:nvSpPr>
          <p:cNvPr id="12" name="Text 9"/>
          <p:cNvSpPr/>
          <p:nvPr/>
        </p:nvSpPr>
        <p:spPr>
          <a:xfrm>
            <a:off x="7068312" y="3493008"/>
            <a:ext cx="4087368" cy="475488"/>
          </a:xfrm>
          <a:prstGeom prst="rect">
            <a:avLst/>
          </a:prstGeom>
          <a:noFill/>
          <a:ln/>
        </p:spPr>
        <p:txBody>
          <a:bodyPr wrap="square" lIns="254" tIns="254" rIns="254" bIns="254" rtlCol="0" anchor="ctr">
            <a:normAutofit/>
          </a:bodyPr>
          <a:lstStyle/>
          <a:p>
            <a:pPr indent="0" marL="0">
              <a:buNone/>
            </a:pPr>
            <a:r>
              <a:rPr lang="en-US" sz="1150" dirty="0">
                <a:solidFill>
                  <a:srgbClr val="243B53"/>
                </a:solidFill>
              </a:rPr>
              <a:t>Средние продажи за четыре предыдущие недели; текущая неделя исключена.</a:t>
            </a:r>
            <a:endParaRPr lang="en-US" sz="1150" dirty="0"/>
          </a:p>
        </p:txBody>
      </p:sp>
      <p:sp>
        <p:nvSpPr>
          <p:cNvPr id="13" name="Shape 10"/>
          <p:cNvSpPr/>
          <p:nvPr/>
        </p:nvSpPr>
        <p:spPr>
          <a:xfrm>
            <a:off x="6812280" y="4297680"/>
            <a:ext cx="4526280" cy="1188720"/>
          </a:xfrm>
          <a:prstGeom prst="roundRect">
            <a:avLst>
              <a:gd name="adj" fmla="val 6154"/>
            </a:avLst>
          </a:prstGeom>
          <a:solidFill>
            <a:srgbClr val="FFFFFF"/>
          </a:solidFill>
          <a:ln w="15240">
            <a:solidFill>
              <a:srgbClr val="D9E2EC"/>
            </a:solidFill>
            <a:prstDash val="solid"/>
          </a:ln>
          <a:effectLst>
            <a:outerShdw sx="100000" sy="100000" kx="0" ky="0" algn="bl" rotWithShape="0" blurRad="19050" dist="50800" dir="2700000">
              <a:srgbClr val="B8C6D1">
                <a:alpha val="16000"/>
              </a:srgbClr>
            </a:outerShdw>
          </a:effectLst>
        </p:spPr>
      </p:sp>
      <p:sp>
        <p:nvSpPr>
          <p:cNvPr id="14" name="Shape 11"/>
          <p:cNvSpPr/>
          <p:nvPr/>
        </p:nvSpPr>
        <p:spPr>
          <a:xfrm>
            <a:off x="6812280" y="4297680"/>
            <a:ext cx="73152" cy="1188720"/>
          </a:xfrm>
          <a:prstGeom prst="rect">
            <a:avLst/>
          </a:prstGeom>
          <a:solidFill>
            <a:srgbClr val="D64545"/>
          </a:solidFill>
          <a:ln w="12700">
            <a:solidFill>
              <a:srgbClr val="D64545"/>
            </a:solidFill>
            <a:prstDash val="solid"/>
          </a:ln>
        </p:spPr>
      </p:sp>
      <p:sp>
        <p:nvSpPr>
          <p:cNvPr id="15" name="Text 12"/>
          <p:cNvSpPr/>
          <p:nvPr/>
        </p:nvSpPr>
        <p:spPr>
          <a:xfrm>
            <a:off x="7068312" y="4480560"/>
            <a:ext cx="4114800" cy="274320"/>
          </a:xfrm>
          <a:prstGeom prst="rect">
            <a:avLst/>
          </a:prstGeom>
          <a:noFill/>
          <a:ln/>
        </p:spPr>
        <p:txBody>
          <a:bodyPr wrap="square" lIns="0" tIns="0" rIns="0" bIns="0" rtlCol="0" anchor="ctr">
            <a:normAutofit/>
          </a:bodyPr>
          <a:lstStyle/>
          <a:p>
            <a:pPr indent="0" marL="0">
              <a:buNone/>
            </a:pPr>
            <a:r>
              <a:rPr lang="en-US" sz="1500" b="1" dirty="0">
                <a:solidFill>
                  <a:srgbClr val="102A43"/>
                </a:solidFill>
              </a:rPr>
              <a:t>Важность ≠ причина</a:t>
            </a:r>
            <a:endParaRPr lang="en-US" sz="1500" dirty="0"/>
          </a:p>
        </p:txBody>
      </p:sp>
      <p:sp>
        <p:nvSpPr>
          <p:cNvPr id="16" name="Text 13"/>
          <p:cNvSpPr/>
          <p:nvPr/>
        </p:nvSpPr>
        <p:spPr>
          <a:xfrm>
            <a:off x="7068312" y="4864608"/>
            <a:ext cx="4087368" cy="475488"/>
          </a:xfrm>
          <a:prstGeom prst="rect">
            <a:avLst/>
          </a:prstGeom>
          <a:noFill/>
          <a:ln/>
        </p:spPr>
        <p:txBody>
          <a:bodyPr wrap="square" lIns="254" tIns="254" rIns="254" bIns="254" rtlCol="0" anchor="ctr">
            <a:normAutofit/>
          </a:bodyPr>
          <a:lstStyle/>
          <a:p>
            <a:pPr indent="0" marL="0">
              <a:buNone/>
            </a:pPr>
            <a:r>
              <a:rPr lang="en-US" sz="1150" dirty="0">
                <a:solidFill>
                  <a:srgbClr val="243B53"/>
                </a:solidFill>
              </a:rPr>
              <a:t>Модель чаще использует эти признаки, но это не доказывает причинное влияние.</a:t>
            </a:r>
            <a:endParaRPr lang="en-US" sz="1150" dirty="0"/>
          </a:p>
        </p:txBody>
      </p:sp>
      <p:sp>
        <p:nvSpPr>
          <p:cNvPr id="17" name="Text 14"/>
          <p:cNvSpPr/>
          <p:nvPr/>
        </p:nvSpPr>
        <p:spPr>
          <a:xfrm>
            <a:off x="594360" y="6190488"/>
            <a:ext cx="10424160" cy="219456"/>
          </a:xfrm>
          <a:prstGeom prst="rect">
            <a:avLst/>
          </a:prstGeom>
          <a:noFill/>
          <a:ln/>
        </p:spPr>
        <p:txBody>
          <a:bodyPr wrap="square" lIns="0" tIns="0" rIns="0" bIns="0" rtlCol="0" anchor="ctr">
            <a:normAutofit/>
          </a:bodyPr>
          <a:lstStyle/>
          <a:p>
            <a:pPr indent="0" marL="0">
              <a:buNone/>
            </a:pPr>
            <a:r>
              <a:rPr lang="en-US" sz="1000" i="1" dirty="0">
                <a:solidFill>
                  <a:srgbClr val="627D98"/>
                </a:solidFill>
              </a:rPr>
              <a:t>Главный сигнал модели — недавняя история спроса; календарь и цена дополняют её.</a:t>
            </a:r>
            <a:endParaRPr lang="en-US" sz="1000" dirty="0"/>
          </a:p>
        </p:txBody>
      </p:sp>
      <p:sp>
        <p:nvSpPr>
          <p:cNvPr id="25" name="Slide Number Placeholder 0"/>
          <p:cNvSpPr>
            <a:spLocks noGrp="1"/>
          </p:cNvSpPr>
          <p:nvPr>
            <p:ph type="sldNum" sz="quarter" idx="4294967295"/>
          </p:nvPr>
        </p:nvSpPr>
        <p:spPr>
          <a:xfrm>
            <a:off x="11503152" y="6565392"/>
            <a:ext cx="182880" cy="13716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94360" y="530352"/>
            <a:ext cx="2926080" cy="219456"/>
          </a:xfrm>
          <a:prstGeom prst="rect">
            <a:avLst/>
          </a:prstGeom>
          <a:noFill/>
          <a:ln/>
        </p:spPr>
        <p:txBody>
          <a:bodyPr wrap="square" lIns="0" tIns="0" rIns="0" bIns="0" rtlCol="0" anchor="ctr"/>
          <a:lstStyle/>
          <a:p>
            <a:pPr indent="0" marL="0">
              <a:buNone/>
            </a:pPr>
            <a:r>
              <a:rPr lang="en-US" sz="1000" b="1" spc="110" kern="0" dirty="0">
                <a:solidFill>
                  <a:srgbClr val="1976D2"/>
                </a:solidFill>
              </a:rPr>
              <a:t>9 • END-TO-END DEMO</a:t>
            </a:r>
            <a:endParaRPr lang="en-US" sz="1000" dirty="0"/>
          </a:p>
        </p:txBody>
      </p:sp>
      <p:sp>
        <p:nvSpPr>
          <p:cNvPr id="3" name="Text 1"/>
          <p:cNvSpPr/>
          <p:nvPr/>
        </p:nvSpPr>
        <p:spPr>
          <a:xfrm>
            <a:off x="594360" y="804672"/>
            <a:ext cx="10972800" cy="566928"/>
          </a:xfrm>
          <a:prstGeom prst="rect">
            <a:avLst/>
          </a:prstGeom>
          <a:noFill/>
          <a:ln/>
        </p:spPr>
        <p:txBody>
          <a:bodyPr wrap="square" lIns="0" tIns="0" rIns="0" bIns="0" rtlCol="0" anchor="ctr">
            <a:normAutofit/>
          </a:bodyPr>
          <a:lstStyle/>
          <a:p>
            <a:pPr indent="0" marL="0">
              <a:buNone/>
            </a:pPr>
            <a:r>
              <a:rPr lang="en-US" sz="2700" b="1" dirty="0">
                <a:solidFill>
                  <a:srgbClr val="102A43"/>
                </a:solidFill>
              </a:rPr>
              <a:t>Рабочий путь демонстрации</a:t>
            </a:r>
            <a:endParaRPr lang="en-US" sz="2700" dirty="0"/>
          </a:p>
        </p:txBody>
      </p:sp>
      <p:sp>
        <p:nvSpPr>
          <p:cNvPr id="4" name="Shape 2"/>
          <p:cNvSpPr/>
          <p:nvPr/>
        </p:nvSpPr>
        <p:spPr>
          <a:xfrm>
            <a:off x="594360" y="1645920"/>
            <a:ext cx="1234440" cy="1234440"/>
          </a:xfrm>
          <a:prstGeom prst="ellipse">
            <a:avLst/>
          </a:prstGeom>
          <a:solidFill>
            <a:srgbClr val="EAF2FB"/>
          </a:solidFill>
          <a:ln w="19050">
            <a:solidFill>
              <a:srgbClr val="1976D2"/>
            </a:solidFill>
            <a:prstDash val="solid"/>
          </a:ln>
        </p:spPr>
      </p:sp>
      <p:sp>
        <p:nvSpPr>
          <p:cNvPr id="5" name="Text 3"/>
          <p:cNvSpPr/>
          <p:nvPr/>
        </p:nvSpPr>
        <p:spPr>
          <a:xfrm>
            <a:off x="978408" y="1901952"/>
            <a:ext cx="457200" cy="320040"/>
          </a:xfrm>
          <a:prstGeom prst="rect">
            <a:avLst/>
          </a:prstGeom>
          <a:noFill/>
          <a:ln/>
        </p:spPr>
        <p:txBody>
          <a:bodyPr wrap="square" lIns="0" tIns="0" rIns="0" bIns="0" rtlCol="0" anchor="ctr"/>
          <a:lstStyle/>
          <a:p>
            <a:pPr algn="ctr" indent="0" marL="0">
              <a:buNone/>
            </a:pPr>
            <a:r>
              <a:rPr lang="en-US" sz="2000" b="1" dirty="0">
                <a:solidFill>
                  <a:srgbClr val="1976D2"/>
                </a:solidFill>
              </a:rPr>
              <a:t>1</a:t>
            </a:r>
            <a:endParaRPr lang="en-US" sz="2000" dirty="0"/>
          </a:p>
        </p:txBody>
      </p:sp>
      <p:sp>
        <p:nvSpPr>
          <p:cNvPr id="6" name="Text 4"/>
          <p:cNvSpPr/>
          <p:nvPr/>
        </p:nvSpPr>
        <p:spPr>
          <a:xfrm>
            <a:off x="429768" y="3035808"/>
            <a:ext cx="1572768" cy="274320"/>
          </a:xfrm>
          <a:prstGeom prst="rect">
            <a:avLst/>
          </a:prstGeom>
          <a:noFill/>
          <a:ln/>
        </p:spPr>
        <p:txBody>
          <a:bodyPr wrap="square" lIns="0" tIns="0" rIns="0" bIns="0" rtlCol="0" anchor="ctr">
            <a:normAutofit/>
          </a:bodyPr>
          <a:lstStyle/>
          <a:p>
            <a:pPr algn="ctr" indent="0" marL="0">
              <a:buNone/>
            </a:pPr>
            <a:r>
              <a:rPr lang="en-US" sz="1200" b="1" dirty="0">
                <a:solidFill>
                  <a:srgbClr val="102A43"/>
                </a:solidFill>
              </a:rPr>
              <a:t>INPUT</a:t>
            </a:r>
            <a:endParaRPr lang="en-US" sz="1200" dirty="0"/>
          </a:p>
        </p:txBody>
      </p:sp>
      <p:sp>
        <p:nvSpPr>
          <p:cNvPr id="7" name="Text 5"/>
          <p:cNvSpPr/>
          <p:nvPr/>
        </p:nvSpPr>
        <p:spPr>
          <a:xfrm>
            <a:off x="365760" y="3383280"/>
            <a:ext cx="1700784" cy="384048"/>
          </a:xfrm>
          <a:prstGeom prst="rect">
            <a:avLst/>
          </a:prstGeom>
          <a:noFill/>
          <a:ln/>
        </p:spPr>
        <p:txBody>
          <a:bodyPr wrap="square" lIns="127" tIns="127" rIns="127" bIns="127" rtlCol="0" anchor="ctr">
            <a:normAutofit/>
          </a:bodyPr>
          <a:lstStyle/>
          <a:p>
            <a:pPr algn="ctr" indent="0" marL="0">
              <a:buNone/>
            </a:pPr>
            <a:r>
              <a:rPr lang="en-US" sz="950" dirty="0">
                <a:solidFill>
                  <a:srgbClr val="627D98"/>
                </a:solidFill>
              </a:rPr>
              <a:t>20 признаков</a:t>
            </a:r>
            <a:endParaRPr lang="en-US" sz="950" dirty="0"/>
          </a:p>
        </p:txBody>
      </p:sp>
      <p:sp>
        <p:nvSpPr>
          <p:cNvPr id="8" name="Shape 6"/>
          <p:cNvSpPr/>
          <p:nvPr/>
        </p:nvSpPr>
        <p:spPr>
          <a:xfrm>
            <a:off x="1874520" y="2267712"/>
            <a:ext cx="621792" cy="0"/>
          </a:xfrm>
          <a:prstGeom prst="line">
            <a:avLst/>
          </a:prstGeom>
          <a:noFill/>
          <a:ln w="25400">
            <a:solidFill>
              <a:srgbClr val="627D98"/>
            </a:solidFill>
            <a:prstDash val="solid"/>
            <a:headEnd type="none"/>
            <a:tailEnd type="triangle"/>
          </a:ln>
        </p:spPr>
      </p:sp>
      <p:sp>
        <p:nvSpPr>
          <p:cNvPr id="9" name="Shape 7"/>
          <p:cNvSpPr/>
          <p:nvPr/>
        </p:nvSpPr>
        <p:spPr>
          <a:xfrm>
            <a:off x="2542032" y="1645920"/>
            <a:ext cx="1234440" cy="1234440"/>
          </a:xfrm>
          <a:prstGeom prst="ellipse">
            <a:avLst/>
          </a:prstGeom>
          <a:solidFill>
            <a:srgbClr val="EAF2FB"/>
          </a:solidFill>
          <a:ln w="19050">
            <a:solidFill>
              <a:srgbClr val="1976D2"/>
            </a:solidFill>
            <a:prstDash val="solid"/>
          </a:ln>
        </p:spPr>
      </p:sp>
      <p:sp>
        <p:nvSpPr>
          <p:cNvPr id="10" name="Text 8"/>
          <p:cNvSpPr/>
          <p:nvPr/>
        </p:nvSpPr>
        <p:spPr>
          <a:xfrm>
            <a:off x="2926080" y="1901952"/>
            <a:ext cx="457200" cy="320040"/>
          </a:xfrm>
          <a:prstGeom prst="rect">
            <a:avLst/>
          </a:prstGeom>
          <a:noFill/>
          <a:ln/>
        </p:spPr>
        <p:txBody>
          <a:bodyPr wrap="square" lIns="0" tIns="0" rIns="0" bIns="0" rtlCol="0" anchor="ctr"/>
          <a:lstStyle/>
          <a:p>
            <a:pPr algn="ctr" indent="0" marL="0">
              <a:buNone/>
            </a:pPr>
            <a:r>
              <a:rPr lang="en-US" sz="2000" b="1" dirty="0">
                <a:solidFill>
                  <a:srgbClr val="1976D2"/>
                </a:solidFill>
              </a:rPr>
              <a:t>2</a:t>
            </a:r>
            <a:endParaRPr lang="en-US" sz="2000" dirty="0"/>
          </a:p>
        </p:txBody>
      </p:sp>
      <p:sp>
        <p:nvSpPr>
          <p:cNvPr id="11" name="Text 9"/>
          <p:cNvSpPr/>
          <p:nvPr/>
        </p:nvSpPr>
        <p:spPr>
          <a:xfrm>
            <a:off x="2377440" y="3035808"/>
            <a:ext cx="1572768" cy="274320"/>
          </a:xfrm>
          <a:prstGeom prst="rect">
            <a:avLst/>
          </a:prstGeom>
          <a:noFill/>
          <a:ln/>
        </p:spPr>
        <p:txBody>
          <a:bodyPr wrap="square" lIns="0" tIns="0" rIns="0" bIns="0" rtlCol="0" anchor="ctr">
            <a:normAutofit/>
          </a:bodyPr>
          <a:lstStyle/>
          <a:p>
            <a:pPr algn="ctr" indent="0" marL="0">
              <a:buNone/>
            </a:pPr>
            <a:r>
              <a:rPr lang="en-US" sz="1200" b="1" dirty="0">
                <a:solidFill>
                  <a:srgbClr val="102A43"/>
                </a:solidFill>
              </a:rPr>
              <a:t>VALIDATE</a:t>
            </a:r>
            <a:endParaRPr lang="en-US" sz="1200" dirty="0"/>
          </a:p>
        </p:txBody>
      </p:sp>
      <p:sp>
        <p:nvSpPr>
          <p:cNvPr id="12" name="Text 10"/>
          <p:cNvSpPr/>
          <p:nvPr/>
        </p:nvSpPr>
        <p:spPr>
          <a:xfrm>
            <a:off x="2313432" y="3383280"/>
            <a:ext cx="1700784" cy="384048"/>
          </a:xfrm>
          <a:prstGeom prst="rect">
            <a:avLst/>
          </a:prstGeom>
          <a:noFill/>
          <a:ln/>
        </p:spPr>
        <p:txBody>
          <a:bodyPr wrap="square" lIns="127" tIns="127" rIns="127" bIns="127" rtlCol="0" anchor="ctr">
            <a:normAutofit/>
          </a:bodyPr>
          <a:lstStyle/>
          <a:p>
            <a:pPr algn="ctr" indent="0" marL="0">
              <a:buNone/>
            </a:pPr>
            <a:r>
              <a:rPr lang="en-US" sz="950" dirty="0">
                <a:solidFill>
                  <a:srgbClr val="627D98"/>
                </a:solidFill>
              </a:rPr>
              <a:t>ошибки и диапазоны</a:t>
            </a:r>
            <a:endParaRPr lang="en-US" sz="950" dirty="0"/>
          </a:p>
        </p:txBody>
      </p:sp>
      <p:sp>
        <p:nvSpPr>
          <p:cNvPr id="13" name="Shape 11"/>
          <p:cNvSpPr/>
          <p:nvPr/>
        </p:nvSpPr>
        <p:spPr>
          <a:xfrm>
            <a:off x="3822192" y="2267712"/>
            <a:ext cx="621792" cy="0"/>
          </a:xfrm>
          <a:prstGeom prst="line">
            <a:avLst/>
          </a:prstGeom>
          <a:noFill/>
          <a:ln w="25400">
            <a:solidFill>
              <a:srgbClr val="627D98"/>
            </a:solidFill>
            <a:prstDash val="solid"/>
            <a:headEnd type="none"/>
            <a:tailEnd type="triangle"/>
          </a:ln>
        </p:spPr>
      </p:sp>
      <p:sp>
        <p:nvSpPr>
          <p:cNvPr id="14" name="Shape 12"/>
          <p:cNvSpPr/>
          <p:nvPr/>
        </p:nvSpPr>
        <p:spPr>
          <a:xfrm>
            <a:off x="4489704" y="1645920"/>
            <a:ext cx="1234440" cy="1234440"/>
          </a:xfrm>
          <a:prstGeom prst="ellipse">
            <a:avLst/>
          </a:prstGeom>
          <a:solidFill>
            <a:srgbClr val="EAF2FB"/>
          </a:solidFill>
          <a:ln w="19050">
            <a:solidFill>
              <a:srgbClr val="1976D2"/>
            </a:solidFill>
            <a:prstDash val="solid"/>
          </a:ln>
        </p:spPr>
      </p:sp>
      <p:sp>
        <p:nvSpPr>
          <p:cNvPr id="15" name="Text 13"/>
          <p:cNvSpPr/>
          <p:nvPr/>
        </p:nvSpPr>
        <p:spPr>
          <a:xfrm>
            <a:off x="4873752" y="1901952"/>
            <a:ext cx="457200" cy="320040"/>
          </a:xfrm>
          <a:prstGeom prst="rect">
            <a:avLst/>
          </a:prstGeom>
          <a:noFill/>
          <a:ln/>
        </p:spPr>
        <p:txBody>
          <a:bodyPr wrap="square" lIns="0" tIns="0" rIns="0" bIns="0" rtlCol="0" anchor="ctr"/>
          <a:lstStyle/>
          <a:p>
            <a:pPr algn="ctr" indent="0" marL="0">
              <a:buNone/>
            </a:pPr>
            <a:r>
              <a:rPr lang="en-US" sz="2000" b="1" dirty="0">
                <a:solidFill>
                  <a:srgbClr val="1976D2"/>
                </a:solidFill>
              </a:rPr>
              <a:t>3</a:t>
            </a:r>
            <a:endParaRPr lang="en-US" sz="2000" dirty="0"/>
          </a:p>
        </p:txBody>
      </p:sp>
      <p:sp>
        <p:nvSpPr>
          <p:cNvPr id="16" name="Text 14"/>
          <p:cNvSpPr/>
          <p:nvPr/>
        </p:nvSpPr>
        <p:spPr>
          <a:xfrm>
            <a:off x="4325112" y="3035808"/>
            <a:ext cx="1572768" cy="274320"/>
          </a:xfrm>
          <a:prstGeom prst="rect">
            <a:avLst/>
          </a:prstGeom>
          <a:noFill/>
          <a:ln/>
        </p:spPr>
        <p:txBody>
          <a:bodyPr wrap="square" lIns="0" tIns="0" rIns="0" bIns="0" rtlCol="0" anchor="ctr">
            <a:normAutofit/>
          </a:bodyPr>
          <a:lstStyle/>
          <a:p>
            <a:pPr algn="ctr" indent="0" marL="0">
              <a:buNone/>
            </a:pPr>
            <a:r>
              <a:rPr lang="en-US" sz="1200" b="1" dirty="0">
                <a:solidFill>
                  <a:srgbClr val="102A43"/>
                </a:solidFill>
              </a:rPr>
              <a:t>PREPROCESS</a:t>
            </a:r>
            <a:endParaRPr lang="en-US" sz="1200" dirty="0"/>
          </a:p>
        </p:txBody>
      </p:sp>
      <p:sp>
        <p:nvSpPr>
          <p:cNvPr id="17" name="Text 15"/>
          <p:cNvSpPr/>
          <p:nvPr/>
        </p:nvSpPr>
        <p:spPr>
          <a:xfrm>
            <a:off x="4261104" y="3383280"/>
            <a:ext cx="1700784" cy="384048"/>
          </a:xfrm>
          <a:prstGeom prst="rect">
            <a:avLst/>
          </a:prstGeom>
          <a:noFill/>
          <a:ln/>
        </p:spPr>
        <p:txBody>
          <a:bodyPr wrap="square" lIns="127" tIns="127" rIns="127" bIns="127" rtlCol="0" anchor="ctr">
            <a:normAutofit/>
          </a:bodyPr>
          <a:lstStyle/>
          <a:p>
            <a:pPr algn="ctr" indent="0" marL="0">
              <a:buNone/>
            </a:pPr>
            <a:r>
              <a:rPr lang="en-US" sz="950" dirty="0">
                <a:solidFill>
                  <a:srgbClr val="627D98"/>
                </a:solidFill>
              </a:rPr>
              <a:t>точный порядок полей</a:t>
            </a:r>
            <a:endParaRPr lang="en-US" sz="950" dirty="0"/>
          </a:p>
        </p:txBody>
      </p:sp>
      <p:sp>
        <p:nvSpPr>
          <p:cNvPr id="18" name="Shape 16"/>
          <p:cNvSpPr/>
          <p:nvPr/>
        </p:nvSpPr>
        <p:spPr>
          <a:xfrm>
            <a:off x="5769864" y="2267712"/>
            <a:ext cx="621792" cy="0"/>
          </a:xfrm>
          <a:prstGeom prst="line">
            <a:avLst/>
          </a:prstGeom>
          <a:noFill/>
          <a:ln w="25400">
            <a:solidFill>
              <a:srgbClr val="627D98"/>
            </a:solidFill>
            <a:prstDash val="solid"/>
            <a:headEnd type="none"/>
            <a:tailEnd type="triangle"/>
          </a:ln>
        </p:spPr>
      </p:sp>
      <p:sp>
        <p:nvSpPr>
          <p:cNvPr id="19" name="Shape 17"/>
          <p:cNvSpPr/>
          <p:nvPr/>
        </p:nvSpPr>
        <p:spPr>
          <a:xfrm>
            <a:off x="6437376" y="1645920"/>
            <a:ext cx="1234440" cy="1234440"/>
          </a:xfrm>
          <a:prstGeom prst="ellipse">
            <a:avLst/>
          </a:prstGeom>
          <a:solidFill>
            <a:srgbClr val="EAF2FB"/>
          </a:solidFill>
          <a:ln w="19050">
            <a:solidFill>
              <a:srgbClr val="1976D2"/>
            </a:solidFill>
            <a:prstDash val="solid"/>
          </a:ln>
        </p:spPr>
      </p:sp>
      <p:sp>
        <p:nvSpPr>
          <p:cNvPr id="20" name="Text 18"/>
          <p:cNvSpPr/>
          <p:nvPr/>
        </p:nvSpPr>
        <p:spPr>
          <a:xfrm>
            <a:off x="6821424" y="1901952"/>
            <a:ext cx="457200" cy="320040"/>
          </a:xfrm>
          <a:prstGeom prst="rect">
            <a:avLst/>
          </a:prstGeom>
          <a:noFill/>
          <a:ln/>
        </p:spPr>
        <p:txBody>
          <a:bodyPr wrap="square" lIns="0" tIns="0" rIns="0" bIns="0" rtlCol="0" anchor="ctr"/>
          <a:lstStyle/>
          <a:p>
            <a:pPr algn="ctr" indent="0" marL="0">
              <a:buNone/>
            </a:pPr>
            <a:r>
              <a:rPr lang="en-US" sz="2000" b="1" dirty="0">
                <a:solidFill>
                  <a:srgbClr val="1976D2"/>
                </a:solidFill>
              </a:rPr>
              <a:t>4</a:t>
            </a:r>
            <a:endParaRPr lang="en-US" sz="2000" dirty="0"/>
          </a:p>
        </p:txBody>
      </p:sp>
      <p:sp>
        <p:nvSpPr>
          <p:cNvPr id="21" name="Text 19"/>
          <p:cNvSpPr/>
          <p:nvPr/>
        </p:nvSpPr>
        <p:spPr>
          <a:xfrm>
            <a:off x="6272784" y="3035808"/>
            <a:ext cx="1572768" cy="274320"/>
          </a:xfrm>
          <a:prstGeom prst="rect">
            <a:avLst/>
          </a:prstGeom>
          <a:noFill/>
          <a:ln/>
        </p:spPr>
        <p:txBody>
          <a:bodyPr wrap="square" lIns="0" tIns="0" rIns="0" bIns="0" rtlCol="0" anchor="ctr">
            <a:normAutofit/>
          </a:bodyPr>
          <a:lstStyle/>
          <a:p>
            <a:pPr algn="ctr" indent="0" marL="0">
              <a:buNone/>
            </a:pPr>
            <a:r>
              <a:rPr lang="en-US" sz="1200" b="1" dirty="0">
                <a:solidFill>
                  <a:srgbClr val="102A43"/>
                </a:solidFill>
              </a:rPr>
              <a:t>LOAD MODEL</a:t>
            </a:r>
            <a:endParaRPr lang="en-US" sz="1200" dirty="0"/>
          </a:p>
        </p:txBody>
      </p:sp>
      <p:sp>
        <p:nvSpPr>
          <p:cNvPr id="22" name="Text 20"/>
          <p:cNvSpPr/>
          <p:nvPr/>
        </p:nvSpPr>
        <p:spPr>
          <a:xfrm>
            <a:off x="6208776" y="3383280"/>
            <a:ext cx="1700784" cy="384048"/>
          </a:xfrm>
          <a:prstGeom prst="rect">
            <a:avLst/>
          </a:prstGeom>
          <a:noFill/>
          <a:ln/>
        </p:spPr>
        <p:txBody>
          <a:bodyPr wrap="square" lIns="127" tIns="127" rIns="127" bIns="127" rtlCol="0" anchor="ctr">
            <a:normAutofit/>
          </a:bodyPr>
          <a:lstStyle/>
          <a:p>
            <a:pPr algn="ctr" indent="0" marL="0">
              <a:buNone/>
            </a:pPr>
            <a:r>
              <a:rPr lang="en-US" sz="950" dirty="0">
                <a:solidFill>
                  <a:srgbClr val="627D98"/>
                </a:solidFill>
              </a:rPr>
              <a:t>model.skops</a:t>
            </a:r>
            <a:endParaRPr lang="en-US" sz="950" dirty="0"/>
          </a:p>
        </p:txBody>
      </p:sp>
      <p:sp>
        <p:nvSpPr>
          <p:cNvPr id="23" name="Shape 21"/>
          <p:cNvSpPr/>
          <p:nvPr/>
        </p:nvSpPr>
        <p:spPr>
          <a:xfrm>
            <a:off x="7717536" y="2267712"/>
            <a:ext cx="621792" cy="0"/>
          </a:xfrm>
          <a:prstGeom prst="line">
            <a:avLst/>
          </a:prstGeom>
          <a:noFill/>
          <a:ln w="25400">
            <a:solidFill>
              <a:srgbClr val="627D98"/>
            </a:solidFill>
            <a:prstDash val="solid"/>
            <a:headEnd type="none"/>
            <a:tailEnd type="triangle"/>
          </a:ln>
        </p:spPr>
      </p:sp>
      <p:sp>
        <p:nvSpPr>
          <p:cNvPr id="24" name="Shape 22"/>
          <p:cNvSpPr/>
          <p:nvPr/>
        </p:nvSpPr>
        <p:spPr>
          <a:xfrm>
            <a:off x="8385048" y="1645920"/>
            <a:ext cx="1234440" cy="1234440"/>
          </a:xfrm>
          <a:prstGeom prst="ellipse">
            <a:avLst/>
          </a:prstGeom>
          <a:solidFill>
            <a:srgbClr val="EAF2FB"/>
          </a:solidFill>
          <a:ln w="19050">
            <a:solidFill>
              <a:srgbClr val="1976D2"/>
            </a:solidFill>
            <a:prstDash val="solid"/>
          </a:ln>
        </p:spPr>
      </p:sp>
      <p:sp>
        <p:nvSpPr>
          <p:cNvPr id="25" name="Text 23"/>
          <p:cNvSpPr/>
          <p:nvPr/>
        </p:nvSpPr>
        <p:spPr>
          <a:xfrm>
            <a:off x="8769096" y="1901952"/>
            <a:ext cx="457200" cy="320040"/>
          </a:xfrm>
          <a:prstGeom prst="rect">
            <a:avLst/>
          </a:prstGeom>
          <a:noFill/>
          <a:ln/>
        </p:spPr>
        <p:txBody>
          <a:bodyPr wrap="square" lIns="0" tIns="0" rIns="0" bIns="0" rtlCol="0" anchor="ctr"/>
          <a:lstStyle/>
          <a:p>
            <a:pPr algn="ctr" indent="0" marL="0">
              <a:buNone/>
            </a:pPr>
            <a:r>
              <a:rPr lang="en-US" sz="2000" b="1" dirty="0">
                <a:solidFill>
                  <a:srgbClr val="1976D2"/>
                </a:solidFill>
              </a:rPr>
              <a:t>5</a:t>
            </a:r>
            <a:endParaRPr lang="en-US" sz="2000" dirty="0"/>
          </a:p>
        </p:txBody>
      </p:sp>
      <p:sp>
        <p:nvSpPr>
          <p:cNvPr id="26" name="Text 24"/>
          <p:cNvSpPr/>
          <p:nvPr/>
        </p:nvSpPr>
        <p:spPr>
          <a:xfrm>
            <a:off x="8220456" y="3035808"/>
            <a:ext cx="1572768" cy="274320"/>
          </a:xfrm>
          <a:prstGeom prst="rect">
            <a:avLst/>
          </a:prstGeom>
          <a:noFill/>
          <a:ln/>
        </p:spPr>
        <p:txBody>
          <a:bodyPr wrap="square" lIns="0" tIns="0" rIns="0" bIns="0" rtlCol="0" anchor="ctr">
            <a:normAutofit/>
          </a:bodyPr>
          <a:lstStyle/>
          <a:p>
            <a:pPr algn="ctr" indent="0" marL="0">
              <a:buNone/>
            </a:pPr>
            <a:r>
              <a:rPr lang="en-US" sz="1200" b="1" dirty="0">
                <a:solidFill>
                  <a:srgbClr val="102A43"/>
                </a:solidFill>
              </a:rPr>
              <a:t>PREDICT</a:t>
            </a:r>
            <a:endParaRPr lang="en-US" sz="1200" dirty="0"/>
          </a:p>
        </p:txBody>
      </p:sp>
      <p:sp>
        <p:nvSpPr>
          <p:cNvPr id="27" name="Text 25"/>
          <p:cNvSpPr/>
          <p:nvPr/>
        </p:nvSpPr>
        <p:spPr>
          <a:xfrm>
            <a:off x="8156448" y="3383280"/>
            <a:ext cx="1700784" cy="384048"/>
          </a:xfrm>
          <a:prstGeom prst="rect">
            <a:avLst/>
          </a:prstGeom>
          <a:noFill/>
          <a:ln/>
        </p:spPr>
        <p:txBody>
          <a:bodyPr wrap="square" lIns="127" tIns="127" rIns="127" bIns="127" rtlCol="0" anchor="ctr">
            <a:normAutofit/>
          </a:bodyPr>
          <a:lstStyle/>
          <a:p>
            <a:pPr algn="ctr" indent="0" marL="0">
              <a:buNone/>
            </a:pPr>
            <a:r>
              <a:rPr lang="en-US" sz="950" dirty="0">
                <a:solidFill>
                  <a:srgbClr val="627D98"/>
                </a:solidFill>
              </a:rPr>
              <a:t>недельный прогноз</a:t>
            </a:r>
            <a:endParaRPr lang="en-US" sz="950" dirty="0"/>
          </a:p>
        </p:txBody>
      </p:sp>
      <p:sp>
        <p:nvSpPr>
          <p:cNvPr id="28" name="Shape 26"/>
          <p:cNvSpPr/>
          <p:nvPr/>
        </p:nvSpPr>
        <p:spPr>
          <a:xfrm>
            <a:off x="9665208" y="2267712"/>
            <a:ext cx="621792" cy="0"/>
          </a:xfrm>
          <a:prstGeom prst="line">
            <a:avLst/>
          </a:prstGeom>
          <a:noFill/>
          <a:ln w="25400">
            <a:solidFill>
              <a:srgbClr val="627D98"/>
            </a:solidFill>
            <a:prstDash val="solid"/>
            <a:headEnd type="none"/>
            <a:tailEnd type="triangle"/>
          </a:ln>
        </p:spPr>
      </p:sp>
      <p:sp>
        <p:nvSpPr>
          <p:cNvPr id="29" name="Shape 27"/>
          <p:cNvSpPr/>
          <p:nvPr/>
        </p:nvSpPr>
        <p:spPr>
          <a:xfrm>
            <a:off x="10332720" y="1645920"/>
            <a:ext cx="1234440" cy="1234440"/>
          </a:xfrm>
          <a:prstGeom prst="ellipse">
            <a:avLst/>
          </a:prstGeom>
          <a:solidFill>
            <a:srgbClr val="FFF7E6"/>
          </a:solidFill>
          <a:ln w="19050">
            <a:solidFill>
              <a:srgbClr val="F59E0B"/>
            </a:solidFill>
            <a:prstDash val="solid"/>
          </a:ln>
        </p:spPr>
      </p:sp>
      <p:sp>
        <p:nvSpPr>
          <p:cNvPr id="30" name="Text 28"/>
          <p:cNvSpPr/>
          <p:nvPr/>
        </p:nvSpPr>
        <p:spPr>
          <a:xfrm>
            <a:off x="10716768" y="1901952"/>
            <a:ext cx="457200" cy="320040"/>
          </a:xfrm>
          <a:prstGeom prst="rect">
            <a:avLst/>
          </a:prstGeom>
          <a:noFill/>
          <a:ln/>
        </p:spPr>
        <p:txBody>
          <a:bodyPr wrap="square" lIns="0" tIns="0" rIns="0" bIns="0" rtlCol="0" anchor="ctr"/>
          <a:lstStyle/>
          <a:p>
            <a:pPr algn="ctr" indent="0" marL="0">
              <a:buNone/>
            </a:pPr>
            <a:r>
              <a:rPr lang="en-US" sz="2000" b="1" dirty="0">
                <a:solidFill>
                  <a:srgbClr val="F59E0B"/>
                </a:solidFill>
              </a:rPr>
              <a:t>6</a:t>
            </a:r>
            <a:endParaRPr lang="en-US" sz="2000" dirty="0"/>
          </a:p>
        </p:txBody>
      </p:sp>
      <p:sp>
        <p:nvSpPr>
          <p:cNvPr id="31" name="Text 29"/>
          <p:cNvSpPr/>
          <p:nvPr/>
        </p:nvSpPr>
        <p:spPr>
          <a:xfrm>
            <a:off x="10168128" y="3035808"/>
            <a:ext cx="1572768" cy="274320"/>
          </a:xfrm>
          <a:prstGeom prst="rect">
            <a:avLst/>
          </a:prstGeom>
          <a:noFill/>
          <a:ln/>
        </p:spPr>
        <p:txBody>
          <a:bodyPr wrap="square" lIns="0" tIns="0" rIns="0" bIns="0" rtlCol="0" anchor="ctr">
            <a:normAutofit/>
          </a:bodyPr>
          <a:lstStyle/>
          <a:p>
            <a:pPr algn="ctr" indent="0" marL="0">
              <a:buNone/>
            </a:pPr>
            <a:r>
              <a:rPr lang="en-US" sz="1200" b="1" dirty="0">
                <a:solidFill>
                  <a:srgbClr val="102A43"/>
                </a:solidFill>
              </a:rPr>
              <a:t>EXPLAIN</a:t>
            </a:r>
            <a:endParaRPr lang="en-US" sz="1200" dirty="0"/>
          </a:p>
        </p:txBody>
      </p:sp>
      <p:sp>
        <p:nvSpPr>
          <p:cNvPr id="32" name="Text 30"/>
          <p:cNvSpPr/>
          <p:nvPr/>
        </p:nvSpPr>
        <p:spPr>
          <a:xfrm>
            <a:off x="10104120" y="3383280"/>
            <a:ext cx="1700784" cy="384048"/>
          </a:xfrm>
          <a:prstGeom prst="rect">
            <a:avLst/>
          </a:prstGeom>
          <a:noFill/>
          <a:ln/>
        </p:spPr>
        <p:txBody>
          <a:bodyPr wrap="square" lIns="127" tIns="127" rIns="127" bIns="127" rtlCol="0" anchor="ctr">
            <a:normAutofit/>
          </a:bodyPr>
          <a:lstStyle/>
          <a:p>
            <a:pPr algn="ctr" indent="0" marL="0">
              <a:buNone/>
            </a:pPr>
            <a:r>
              <a:rPr lang="en-US" sz="950" dirty="0">
                <a:solidFill>
                  <a:srgbClr val="627D98"/>
                </a:solidFill>
              </a:rPr>
              <a:t>значение и limits</a:t>
            </a:r>
            <a:endParaRPr lang="en-US" sz="950" dirty="0"/>
          </a:p>
        </p:txBody>
      </p:sp>
      <p:sp>
        <p:nvSpPr>
          <p:cNvPr id="33" name="Shape 31"/>
          <p:cNvSpPr/>
          <p:nvPr/>
        </p:nvSpPr>
        <p:spPr>
          <a:xfrm>
            <a:off x="731520" y="4251960"/>
            <a:ext cx="3337560" cy="1051560"/>
          </a:xfrm>
          <a:prstGeom prst="roundRect">
            <a:avLst>
              <a:gd name="adj" fmla="val 6957"/>
            </a:avLst>
          </a:prstGeom>
          <a:solidFill>
            <a:srgbClr val="FFFFFF"/>
          </a:solidFill>
          <a:ln w="15240">
            <a:solidFill>
              <a:srgbClr val="D9E2EC"/>
            </a:solidFill>
            <a:prstDash val="solid"/>
          </a:ln>
          <a:effectLst>
            <a:outerShdw sx="100000" sy="100000" kx="0" ky="0" algn="bl" rotWithShape="0" blurRad="19050" dist="50800" dir="2700000">
              <a:srgbClr val="B8C6D1">
                <a:alpha val="16000"/>
              </a:srgbClr>
            </a:outerShdw>
          </a:effectLst>
        </p:spPr>
      </p:sp>
      <p:sp>
        <p:nvSpPr>
          <p:cNvPr id="34" name="Shape 32"/>
          <p:cNvSpPr/>
          <p:nvPr/>
        </p:nvSpPr>
        <p:spPr>
          <a:xfrm>
            <a:off x="731520" y="4251960"/>
            <a:ext cx="73152" cy="1051560"/>
          </a:xfrm>
          <a:prstGeom prst="rect">
            <a:avLst/>
          </a:prstGeom>
          <a:solidFill>
            <a:srgbClr val="1976D2"/>
          </a:solidFill>
          <a:ln w="12700">
            <a:solidFill>
              <a:srgbClr val="1976D2"/>
            </a:solidFill>
            <a:prstDash val="solid"/>
          </a:ln>
        </p:spPr>
      </p:sp>
      <p:sp>
        <p:nvSpPr>
          <p:cNvPr id="35" name="Text 33"/>
          <p:cNvSpPr/>
          <p:nvPr/>
        </p:nvSpPr>
        <p:spPr>
          <a:xfrm>
            <a:off x="987552" y="4434840"/>
            <a:ext cx="2926080" cy="274320"/>
          </a:xfrm>
          <a:prstGeom prst="rect">
            <a:avLst/>
          </a:prstGeom>
          <a:noFill/>
          <a:ln/>
        </p:spPr>
        <p:txBody>
          <a:bodyPr wrap="square" lIns="0" tIns="0" rIns="0" bIns="0" rtlCol="0" anchor="ctr">
            <a:normAutofit/>
          </a:bodyPr>
          <a:lstStyle/>
          <a:p>
            <a:pPr indent="0" marL="0">
              <a:buNone/>
            </a:pPr>
            <a:r>
              <a:rPr lang="en-US" sz="1500" b="1" dirty="0">
                <a:solidFill>
                  <a:srgbClr val="102A43"/>
                </a:solidFill>
              </a:rPr>
              <a:t>Основной маршрут</a:t>
            </a:r>
            <a:endParaRPr lang="en-US" sz="1500" dirty="0"/>
          </a:p>
        </p:txBody>
      </p:sp>
      <p:sp>
        <p:nvSpPr>
          <p:cNvPr id="36" name="Text 34"/>
          <p:cNvSpPr/>
          <p:nvPr/>
        </p:nvSpPr>
        <p:spPr>
          <a:xfrm>
            <a:off x="987552" y="4818888"/>
            <a:ext cx="2898648" cy="338328"/>
          </a:xfrm>
          <a:prstGeom prst="rect">
            <a:avLst/>
          </a:prstGeom>
          <a:noFill/>
          <a:ln/>
        </p:spPr>
        <p:txBody>
          <a:bodyPr wrap="square" lIns="254" tIns="254" rIns="254" bIns="254" rtlCol="0" anchor="ctr">
            <a:normAutofit/>
          </a:bodyPr>
          <a:lstStyle/>
          <a:p>
            <a:pPr indent="0" marL="0">
              <a:buNone/>
            </a:pPr>
            <a:r>
              <a:rPr lang="en-US" sz="1150" dirty="0">
                <a:solidFill>
                  <a:srgbClr val="243B53"/>
                </a:solidFill>
              </a:rPr>
              <a:t>Colab: открыть demo.ipynb и Run all.</a:t>
            </a:r>
            <a:endParaRPr lang="en-US" sz="1150" dirty="0"/>
          </a:p>
        </p:txBody>
      </p:sp>
      <p:sp>
        <p:nvSpPr>
          <p:cNvPr id="37" name="Shape 35"/>
          <p:cNvSpPr/>
          <p:nvPr/>
        </p:nvSpPr>
        <p:spPr>
          <a:xfrm>
            <a:off x="4434840" y="4251960"/>
            <a:ext cx="3337560" cy="1051560"/>
          </a:xfrm>
          <a:prstGeom prst="roundRect">
            <a:avLst>
              <a:gd name="adj" fmla="val 6957"/>
            </a:avLst>
          </a:prstGeom>
          <a:solidFill>
            <a:srgbClr val="FFFFFF"/>
          </a:solidFill>
          <a:ln w="15240">
            <a:solidFill>
              <a:srgbClr val="D9E2EC"/>
            </a:solidFill>
            <a:prstDash val="solid"/>
          </a:ln>
          <a:effectLst>
            <a:outerShdw sx="100000" sy="100000" kx="0" ky="0" algn="bl" rotWithShape="0" blurRad="19050" dist="50800" dir="2700000">
              <a:srgbClr val="B8C6D1">
                <a:alpha val="16000"/>
              </a:srgbClr>
            </a:outerShdw>
          </a:effectLst>
        </p:spPr>
      </p:sp>
      <p:sp>
        <p:nvSpPr>
          <p:cNvPr id="38" name="Shape 36"/>
          <p:cNvSpPr/>
          <p:nvPr/>
        </p:nvSpPr>
        <p:spPr>
          <a:xfrm>
            <a:off x="4434840" y="4251960"/>
            <a:ext cx="73152" cy="1051560"/>
          </a:xfrm>
          <a:prstGeom prst="rect">
            <a:avLst/>
          </a:prstGeom>
          <a:solidFill>
            <a:srgbClr val="2CB1BC"/>
          </a:solidFill>
          <a:ln w="12700">
            <a:solidFill>
              <a:srgbClr val="2CB1BC"/>
            </a:solidFill>
            <a:prstDash val="solid"/>
          </a:ln>
        </p:spPr>
      </p:sp>
      <p:sp>
        <p:nvSpPr>
          <p:cNvPr id="39" name="Text 37"/>
          <p:cNvSpPr/>
          <p:nvPr/>
        </p:nvSpPr>
        <p:spPr>
          <a:xfrm>
            <a:off x="4690872" y="4434840"/>
            <a:ext cx="2926080" cy="274320"/>
          </a:xfrm>
          <a:prstGeom prst="rect">
            <a:avLst/>
          </a:prstGeom>
          <a:noFill/>
          <a:ln/>
        </p:spPr>
        <p:txBody>
          <a:bodyPr wrap="square" lIns="0" tIns="0" rIns="0" bIns="0" rtlCol="0" anchor="ctr">
            <a:normAutofit/>
          </a:bodyPr>
          <a:lstStyle/>
          <a:p>
            <a:pPr indent="0" marL="0">
              <a:buNone/>
            </a:pPr>
            <a:r>
              <a:rPr lang="en-US" sz="1500" b="1" dirty="0">
                <a:solidFill>
                  <a:srgbClr val="102A43"/>
                </a:solidFill>
              </a:rPr>
              <a:t>Локальный маршрут</a:t>
            </a:r>
            <a:endParaRPr lang="en-US" sz="1500" dirty="0"/>
          </a:p>
        </p:txBody>
      </p:sp>
      <p:sp>
        <p:nvSpPr>
          <p:cNvPr id="40" name="Text 38"/>
          <p:cNvSpPr/>
          <p:nvPr/>
        </p:nvSpPr>
        <p:spPr>
          <a:xfrm>
            <a:off x="4690872" y="4818888"/>
            <a:ext cx="2898648" cy="338328"/>
          </a:xfrm>
          <a:prstGeom prst="rect">
            <a:avLst/>
          </a:prstGeom>
          <a:noFill/>
          <a:ln/>
        </p:spPr>
        <p:txBody>
          <a:bodyPr wrap="square" lIns="254" tIns="254" rIns="254" bIns="254" rtlCol="0" anchor="ctr">
            <a:normAutofit/>
          </a:bodyPr>
          <a:lstStyle/>
          <a:p>
            <a:pPr indent="0" marL="0">
              <a:buNone/>
            </a:pPr>
            <a:r>
              <a:rPr lang="en-US" sz="1150" dirty="0">
                <a:solidFill>
                  <a:srgbClr val="243B53"/>
                </a:solidFill>
              </a:rPr>
              <a:t>Flask UI: python -m src.app</a:t>
            </a:r>
            <a:endParaRPr lang="en-US" sz="1150" dirty="0"/>
          </a:p>
        </p:txBody>
      </p:sp>
      <p:sp>
        <p:nvSpPr>
          <p:cNvPr id="41" name="Shape 39"/>
          <p:cNvSpPr/>
          <p:nvPr/>
        </p:nvSpPr>
        <p:spPr>
          <a:xfrm>
            <a:off x="8138160" y="4251960"/>
            <a:ext cx="3337560" cy="1051560"/>
          </a:xfrm>
          <a:prstGeom prst="roundRect">
            <a:avLst>
              <a:gd name="adj" fmla="val 6957"/>
            </a:avLst>
          </a:prstGeom>
          <a:solidFill>
            <a:srgbClr val="FFFFFF"/>
          </a:solidFill>
          <a:ln w="15240">
            <a:solidFill>
              <a:srgbClr val="D9E2EC"/>
            </a:solidFill>
            <a:prstDash val="solid"/>
          </a:ln>
          <a:effectLst>
            <a:outerShdw sx="100000" sy="100000" kx="0" ky="0" algn="bl" rotWithShape="0" blurRad="19050" dist="50800" dir="2700000">
              <a:srgbClr val="B8C6D1">
                <a:alpha val="16000"/>
              </a:srgbClr>
            </a:outerShdw>
          </a:effectLst>
        </p:spPr>
      </p:sp>
      <p:sp>
        <p:nvSpPr>
          <p:cNvPr id="42" name="Shape 40"/>
          <p:cNvSpPr/>
          <p:nvPr/>
        </p:nvSpPr>
        <p:spPr>
          <a:xfrm>
            <a:off x="8138160" y="4251960"/>
            <a:ext cx="73152" cy="1051560"/>
          </a:xfrm>
          <a:prstGeom prst="rect">
            <a:avLst/>
          </a:prstGeom>
          <a:solidFill>
            <a:srgbClr val="178F65"/>
          </a:solidFill>
          <a:ln w="12700">
            <a:solidFill>
              <a:srgbClr val="178F65"/>
            </a:solidFill>
            <a:prstDash val="solid"/>
          </a:ln>
        </p:spPr>
      </p:sp>
      <p:sp>
        <p:nvSpPr>
          <p:cNvPr id="43" name="Text 41"/>
          <p:cNvSpPr/>
          <p:nvPr/>
        </p:nvSpPr>
        <p:spPr>
          <a:xfrm>
            <a:off x="8394192" y="4434840"/>
            <a:ext cx="2926080" cy="274320"/>
          </a:xfrm>
          <a:prstGeom prst="rect">
            <a:avLst/>
          </a:prstGeom>
          <a:noFill/>
          <a:ln/>
        </p:spPr>
        <p:txBody>
          <a:bodyPr wrap="square" lIns="0" tIns="0" rIns="0" bIns="0" rtlCol="0" anchor="ctr">
            <a:normAutofit/>
          </a:bodyPr>
          <a:lstStyle/>
          <a:p>
            <a:pPr indent="0" marL="0">
              <a:buNone/>
            </a:pPr>
            <a:r>
              <a:rPr lang="en-US" sz="1500" b="1" dirty="0">
                <a:solidFill>
                  <a:srgbClr val="102A43"/>
                </a:solidFill>
              </a:rPr>
              <a:t>Проверка</a:t>
            </a:r>
            <a:endParaRPr lang="en-US" sz="1500" dirty="0"/>
          </a:p>
        </p:txBody>
      </p:sp>
      <p:sp>
        <p:nvSpPr>
          <p:cNvPr id="44" name="Text 42"/>
          <p:cNvSpPr/>
          <p:nvPr/>
        </p:nvSpPr>
        <p:spPr>
          <a:xfrm>
            <a:off x="8394192" y="4818888"/>
            <a:ext cx="2898648" cy="338328"/>
          </a:xfrm>
          <a:prstGeom prst="rect">
            <a:avLst/>
          </a:prstGeom>
          <a:noFill/>
          <a:ln/>
        </p:spPr>
        <p:txBody>
          <a:bodyPr wrap="square" lIns="254" tIns="254" rIns="254" bIns="254" rtlCol="0" anchor="ctr">
            <a:normAutofit/>
          </a:bodyPr>
          <a:lstStyle/>
          <a:p>
            <a:pPr indent="0" marL="0">
              <a:buNone/>
            </a:pPr>
            <a:r>
              <a:rPr lang="en-US" sz="1150" dirty="0">
                <a:solidFill>
                  <a:srgbClr val="243B53"/>
                </a:solidFill>
              </a:rPr>
              <a:t>21 тест + valid и invalid input.</a:t>
            </a:r>
            <a:endParaRPr lang="en-US" sz="1150" dirty="0"/>
          </a:p>
        </p:txBody>
      </p:sp>
      <p:sp>
        <p:nvSpPr>
          <p:cNvPr id="45" name="Text 43"/>
          <p:cNvSpPr/>
          <p:nvPr/>
        </p:nvSpPr>
        <p:spPr>
          <a:xfrm>
            <a:off x="594360" y="6190488"/>
            <a:ext cx="10424160" cy="219456"/>
          </a:xfrm>
          <a:prstGeom prst="rect">
            <a:avLst/>
          </a:prstGeom>
          <a:noFill/>
          <a:ln/>
        </p:spPr>
        <p:txBody>
          <a:bodyPr wrap="square" lIns="0" tIns="0" rIns="0" bIns="0" rtlCol="0" anchor="ctr">
            <a:normAutofit/>
          </a:bodyPr>
          <a:lstStyle/>
          <a:p>
            <a:pPr indent="0" marL="0">
              <a:buNone/>
            </a:pPr>
            <a:r>
              <a:rPr lang="en-US" sz="1000" i="1" dirty="0">
                <a:solidFill>
                  <a:srgbClr val="627D98"/>
                </a:solidFill>
              </a:rPr>
              <a:t>Пример возвращает 10.4885 единицы; модель не переобучается при каждом запросе.</a:t>
            </a:r>
            <a:endParaRPr lang="en-US" sz="1000" dirty="0"/>
          </a:p>
        </p:txBody>
      </p:sp>
      <p:sp>
        <p:nvSpPr>
          <p:cNvPr id="25" name="Slide Number Placeholder 0"/>
          <p:cNvSpPr>
            <a:spLocks noGrp="1"/>
          </p:cNvSpPr>
          <p:nvPr>
            <p:ph type="sldNum" sz="quarter" idx="4294967295"/>
          </p:nvPr>
        </p:nvSpPr>
        <p:spPr>
          <a:xfrm>
            <a:off x="11503152" y="6565392"/>
            <a:ext cx="182880" cy="13716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94360" y="530352"/>
            <a:ext cx="2926080" cy="219456"/>
          </a:xfrm>
          <a:prstGeom prst="rect">
            <a:avLst/>
          </a:prstGeom>
          <a:noFill/>
          <a:ln/>
        </p:spPr>
        <p:txBody>
          <a:bodyPr wrap="square" lIns="0" tIns="0" rIns="0" bIns="0" rtlCol="0" anchor="ctr"/>
          <a:lstStyle/>
          <a:p>
            <a:pPr indent="0" marL="0">
              <a:buNone/>
            </a:pPr>
            <a:r>
              <a:rPr lang="en-US" sz="1000" b="1" spc="110" kern="0" dirty="0">
                <a:solidFill>
                  <a:srgbClr val="1976D2"/>
                </a:solidFill>
              </a:rPr>
              <a:t>10 • RESPONSIBLE USE</a:t>
            </a:r>
            <a:endParaRPr lang="en-US" sz="1000" dirty="0"/>
          </a:p>
        </p:txBody>
      </p:sp>
      <p:sp>
        <p:nvSpPr>
          <p:cNvPr id="3" name="Text 1"/>
          <p:cNvSpPr/>
          <p:nvPr/>
        </p:nvSpPr>
        <p:spPr>
          <a:xfrm>
            <a:off x="594360" y="804672"/>
            <a:ext cx="10972800" cy="566928"/>
          </a:xfrm>
          <a:prstGeom prst="rect">
            <a:avLst/>
          </a:prstGeom>
          <a:noFill/>
          <a:ln/>
        </p:spPr>
        <p:txBody>
          <a:bodyPr wrap="square" lIns="0" tIns="0" rIns="0" bIns="0" rtlCol="0" anchor="ctr">
            <a:normAutofit/>
          </a:bodyPr>
          <a:lstStyle/>
          <a:p>
            <a:pPr indent="0" marL="0">
              <a:buNone/>
            </a:pPr>
            <a:r>
              <a:rPr lang="en-US" sz="2700" b="1" dirty="0">
                <a:solidFill>
                  <a:srgbClr val="102A43"/>
                </a:solidFill>
              </a:rPr>
              <a:t>Воспроизводимость и границы применения</a:t>
            </a:r>
            <a:endParaRPr lang="en-US" sz="2700" dirty="0"/>
          </a:p>
        </p:txBody>
      </p:sp>
      <p:sp>
        <p:nvSpPr>
          <p:cNvPr id="4" name="Shape 2"/>
          <p:cNvSpPr/>
          <p:nvPr/>
        </p:nvSpPr>
        <p:spPr>
          <a:xfrm>
            <a:off x="685800" y="1508760"/>
            <a:ext cx="3429000" cy="1920240"/>
          </a:xfrm>
          <a:prstGeom prst="roundRect">
            <a:avLst>
              <a:gd name="adj" fmla="val 3810"/>
            </a:avLst>
          </a:prstGeom>
          <a:solidFill>
            <a:srgbClr val="FFFFFF"/>
          </a:solidFill>
          <a:ln w="15240">
            <a:solidFill>
              <a:srgbClr val="D9E2EC"/>
            </a:solidFill>
            <a:prstDash val="solid"/>
          </a:ln>
          <a:effectLst>
            <a:outerShdw sx="100000" sy="100000" kx="0" ky="0" algn="bl" rotWithShape="0" blurRad="19050" dist="50800" dir="2700000">
              <a:srgbClr val="B8C6D1">
                <a:alpha val="16000"/>
              </a:srgbClr>
            </a:outerShdw>
          </a:effectLst>
        </p:spPr>
      </p:sp>
      <p:sp>
        <p:nvSpPr>
          <p:cNvPr id="5" name="Shape 3"/>
          <p:cNvSpPr/>
          <p:nvPr/>
        </p:nvSpPr>
        <p:spPr>
          <a:xfrm>
            <a:off x="685800" y="1508760"/>
            <a:ext cx="73152" cy="1920240"/>
          </a:xfrm>
          <a:prstGeom prst="rect">
            <a:avLst/>
          </a:prstGeom>
          <a:solidFill>
            <a:srgbClr val="178F65"/>
          </a:solidFill>
          <a:ln w="12700">
            <a:solidFill>
              <a:srgbClr val="178F65"/>
            </a:solidFill>
            <a:prstDash val="solid"/>
          </a:ln>
        </p:spPr>
      </p:sp>
      <p:sp>
        <p:nvSpPr>
          <p:cNvPr id="6" name="Text 4"/>
          <p:cNvSpPr/>
          <p:nvPr/>
        </p:nvSpPr>
        <p:spPr>
          <a:xfrm>
            <a:off x="941832" y="1691640"/>
            <a:ext cx="3017520" cy="274320"/>
          </a:xfrm>
          <a:prstGeom prst="rect">
            <a:avLst/>
          </a:prstGeom>
          <a:noFill/>
          <a:ln/>
        </p:spPr>
        <p:txBody>
          <a:bodyPr wrap="square" lIns="0" tIns="0" rIns="0" bIns="0" rtlCol="0" anchor="ctr">
            <a:normAutofit/>
          </a:bodyPr>
          <a:lstStyle/>
          <a:p>
            <a:pPr indent="0" marL="0">
              <a:buNone/>
            </a:pPr>
            <a:r>
              <a:rPr lang="en-US" sz="1500" b="1" dirty="0">
                <a:solidFill>
                  <a:srgbClr val="102A43"/>
                </a:solidFill>
              </a:rPr>
              <a:t>Что проверено</a:t>
            </a:r>
            <a:endParaRPr lang="en-US" sz="1500" dirty="0"/>
          </a:p>
        </p:txBody>
      </p:sp>
      <p:sp>
        <p:nvSpPr>
          <p:cNvPr id="7" name="Text 5"/>
          <p:cNvSpPr/>
          <p:nvPr/>
        </p:nvSpPr>
        <p:spPr>
          <a:xfrm>
            <a:off x="941832" y="2075688"/>
            <a:ext cx="2990088" cy="1207008"/>
          </a:xfrm>
          <a:prstGeom prst="rect">
            <a:avLst/>
          </a:prstGeom>
          <a:noFill/>
          <a:ln/>
        </p:spPr>
        <p:txBody>
          <a:bodyPr wrap="square" lIns="254" tIns="254" rIns="254" bIns="254" rtlCol="0" anchor="ctr">
            <a:normAutofit/>
          </a:bodyPr>
          <a:lstStyle/>
          <a:p>
            <a:pPr indent="0" marL="0">
              <a:buNone/>
            </a:pPr>
            <a:r>
              <a:rPr lang="en-US" sz="1150" dirty="0">
                <a:solidFill>
                  <a:srgbClr val="243B53"/>
                </a:solidFill>
              </a:rPr>
              <a:t>Чистый GitHub clone</a:t>
            </a:r>
            <a:endParaRPr lang="en-US" sz="1150" dirty="0"/>
          </a:p>
          <a:p>
            <a:pPr indent="0" marL="0">
              <a:buNone/>
            </a:pPr>
            <a:r>
              <a:rPr lang="en-US" sz="1150" dirty="0">
                <a:solidFill>
                  <a:srgbClr val="243B53"/>
                </a:solidFill>
              </a:rPr>
              <a:t>Новая Python 3.10 среда</a:t>
            </a:r>
            <a:endParaRPr lang="en-US" sz="1150" dirty="0"/>
          </a:p>
          <a:p>
            <a:pPr indent="0" marL="0">
              <a:buNone/>
            </a:pPr>
            <a:r>
              <a:rPr lang="en-US" sz="1150" dirty="0">
                <a:solidFill>
                  <a:srgbClr val="243B53"/>
                </a:solidFill>
              </a:rPr>
              <a:t>Установка requirements</a:t>
            </a:r>
            <a:endParaRPr lang="en-US" sz="1150" dirty="0"/>
          </a:p>
          <a:p>
            <a:pPr indent="0" marL="0">
              <a:buNone/>
            </a:pPr>
            <a:r>
              <a:rPr lang="en-US" sz="1150" dirty="0">
                <a:solidFill>
                  <a:srgbClr val="243B53"/>
                </a:solidFill>
              </a:rPr>
              <a:t>21 тест PASS</a:t>
            </a:r>
            <a:endParaRPr lang="en-US" sz="1150" dirty="0"/>
          </a:p>
          <a:p>
            <a:pPr indent="0" marL="0">
              <a:buNone/>
            </a:pPr>
            <a:r>
              <a:rPr lang="en-US" sz="1150" dirty="0">
                <a:solidFill>
                  <a:srgbClr val="243B53"/>
                </a:solidFill>
              </a:rPr>
              <a:t>Тот же прогноз 10.4885</a:t>
            </a:r>
            <a:endParaRPr lang="en-US" sz="1150" dirty="0"/>
          </a:p>
        </p:txBody>
      </p:sp>
      <p:sp>
        <p:nvSpPr>
          <p:cNvPr id="8" name="Shape 6"/>
          <p:cNvSpPr/>
          <p:nvPr/>
        </p:nvSpPr>
        <p:spPr>
          <a:xfrm>
            <a:off x="4389120" y="1508760"/>
            <a:ext cx="3429000" cy="1920240"/>
          </a:xfrm>
          <a:prstGeom prst="roundRect">
            <a:avLst>
              <a:gd name="adj" fmla="val 3810"/>
            </a:avLst>
          </a:prstGeom>
          <a:solidFill>
            <a:srgbClr val="FFFFFF"/>
          </a:solidFill>
          <a:ln w="15240">
            <a:solidFill>
              <a:srgbClr val="D9E2EC"/>
            </a:solidFill>
            <a:prstDash val="solid"/>
          </a:ln>
          <a:effectLst>
            <a:outerShdw sx="100000" sy="100000" kx="0" ky="0" algn="bl" rotWithShape="0" blurRad="19050" dist="50800" dir="2700000">
              <a:srgbClr val="B8C6D1">
                <a:alpha val="16000"/>
              </a:srgbClr>
            </a:outerShdw>
          </a:effectLst>
        </p:spPr>
      </p:sp>
      <p:sp>
        <p:nvSpPr>
          <p:cNvPr id="9" name="Shape 7"/>
          <p:cNvSpPr/>
          <p:nvPr/>
        </p:nvSpPr>
        <p:spPr>
          <a:xfrm>
            <a:off x="4389120" y="1508760"/>
            <a:ext cx="73152" cy="1920240"/>
          </a:xfrm>
          <a:prstGeom prst="rect">
            <a:avLst/>
          </a:prstGeom>
          <a:solidFill>
            <a:srgbClr val="D64545"/>
          </a:solidFill>
          <a:ln w="12700">
            <a:solidFill>
              <a:srgbClr val="D64545"/>
            </a:solidFill>
            <a:prstDash val="solid"/>
          </a:ln>
        </p:spPr>
      </p:sp>
      <p:sp>
        <p:nvSpPr>
          <p:cNvPr id="10" name="Text 8"/>
          <p:cNvSpPr/>
          <p:nvPr/>
        </p:nvSpPr>
        <p:spPr>
          <a:xfrm>
            <a:off x="4645152" y="1691640"/>
            <a:ext cx="3017520" cy="274320"/>
          </a:xfrm>
          <a:prstGeom prst="rect">
            <a:avLst/>
          </a:prstGeom>
          <a:noFill/>
          <a:ln/>
        </p:spPr>
        <p:txBody>
          <a:bodyPr wrap="square" lIns="0" tIns="0" rIns="0" bIns="0" rtlCol="0" anchor="ctr">
            <a:normAutofit/>
          </a:bodyPr>
          <a:lstStyle/>
          <a:p>
            <a:pPr indent="0" marL="0">
              <a:buNone/>
            </a:pPr>
            <a:r>
              <a:rPr lang="en-US" sz="1500" b="1" dirty="0">
                <a:solidFill>
                  <a:srgbClr val="102A43"/>
                </a:solidFill>
              </a:rPr>
              <a:t>Где не применять</a:t>
            </a:r>
            <a:endParaRPr lang="en-US" sz="1500" dirty="0"/>
          </a:p>
        </p:txBody>
      </p:sp>
      <p:sp>
        <p:nvSpPr>
          <p:cNvPr id="11" name="Text 9"/>
          <p:cNvSpPr/>
          <p:nvPr/>
        </p:nvSpPr>
        <p:spPr>
          <a:xfrm>
            <a:off x="4645152" y="2075688"/>
            <a:ext cx="2990088" cy="1207008"/>
          </a:xfrm>
          <a:prstGeom prst="rect">
            <a:avLst/>
          </a:prstGeom>
          <a:noFill/>
          <a:ln/>
        </p:spPr>
        <p:txBody>
          <a:bodyPr wrap="square" lIns="254" tIns="254" rIns="254" bIns="254" rtlCol="0" anchor="ctr">
            <a:normAutofit/>
          </a:bodyPr>
          <a:lstStyle/>
          <a:p>
            <a:pPr indent="0" marL="0">
              <a:buNone/>
            </a:pPr>
            <a:r>
              <a:rPr lang="en-US" sz="1150" dirty="0">
                <a:solidFill>
                  <a:srgbClr val="243B53"/>
                </a:solidFill>
              </a:rPr>
              <a:t>Автоматические закупки без проверки</a:t>
            </a:r>
            <a:endParaRPr lang="en-US" sz="1150" dirty="0"/>
          </a:p>
          <a:p>
            <a:pPr indent="0" marL="0">
              <a:buNone/>
            </a:pPr>
            <a:r>
              <a:rPr lang="en-US" sz="1150" dirty="0">
                <a:solidFill>
                  <a:srgbClr val="243B53"/>
                </a:solidFill>
              </a:rPr>
              <a:t>Другой retailer без retraining</a:t>
            </a:r>
            <a:endParaRPr lang="en-US" sz="1150" dirty="0"/>
          </a:p>
          <a:p>
            <a:pPr indent="0" marL="0">
              <a:buNone/>
            </a:pPr>
            <a:r>
              <a:rPr lang="en-US" sz="1150" dirty="0">
                <a:solidFill>
                  <a:srgbClr val="243B53"/>
                </a:solidFill>
              </a:rPr>
              <a:t>Узбекистан без локальных данных</a:t>
            </a:r>
            <a:endParaRPr lang="en-US" sz="1150" dirty="0"/>
          </a:p>
          <a:p>
            <a:pPr indent="0" marL="0">
              <a:buNone/>
            </a:pPr>
            <a:r>
              <a:rPr lang="en-US" sz="1150" dirty="0">
                <a:solidFill>
                  <a:srgbClr val="243B53"/>
                </a:solidFill>
              </a:rPr>
              <a:t>Современный рынок без нового test</a:t>
            </a:r>
            <a:endParaRPr lang="en-US" sz="1150" dirty="0"/>
          </a:p>
        </p:txBody>
      </p:sp>
      <p:sp>
        <p:nvSpPr>
          <p:cNvPr id="12" name="Shape 10"/>
          <p:cNvSpPr/>
          <p:nvPr/>
        </p:nvSpPr>
        <p:spPr>
          <a:xfrm>
            <a:off x="8092440" y="1508760"/>
            <a:ext cx="3429000" cy="1920240"/>
          </a:xfrm>
          <a:prstGeom prst="roundRect">
            <a:avLst>
              <a:gd name="adj" fmla="val 3810"/>
            </a:avLst>
          </a:prstGeom>
          <a:solidFill>
            <a:srgbClr val="FFFFFF"/>
          </a:solidFill>
          <a:ln w="15240">
            <a:solidFill>
              <a:srgbClr val="D9E2EC"/>
            </a:solidFill>
            <a:prstDash val="solid"/>
          </a:ln>
          <a:effectLst>
            <a:outerShdw sx="100000" sy="100000" kx="0" ky="0" algn="bl" rotWithShape="0" blurRad="19050" dist="50800" dir="2700000">
              <a:srgbClr val="B8C6D1">
                <a:alpha val="16000"/>
              </a:srgbClr>
            </a:outerShdw>
          </a:effectLst>
        </p:spPr>
      </p:sp>
      <p:sp>
        <p:nvSpPr>
          <p:cNvPr id="13" name="Shape 11"/>
          <p:cNvSpPr/>
          <p:nvPr/>
        </p:nvSpPr>
        <p:spPr>
          <a:xfrm>
            <a:off x="8092440" y="1508760"/>
            <a:ext cx="73152" cy="1920240"/>
          </a:xfrm>
          <a:prstGeom prst="rect">
            <a:avLst/>
          </a:prstGeom>
          <a:solidFill>
            <a:srgbClr val="1976D2"/>
          </a:solidFill>
          <a:ln w="12700">
            <a:solidFill>
              <a:srgbClr val="1976D2"/>
            </a:solidFill>
            <a:prstDash val="solid"/>
          </a:ln>
        </p:spPr>
      </p:sp>
      <p:sp>
        <p:nvSpPr>
          <p:cNvPr id="14" name="Text 12"/>
          <p:cNvSpPr/>
          <p:nvPr/>
        </p:nvSpPr>
        <p:spPr>
          <a:xfrm>
            <a:off x="8348472" y="1691640"/>
            <a:ext cx="3017520" cy="274320"/>
          </a:xfrm>
          <a:prstGeom prst="rect">
            <a:avLst/>
          </a:prstGeom>
          <a:noFill/>
          <a:ln/>
        </p:spPr>
        <p:txBody>
          <a:bodyPr wrap="square" lIns="0" tIns="0" rIns="0" bIns="0" rtlCol="0" anchor="ctr">
            <a:normAutofit/>
          </a:bodyPr>
          <a:lstStyle/>
          <a:p>
            <a:pPr indent="0" marL="0">
              <a:buNone/>
            </a:pPr>
            <a:r>
              <a:rPr lang="en-US" sz="1500" b="1" dirty="0">
                <a:solidFill>
                  <a:srgbClr val="102A43"/>
                </a:solidFill>
              </a:rPr>
              <a:t>Что улучшить дальше</a:t>
            </a:r>
            <a:endParaRPr lang="en-US" sz="1500" dirty="0"/>
          </a:p>
        </p:txBody>
      </p:sp>
      <p:sp>
        <p:nvSpPr>
          <p:cNvPr id="15" name="Text 13"/>
          <p:cNvSpPr/>
          <p:nvPr/>
        </p:nvSpPr>
        <p:spPr>
          <a:xfrm>
            <a:off x="8348472" y="2075688"/>
            <a:ext cx="2990088" cy="1207008"/>
          </a:xfrm>
          <a:prstGeom prst="rect">
            <a:avLst/>
          </a:prstGeom>
          <a:noFill/>
          <a:ln/>
        </p:spPr>
        <p:txBody>
          <a:bodyPr wrap="square" lIns="254" tIns="254" rIns="254" bIns="254" rtlCol="0" anchor="ctr">
            <a:normAutofit/>
          </a:bodyPr>
          <a:lstStyle/>
          <a:p>
            <a:pPr indent="0" marL="0">
              <a:buNone/>
            </a:pPr>
            <a:r>
              <a:rPr lang="en-US" sz="1150" dirty="0">
                <a:solidFill>
                  <a:srgbClr val="243B53"/>
                </a:solidFill>
              </a:rPr>
              <a:t>Локальные данные</a:t>
            </a:r>
            <a:endParaRPr lang="en-US" sz="1150" dirty="0"/>
          </a:p>
          <a:p>
            <a:pPr indent="0" marL="0">
              <a:buNone/>
            </a:pPr>
            <a:r>
              <a:rPr lang="en-US" sz="1150" dirty="0">
                <a:solidFill>
                  <a:srgbClr val="243B53"/>
                </a:solidFill>
              </a:rPr>
              <a:t>Промо и остатки на складе</a:t>
            </a:r>
            <a:endParaRPr lang="en-US" sz="1150" dirty="0"/>
          </a:p>
          <a:p>
            <a:pPr indent="0" marL="0">
              <a:buNone/>
            </a:pPr>
            <a:r>
              <a:rPr lang="en-US" sz="1150" dirty="0">
                <a:solidFill>
                  <a:srgbClr val="243B53"/>
                </a:solidFill>
              </a:rPr>
              <a:t>Интервалы неопределённости</a:t>
            </a:r>
            <a:endParaRPr lang="en-US" sz="1150" dirty="0"/>
          </a:p>
          <a:p>
            <a:pPr indent="0" marL="0">
              <a:buNone/>
            </a:pPr>
            <a:r>
              <a:rPr lang="en-US" sz="1150" dirty="0">
                <a:solidFill>
                  <a:srgbClr val="243B53"/>
                </a:solidFill>
              </a:rPr>
              <a:t>Мониторинг drift и retraining</a:t>
            </a:r>
            <a:endParaRPr lang="en-US" sz="1150" dirty="0"/>
          </a:p>
        </p:txBody>
      </p:sp>
      <p:sp>
        <p:nvSpPr>
          <p:cNvPr id="16" name="Shape 14"/>
          <p:cNvSpPr/>
          <p:nvPr/>
        </p:nvSpPr>
        <p:spPr>
          <a:xfrm>
            <a:off x="1143000" y="4069080"/>
            <a:ext cx="9875520" cy="1143000"/>
          </a:xfrm>
          <a:prstGeom prst="roundRect">
            <a:avLst>
              <a:gd name="adj" fmla="val 4800"/>
            </a:avLst>
          </a:prstGeom>
          <a:solidFill>
            <a:srgbClr val="102A43"/>
          </a:solidFill>
          <a:ln w="12700">
            <a:solidFill>
              <a:srgbClr val="102A43"/>
            </a:solidFill>
            <a:prstDash val="solid"/>
          </a:ln>
        </p:spPr>
      </p:sp>
      <p:sp>
        <p:nvSpPr>
          <p:cNvPr id="17" name="Text 15"/>
          <p:cNvSpPr/>
          <p:nvPr/>
        </p:nvSpPr>
        <p:spPr>
          <a:xfrm>
            <a:off x="1463040" y="4361688"/>
            <a:ext cx="914400" cy="310896"/>
          </a:xfrm>
          <a:prstGeom prst="rect">
            <a:avLst/>
          </a:prstGeom>
          <a:noFill/>
          <a:ln/>
        </p:spPr>
        <p:txBody>
          <a:bodyPr wrap="square" lIns="0" tIns="0" rIns="0" bIns="0" rtlCol="0" anchor="ctr"/>
          <a:lstStyle/>
          <a:p>
            <a:pPr indent="0" marL="0">
              <a:buNone/>
            </a:pPr>
            <a:r>
              <a:rPr lang="en-US" sz="1800" b="1" dirty="0">
                <a:solidFill>
                  <a:srgbClr val="F59E0B"/>
                </a:solidFill>
              </a:rPr>
              <a:t>Итог</a:t>
            </a:r>
            <a:endParaRPr lang="en-US" sz="1800" dirty="0"/>
          </a:p>
        </p:txBody>
      </p:sp>
      <p:sp>
        <p:nvSpPr>
          <p:cNvPr id="18" name="Text 16"/>
          <p:cNvSpPr/>
          <p:nvPr/>
        </p:nvSpPr>
        <p:spPr>
          <a:xfrm>
            <a:off x="2331720" y="4251960"/>
            <a:ext cx="8138160" cy="512064"/>
          </a:xfrm>
          <a:prstGeom prst="rect">
            <a:avLst/>
          </a:prstGeom>
          <a:noFill/>
          <a:ln/>
        </p:spPr>
        <p:txBody>
          <a:bodyPr wrap="square" lIns="254" tIns="254" rIns="254" bIns="254" rtlCol="0" anchor="ctr">
            <a:normAutofit/>
          </a:bodyPr>
          <a:lstStyle/>
          <a:p>
            <a:pPr indent="0" marL="0">
              <a:buNone/>
            </a:pPr>
            <a:r>
              <a:rPr lang="en-US" sz="1800" b="1" dirty="0">
                <a:solidFill>
                  <a:srgbClr val="FFFFFF"/>
                </a:solidFill>
              </a:rPr>
              <a:t>Random Forest даёт полезное улучшение, но остаётся инструментом поддержки решения с human review.</a:t>
            </a:r>
            <a:endParaRPr lang="en-US" sz="1800" dirty="0"/>
          </a:p>
        </p:txBody>
      </p:sp>
      <p:sp>
        <p:nvSpPr>
          <p:cNvPr id="19" name="Text 17"/>
          <p:cNvSpPr/>
          <p:nvPr/>
        </p:nvSpPr>
        <p:spPr>
          <a:xfrm>
            <a:off x="594360" y="6190488"/>
            <a:ext cx="10424160" cy="219456"/>
          </a:xfrm>
          <a:prstGeom prst="rect">
            <a:avLst/>
          </a:prstGeom>
          <a:noFill/>
          <a:ln/>
        </p:spPr>
        <p:txBody>
          <a:bodyPr wrap="square" lIns="0" tIns="0" rIns="0" bIns="0" rtlCol="0" anchor="ctr">
            <a:normAutofit/>
          </a:bodyPr>
          <a:lstStyle/>
          <a:p>
            <a:pPr indent="0" marL="0">
              <a:buNone/>
            </a:pPr>
            <a:r>
              <a:rPr lang="en-US" sz="1000" i="1" dirty="0">
                <a:solidFill>
                  <a:srgbClr val="627D98"/>
                </a:solidFill>
              </a:rPr>
              <a:t>Проект готов к объяснению через доказательства: данные → решения → метрики → ошибки → ограничения.</a:t>
            </a:r>
            <a:endParaRPr lang="en-US" sz="1000" dirty="0"/>
          </a:p>
        </p:txBody>
      </p:sp>
      <p:sp>
        <p:nvSpPr>
          <p:cNvPr id="25" name="Slide Number Placeholder 0"/>
          <p:cNvSpPr>
            <a:spLocks noGrp="1"/>
          </p:cNvSpPr>
          <p:nvPr>
            <p:ph type="sldNum" sz="quarter" idx="4294967295"/>
          </p:nvPr>
        </p:nvSpPr>
        <p:spPr>
          <a:xfrm>
            <a:off x="11503152" y="6565392"/>
            <a:ext cx="182880" cy="13716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02A43"/>
          </a:solidFill>
          <a:ln w="12700">
            <a:solidFill>
              <a:srgbClr val="102A43"/>
            </a:solidFill>
            <a:prstDash val="solid"/>
          </a:ln>
        </p:spPr>
      </p:sp>
      <p:sp>
        <p:nvSpPr>
          <p:cNvPr id="3" name="Text 1"/>
          <p:cNvSpPr/>
          <p:nvPr/>
        </p:nvSpPr>
        <p:spPr>
          <a:xfrm>
            <a:off x="777240" y="960120"/>
            <a:ext cx="4572000" cy="731520"/>
          </a:xfrm>
          <a:prstGeom prst="rect">
            <a:avLst/>
          </a:prstGeom>
          <a:noFill/>
          <a:ln/>
        </p:spPr>
        <p:txBody>
          <a:bodyPr wrap="square" lIns="0" tIns="0" rIns="0" bIns="0" rtlCol="0" anchor="ctr"/>
          <a:lstStyle/>
          <a:p>
            <a:pPr indent="0" marL="0">
              <a:buNone/>
            </a:pPr>
            <a:r>
              <a:rPr lang="en-US" sz="4200" b="1" dirty="0">
                <a:solidFill>
                  <a:srgbClr val="FFFFFF"/>
                </a:solidFill>
              </a:rPr>
              <a:t>Спасибо</a:t>
            </a:r>
            <a:endParaRPr lang="en-US" sz="4200" dirty="0"/>
          </a:p>
        </p:txBody>
      </p:sp>
      <p:sp>
        <p:nvSpPr>
          <p:cNvPr id="4" name="Text 2"/>
          <p:cNvSpPr/>
          <p:nvPr/>
        </p:nvSpPr>
        <p:spPr>
          <a:xfrm>
            <a:off x="795528" y="1783080"/>
            <a:ext cx="4206240" cy="502920"/>
          </a:xfrm>
          <a:prstGeom prst="rect">
            <a:avLst/>
          </a:prstGeom>
          <a:noFill/>
          <a:ln/>
        </p:spPr>
        <p:txBody>
          <a:bodyPr wrap="square" lIns="0" tIns="0" rIns="0" bIns="0" rtlCol="0" anchor="ctr"/>
          <a:lstStyle/>
          <a:p>
            <a:pPr indent="0" marL="0">
              <a:buNone/>
            </a:pPr>
            <a:r>
              <a:rPr lang="en-US" sz="2800" b="1" dirty="0">
                <a:solidFill>
                  <a:srgbClr val="F59E0B"/>
                </a:solidFill>
              </a:rPr>
              <a:t>Вопросы?</a:t>
            </a:r>
            <a:endParaRPr lang="en-US" sz="2800" dirty="0"/>
          </a:p>
        </p:txBody>
      </p:sp>
      <p:sp>
        <p:nvSpPr>
          <p:cNvPr id="5" name="Text 3"/>
          <p:cNvSpPr/>
          <p:nvPr/>
        </p:nvSpPr>
        <p:spPr>
          <a:xfrm>
            <a:off x="822960" y="2743200"/>
            <a:ext cx="5669280" cy="438912"/>
          </a:xfrm>
          <a:prstGeom prst="rect">
            <a:avLst/>
          </a:prstGeom>
          <a:noFill/>
          <a:ln/>
        </p:spPr>
        <p:txBody>
          <a:bodyPr wrap="square" lIns="0" tIns="0" rIns="0" bIns="0" rtlCol="0" anchor="ctr"/>
          <a:lstStyle/>
          <a:p>
            <a:pPr indent="0" marL="0">
              <a:buNone/>
            </a:pPr>
            <a:r>
              <a:rPr lang="en-US" sz="2000" dirty="0">
                <a:solidFill>
                  <a:srgbClr val="C7DDFC"/>
                </a:solidFill>
              </a:rPr>
              <a:t>Decision  →  Evidence  →  Limitation</a:t>
            </a:r>
            <a:endParaRPr lang="en-US" sz="2000" dirty="0"/>
          </a:p>
        </p:txBody>
      </p:sp>
      <p:sp>
        <p:nvSpPr>
          <p:cNvPr id="6" name="Shape 4"/>
          <p:cNvSpPr/>
          <p:nvPr/>
        </p:nvSpPr>
        <p:spPr>
          <a:xfrm>
            <a:off x="6903720" y="960120"/>
            <a:ext cx="4251960" cy="1143000"/>
          </a:xfrm>
          <a:prstGeom prst="roundRect">
            <a:avLst>
              <a:gd name="adj" fmla="val 6400"/>
            </a:avLst>
          </a:prstGeom>
          <a:solidFill>
            <a:srgbClr val="FFFFFF"/>
          </a:solidFill>
          <a:ln w="15240">
            <a:solidFill>
              <a:srgbClr val="D9E2EC"/>
            </a:solidFill>
            <a:prstDash val="solid"/>
          </a:ln>
          <a:effectLst>
            <a:outerShdw sx="100000" sy="100000" kx="0" ky="0" algn="bl" rotWithShape="0" blurRad="19050" dist="50800" dir="2700000">
              <a:srgbClr val="B8C6D1">
                <a:alpha val="16000"/>
              </a:srgbClr>
            </a:outerShdw>
          </a:effectLst>
        </p:spPr>
      </p:sp>
      <p:sp>
        <p:nvSpPr>
          <p:cNvPr id="7" name="Shape 5"/>
          <p:cNvSpPr/>
          <p:nvPr/>
        </p:nvSpPr>
        <p:spPr>
          <a:xfrm>
            <a:off x="6903720" y="960120"/>
            <a:ext cx="73152" cy="1143000"/>
          </a:xfrm>
          <a:prstGeom prst="rect">
            <a:avLst/>
          </a:prstGeom>
          <a:solidFill>
            <a:srgbClr val="178F65"/>
          </a:solidFill>
          <a:ln w="12700">
            <a:solidFill>
              <a:srgbClr val="178F65"/>
            </a:solidFill>
            <a:prstDash val="solid"/>
          </a:ln>
        </p:spPr>
      </p:sp>
      <p:sp>
        <p:nvSpPr>
          <p:cNvPr id="8" name="Text 6"/>
          <p:cNvSpPr/>
          <p:nvPr/>
        </p:nvSpPr>
        <p:spPr>
          <a:xfrm>
            <a:off x="7159752" y="1143000"/>
            <a:ext cx="3840480" cy="274320"/>
          </a:xfrm>
          <a:prstGeom prst="rect">
            <a:avLst/>
          </a:prstGeom>
          <a:noFill/>
          <a:ln/>
        </p:spPr>
        <p:txBody>
          <a:bodyPr wrap="square" lIns="0" tIns="0" rIns="0" bIns="0" rtlCol="0" anchor="ctr">
            <a:normAutofit/>
          </a:bodyPr>
          <a:lstStyle/>
          <a:p>
            <a:pPr indent="0" marL="0">
              <a:buNone/>
            </a:pPr>
            <a:r>
              <a:rPr lang="en-US" sz="1500" b="1" dirty="0">
                <a:solidFill>
                  <a:srgbClr val="102A43"/>
                </a:solidFill>
              </a:rPr>
              <a:t>Главный результат</a:t>
            </a:r>
            <a:endParaRPr lang="en-US" sz="1500" dirty="0"/>
          </a:p>
        </p:txBody>
      </p:sp>
      <p:sp>
        <p:nvSpPr>
          <p:cNvPr id="9" name="Text 7"/>
          <p:cNvSpPr/>
          <p:nvPr/>
        </p:nvSpPr>
        <p:spPr>
          <a:xfrm>
            <a:off x="7159752" y="1527048"/>
            <a:ext cx="3813048" cy="429768"/>
          </a:xfrm>
          <a:prstGeom prst="rect">
            <a:avLst/>
          </a:prstGeom>
          <a:noFill/>
          <a:ln/>
        </p:spPr>
        <p:txBody>
          <a:bodyPr wrap="square" lIns="254" tIns="254" rIns="254" bIns="254" rtlCol="0" anchor="ctr">
            <a:normAutofit/>
          </a:bodyPr>
          <a:lstStyle/>
          <a:p>
            <a:pPr indent="0" marL="0">
              <a:buNone/>
            </a:pPr>
            <a:r>
              <a:rPr lang="en-US" sz="1150" dirty="0">
                <a:solidFill>
                  <a:srgbClr val="243B53"/>
                </a:solidFill>
              </a:rPr>
              <a:t>Test MAE 4.4179 • улучшение 7.72%</a:t>
            </a:r>
            <a:endParaRPr lang="en-US" sz="1150" dirty="0"/>
          </a:p>
        </p:txBody>
      </p:sp>
      <p:sp>
        <p:nvSpPr>
          <p:cNvPr id="10" name="Shape 8"/>
          <p:cNvSpPr/>
          <p:nvPr/>
        </p:nvSpPr>
        <p:spPr>
          <a:xfrm>
            <a:off x="6903720" y="2377440"/>
            <a:ext cx="4251960" cy="1143000"/>
          </a:xfrm>
          <a:prstGeom prst="roundRect">
            <a:avLst>
              <a:gd name="adj" fmla="val 6400"/>
            </a:avLst>
          </a:prstGeom>
          <a:solidFill>
            <a:srgbClr val="FFFFFF"/>
          </a:solidFill>
          <a:ln w="15240">
            <a:solidFill>
              <a:srgbClr val="D9E2EC"/>
            </a:solidFill>
            <a:prstDash val="solid"/>
          </a:ln>
          <a:effectLst>
            <a:outerShdw sx="100000" sy="100000" kx="0" ky="0" algn="bl" rotWithShape="0" blurRad="19050" dist="50800" dir="2700000">
              <a:srgbClr val="B8C6D1">
                <a:alpha val="16000"/>
              </a:srgbClr>
            </a:outerShdw>
          </a:effectLst>
        </p:spPr>
      </p:sp>
      <p:sp>
        <p:nvSpPr>
          <p:cNvPr id="11" name="Shape 9"/>
          <p:cNvSpPr/>
          <p:nvPr/>
        </p:nvSpPr>
        <p:spPr>
          <a:xfrm>
            <a:off x="6903720" y="2377440"/>
            <a:ext cx="73152" cy="1143000"/>
          </a:xfrm>
          <a:prstGeom prst="rect">
            <a:avLst/>
          </a:prstGeom>
          <a:solidFill>
            <a:srgbClr val="D64545"/>
          </a:solidFill>
          <a:ln w="12700">
            <a:solidFill>
              <a:srgbClr val="D64545"/>
            </a:solidFill>
            <a:prstDash val="solid"/>
          </a:ln>
        </p:spPr>
      </p:sp>
      <p:sp>
        <p:nvSpPr>
          <p:cNvPr id="12" name="Text 10"/>
          <p:cNvSpPr/>
          <p:nvPr/>
        </p:nvSpPr>
        <p:spPr>
          <a:xfrm>
            <a:off x="7159752" y="2560320"/>
            <a:ext cx="3840480" cy="274320"/>
          </a:xfrm>
          <a:prstGeom prst="rect">
            <a:avLst/>
          </a:prstGeom>
          <a:noFill/>
          <a:ln/>
        </p:spPr>
        <p:txBody>
          <a:bodyPr wrap="square" lIns="0" tIns="0" rIns="0" bIns="0" rtlCol="0" anchor="ctr">
            <a:normAutofit/>
          </a:bodyPr>
          <a:lstStyle/>
          <a:p>
            <a:pPr indent="0" marL="0">
              <a:buNone/>
            </a:pPr>
            <a:r>
              <a:rPr lang="en-US" sz="1500" b="1" dirty="0">
                <a:solidFill>
                  <a:srgbClr val="102A43"/>
                </a:solidFill>
              </a:rPr>
              <a:t>Главный риск</a:t>
            </a:r>
            <a:endParaRPr lang="en-US" sz="1500" dirty="0"/>
          </a:p>
        </p:txBody>
      </p:sp>
      <p:sp>
        <p:nvSpPr>
          <p:cNvPr id="13" name="Text 11"/>
          <p:cNvSpPr/>
          <p:nvPr/>
        </p:nvSpPr>
        <p:spPr>
          <a:xfrm>
            <a:off x="7159752" y="2944368"/>
            <a:ext cx="3813048" cy="429768"/>
          </a:xfrm>
          <a:prstGeom prst="rect">
            <a:avLst/>
          </a:prstGeom>
          <a:noFill/>
          <a:ln/>
        </p:spPr>
        <p:txBody>
          <a:bodyPr wrap="square" lIns="254" tIns="254" rIns="254" bIns="254" rtlCol="0" anchor="ctr">
            <a:normAutofit/>
          </a:bodyPr>
          <a:lstStyle/>
          <a:p>
            <a:pPr indent="0" marL="0">
              <a:buNone/>
            </a:pPr>
            <a:r>
              <a:rPr lang="en-US" sz="1150" dirty="0">
                <a:solidFill>
                  <a:srgbClr val="243B53"/>
                </a:solidFill>
              </a:rPr>
              <a:t>Высокий спрос сложнее: MAE 12.33</a:t>
            </a:r>
            <a:endParaRPr lang="en-US" sz="1150" dirty="0"/>
          </a:p>
        </p:txBody>
      </p:sp>
      <p:sp>
        <p:nvSpPr>
          <p:cNvPr id="14" name="Shape 12"/>
          <p:cNvSpPr/>
          <p:nvPr/>
        </p:nvSpPr>
        <p:spPr>
          <a:xfrm>
            <a:off x="6903720" y="3794760"/>
            <a:ext cx="4251960" cy="1143000"/>
          </a:xfrm>
          <a:prstGeom prst="roundRect">
            <a:avLst>
              <a:gd name="adj" fmla="val 6400"/>
            </a:avLst>
          </a:prstGeom>
          <a:solidFill>
            <a:srgbClr val="FFFFFF"/>
          </a:solidFill>
          <a:ln w="15240">
            <a:solidFill>
              <a:srgbClr val="D9E2EC"/>
            </a:solidFill>
            <a:prstDash val="solid"/>
          </a:ln>
          <a:effectLst>
            <a:outerShdw sx="100000" sy="100000" kx="0" ky="0" algn="bl" rotWithShape="0" blurRad="19050" dist="50800" dir="2700000">
              <a:srgbClr val="B8C6D1">
                <a:alpha val="16000"/>
              </a:srgbClr>
            </a:outerShdw>
          </a:effectLst>
        </p:spPr>
      </p:sp>
      <p:sp>
        <p:nvSpPr>
          <p:cNvPr id="15" name="Shape 13"/>
          <p:cNvSpPr/>
          <p:nvPr/>
        </p:nvSpPr>
        <p:spPr>
          <a:xfrm>
            <a:off x="6903720" y="3794760"/>
            <a:ext cx="73152" cy="1143000"/>
          </a:xfrm>
          <a:prstGeom prst="rect">
            <a:avLst/>
          </a:prstGeom>
          <a:solidFill>
            <a:srgbClr val="F59E0B"/>
          </a:solidFill>
          <a:ln w="12700">
            <a:solidFill>
              <a:srgbClr val="F59E0B"/>
            </a:solidFill>
            <a:prstDash val="solid"/>
          </a:ln>
        </p:spPr>
      </p:sp>
      <p:sp>
        <p:nvSpPr>
          <p:cNvPr id="16" name="Text 14"/>
          <p:cNvSpPr/>
          <p:nvPr/>
        </p:nvSpPr>
        <p:spPr>
          <a:xfrm>
            <a:off x="7159752" y="3977640"/>
            <a:ext cx="3840480" cy="274320"/>
          </a:xfrm>
          <a:prstGeom prst="rect">
            <a:avLst/>
          </a:prstGeom>
          <a:noFill/>
          <a:ln/>
        </p:spPr>
        <p:txBody>
          <a:bodyPr wrap="square" lIns="0" tIns="0" rIns="0" bIns="0" rtlCol="0" anchor="ctr">
            <a:normAutofit/>
          </a:bodyPr>
          <a:lstStyle/>
          <a:p>
            <a:pPr indent="0" marL="0">
              <a:buNone/>
            </a:pPr>
            <a:r>
              <a:rPr lang="en-US" sz="1500" b="1" dirty="0">
                <a:solidFill>
                  <a:srgbClr val="102A43"/>
                </a:solidFill>
              </a:rPr>
              <a:t>Главный вывод</a:t>
            </a:r>
            <a:endParaRPr lang="en-US" sz="1500" dirty="0"/>
          </a:p>
        </p:txBody>
      </p:sp>
      <p:sp>
        <p:nvSpPr>
          <p:cNvPr id="17" name="Text 15"/>
          <p:cNvSpPr/>
          <p:nvPr/>
        </p:nvSpPr>
        <p:spPr>
          <a:xfrm>
            <a:off x="7159752" y="4361688"/>
            <a:ext cx="3813048" cy="429768"/>
          </a:xfrm>
          <a:prstGeom prst="rect">
            <a:avLst/>
          </a:prstGeom>
          <a:noFill/>
          <a:ln/>
        </p:spPr>
        <p:txBody>
          <a:bodyPr wrap="square" lIns="254" tIns="254" rIns="254" bIns="254" rtlCol="0" anchor="ctr">
            <a:normAutofit/>
          </a:bodyPr>
          <a:lstStyle/>
          <a:p>
            <a:pPr indent="0" marL="0">
              <a:buNone/>
            </a:pPr>
            <a:r>
              <a:rPr lang="en-US" sz="1150" dirty="0">
                <a:solidFill>
                  <a:srgbClr val="243B53"/>
                </a:solidFill>
              </a:rPr>
              <a:t>Использовать с human review</a:t>
            </a:r>
            <a:endParaRPr lang="en-US" sz="1150" dirty="0"/>
          </a:p>
        </p:txBody>
      </p:sp>
      <p:sp>
        <p:nvSpPr>
          <p:cNvPr id="18" name="Text 16"/>
          <p:cNvSpPr/>
          <p:nvPr/>
        </p:nvSpPr>
        <p:spPr>
          <a:xfrm>
            <a:off x="822960" y="5166360"/>
            <a:ext cx="5486400" cy="640080"/>
          </a:xfrm>
          <a:prstGeom prst="rect">
            <a:avLst/>
          </a:prstGeom>
          <a:noFill/>
          <a:ln/>
        </p:spPr>
        <p:txBody>
          <a:bodyPr wrap="square" lIns="0" tIns="0" rIns="0" bIns="0" rtlCol="0" anchor="ctr"/>
          <a:lstStyle/>
          <a:p>
            <a:pPr indent="0" marL="0">
              <a:buNone/>
            </a:pPr>
            <a:r>
              <a:rPr lang="en-US" sz="1500" dirty="0">
                <a:solidFill>
                  <a:srgbClr val="FFFFFF"/>
                </a:solidFill>
              </a:rPr>
              <a:t>GitHub: retail-demand-forecasting</a:t>
            </a:r>
            <a:endParaRPr lang="en-US" sz="1500" dirty="0"/>
          </a:p>
          <a:p>
            <a:pPr indent="0" marL="0">
              <a:buNone/>
            </a:pPr>
            <a:r>
              <a:rPr lang="en-US" sz="1500" dirty="0">
                <a:solidFill>
                  <a:srgbClr val="FFFFFF"/>
                </a:solidFill>
              </a:rPr>
              <a:t>Demo: demo.ipynb / Flask UI</a:t>
            </a:r>
            <a:endParaRPr lang="en-US" sz="1500" dirty="0"/>
          </a:p>
        </p:txBody>
      </p:sp>
      <p:sp>
        <p:nvSpPr>
          <p:cNvPr id="25" name="Slide Number Placeholder 0"/>
          <p:cNvSpPr>
            <a:spLocks noGrp="1"/>
          </p:cNvSpPr>
          <p:nvPr>
            <p:ph type="sldNum" sz="quarter" idx="4294967295"/>
          </p:nvPr>
        </p:nvSpPr>
        <p:spPr>
          <a:xfrm>
            <a:off x="11503152" y="6565392"/>
            <a:ext cx="182880" cy="13716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Tulpar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Retail Demand Forecasting</dc:title>
  <dc:subject>Retail Demand Forecasting — Capstone Defense</dc:subject>
  <dc:creator>Носиров Нодир</dc:creator>
  <cp:lastModifiedBy>Носиров Нодир</cp:lastModifiedBy>
  <cp:revision>1</cp:revision>
  <dcterms:created xsi:type="dcterms:W3CDTF">2026-08-12T15:18:20Z</dcterms:created>
  <dcterms:modified xsi:type="dcterms:W3CDTF">2026-08-12T15:18:20Z</dcterms:modified>
</cp:coreProperties>
</file>