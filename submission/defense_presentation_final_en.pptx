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slides/charts/chart1.xml" ContentType="application/vnd.openxmlformats-officedocument.drawingml.chart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slides/charts/chart2.xml" ContentType="application/vnd.openxmlformats-officedocument.drawingml.chart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dbaa831663c4381" /><Relationship Type="http://schemas.openxmlformats.org/officeDocument/2006/relationships/extended-properties" Target="/docProps/app.xml" Id="Rc03b922fb68c49ce" /><Relationship Type="http://schemas.openxmlformats.org/officeDocument/2006/relationships/officeDocument" Target="/ppt/presentation.xml" Id="R7d9341980fc54a6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7af02594de94e67"/>
  </p:sldMasterIdLst>
  <p:notesMasterIdLst>
    <p:notesMasterId xmlns:r="http://schemas.openxmlformats.org/officeDocument/2006/relationships" r:id="R9708e5758b304539"/>
  </p:notesMasterIdLst>
  <p:sldIdLst>
    <p:sldId xmlns:r="http://schemas.openxmlformats.org/officeDocument/2006/relationships" id="256" r:id="Reea2105133c04a67"/>
    <p:sldId xmlns:r="http://schemas.openxmlformats.org/officeDocument/2006/relationships" id="257" r:id="Re12db6c73d484fe5"/>
    <p:sldId xmlns:r="http://schemas.openxmlformats.org/officeDocument/2006/relationships" id="258" r:id="Ra348921156cd4a10"/>
    <p:sldId xmlns:r="http://schemas.openxmlformats.org/officeDocument/2006/relationships" id="259" r:id="R4a8040078be04b5f"/>
    <p:sldId xmlns:r="http://schemas.openxmlformats.org/officeDocument/2006/relationships" id="260" r:id="R218e24ad33e340a1"/>
    <p:sldId xmlns:r="http://schemas.openxmlformats.org/officeDocument/2006/relationships" id="261" r:id="R517af4bca69a4f26"/>
    <p:sldId xmlns:r="http://schemas.openxmlformats.org/officeDocument/2006/relationships" id="262" r:id="R3aaa4bf04afa4dca"/>
    <p:sldId xmlns:r="http://schemas.openxmlformats.org/officeDocument/2006/relationships" id="263" r:id="R00568f3c81654f8d"/>
    <p:sldId xmlns:r="http://schemas.openxmlformats.org/officeDocument/2006/relationships" id="264" r:id="Re2a3233954b24b18"/>
    <p:sldId xmlns:r="http://schemas.openxmlformats.org/officeDocument/2006/relationships" id="265" r:id="R33d51f24706c4f65"/>
    <p:sldId xmlns:r="http://schemas.openxmlformats.org/officeDocument/2006/relationships" id="266" r:id="R86bee203088b4148"/>
    <p:sldId xmlns:r="http://schemas.openxmlformats.org/officeDocument/2006/relationships" id="267" r:id="Rb3cd633dcb274ac5"/>
    <p:sldId xmlns:r="http://schemas.openxmlformats.org/officeDocument/2006/relationships" id="268" r:id="Rd9cdbfe575e24e56"/>
    <p:sldId xmlns:r="http://schemas.openxmlformats.org/officeDocument/2006/relationships" id="269" r:id="Rcaeea170bc3947d7"/>
    <p:sldId xmlns:r="http://schemas.openxmlformats.org/officeDocument/2006/relationships" id="270" r:id="R5e3a711c95bc4192"/>
    <p:sldId xmlns:r="http://schemas.openxmlformats.org/officeDocument/2006/relationships" id="271" r:id="R1018cdd04f354b06"/>
    <p:sldId xmlns:r="http://schemas.openxmlformats.org/officeDocument/2006/relationships" id="272" r:id="R365b8f3c5aab4a75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 snapToObjects="1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5576ab65f0a4d9b" /><Relationship Type="http://schemas.openxmlformats.org/officeDocument/2006/relationships/slideMaster" Target="/ppt/slideMasters/slideMaster1.xml" Id="Rc7af02594de94e67" /><Relationship Type="http://schemas.openxmlformats.org/officeDocument/2006/relationships/notesMaster" Target="/ppt/notesMasters/notesMaster1.xml" Id="R9708e5758b304539" /><Relationship Type="http://schemas.openxmlformats.org/officeDocument/2006/relationships/presProps" Target="/ppt/presProps.xml" Id="Rca1903db2afc4850" /><Relationship Type="http://schemas.openxmlformats.org/officeDocument/2006/relationships/viewProps" Target="/ppt/viewProps.xml" Id="R7e5f2383089346ad" /><Relationship Type="http://schemas.openxmlformats.org/officeDocument/2006/relationships/tableStyles" Target="/ppt/tableStyles.xml" Id="R4b73132bd9094eb4" /><Relationship Type="http://schemas.openxmlformats.org/officeDocument/2006/relationships/slide" Target="/ppt/slides/slide1.xml" Id="Reea2105133c04a67" /><Relationship Type="http://schemas.openxmlformats.org/officeDocument/2006/relationships/slide" Target="/ppt/slides/slide2.xml" Id="Re12db6c73d484fe5" /><Relationship Type="http://schemas.openxmlformats.org/officeDocument/2006/relationships/slide" Target="/ppt/slides/slide3.xml" Id="Ra348921156cd4a10" /><Relationship Type="http://schemas.openxmlformats.org/officeDocument/2006/relationships/slide" Target="/ppt/slides/slide4.xml" Id="R4a8040078be04b5f" /><Relationship Type="http://schemas.openxmlformats.org/officeDocument/2006/relationships/slide" Target="/ppt/slides/slide5.xml" Id="R218e24ad33e340a1" /><Relationship Type="http://schemas.openxmlformats.org/officeDocument/2006/relationships/slide" Target="/ppt/slides/slide6.xml" Id="R517af4bca69a4f26" /><Relationship Type="http://schemas.openxmlformats.org/officeDocument/2006/relationships/slide" Target="/ppt/slides/slide7.xml" Id="R3aaa4bf04afa4dca" /><Relationship Type="http://schemas.openxmlformats.org/officeDocument/2006/relationships/slide" Target="/ppt/slides/slide8.xml" Id="R00568f3c81654f8d" /><Relationship Type="http://schemas.openxmlformats.org/officeDocument/2006/relationships/slide" Target="/ppt/slides/slide9.xml" Id="Re2a3233954b24b18" /><Relationship Type="http://schemas.openxmlformats.org/officeDocument/2006/relationships/slide" Target="/ppt/slides/slide10.xml" Id="R33d51f24706c4f65" /><Relationship Type="http://schemas.openxmlformats.org/officeDocument/2006/relationships/slide" Target="/ppt/slides/slide11.xml" Id="R86bee203088b4148" /><Relationship Type="http://schemas.openxmlformats.org/officeDocument/2006/relationships/slide" Target="/ppt/slides/slide12.xml" Id="Rb3cd633dcb274ac5" /><Relationship Type="http://schemas.openxmlformats.org/officeDocument/2006/relationships/slide" Target="/ppt/slides/slide13.xml" Id="Rd9cdbfe575e24e56" /><Relationship Type="http://schemas.openxmlformats.org/officeDocument/2006/relationships/slide" Target="/ppt/slides/slide14.xml" Id="Rcaeea170bc3947d7" /><Relationship Type="http://schemas.openxmlformats.org/officeDocument/2006/relationships/slide" Target="/ppt/slides/slide15.xml" Id="R5e3a711c95bc4192" /><Relationship Type="http://schemas.openxmlformats.org/officeDocument/2006/relationships/slide" Target="/ppt/slides/slide16.xml" Id="R1018cdd04f354b06" /><Relationship Type="http://schemas.openxmlformats.org/officeDocument/2006/relationships/slide" Target="/ppt/slides/slide17.xml" Id="R365b8f3c5aab4a7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789c388979a469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3079dd5445540e5" /><Relationship Type="http://schemas.openxmlformats.org/officeDocument/2006/relationships/notesMaster" Target="/ppt/notesMasters/notesMaster1.xml" Id="R231b406dd21e4bc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e6ea4c1382445f4" /><Relationship Type="http://schemas.openxmlformats.org/officeDocument/2006/relationships/notesMaster" Target="/ppt/notesMasters/notesMaster1.xml" Id="R50505a0f63204e1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29cd9c578d94700" /><Relationship Type="http://schemas.openxmlformats.org/officeDocument/2006/relationships/notesMaster" Target="/ppt/notesMasters/notesMaster1.xml" Id="R81946d941239432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1bd5969880244e3" /><Relationship Type="http://schemas.openxmlformats.org/officeDocument/2006/relationships/notesMaster" Target="/ppt/notesMasters/notesMaster1.xml" Id="R579c31b8b3674b3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c8afecc43f74349" /><Relationship Type="http://schemas.openxmlformats.org/officeDocument/2006/relationships/notesMaster" Target="/ppt/notesMasters/notesMaster1.xml" Id="Raa7e74e0e5c249f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d856cd1d8f54852" /><Relationship Type="http://schemas.openxmlformats.org/officeDocument/2006/relationships/notesMaster" Target="/ppt/notesMasters/notesMaster1.xml" Id="Rc0380cddfe8f40ec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8bde2bddb58a4389" /><Relationship Type="http://schemas.openxmlformats.org/officeDocument/2006/relationships/notesMaster" Target="/ppt/notesMasters/notesMaster1.xml" Id="R28de3f23db7f42d2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5a5995a1755d45de" /><Relationship Type="http://schemas.openxmlformats.org/officeDocument/2006/relationships/notesMaster" Target="/ppt/notesMasters/notesMaster1.xml" Id="R7332447c4a484411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661dca739c334402" /><Relationship Type="http://schemas.openxmlformats.org/officeDocument/2006/relationships/notesMaster" Target="/ppt/notesMasters/notesMaster1.xml" Id="Rb4299144a383460d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9a2ca269063d4166" /><Relationship Type="http://schemas.openxmlformats.org/officeDocument/2006/relationships/notesMaster" Target="/ppt/notesMasters/notesMaster1.xml" Id="R9d2b3afe98f34b3e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33b3fd8726e3483d" /><Relationship Type="http://schemas.openxmlformats.org/officeDocument/2006/relationships/notesMaster" Target="/ppt/notesMasters/notesMaster1.xml" Id="R2ae064ca2f8a4778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34c3f5af71fa453c" /><Relationship Type="http://schemas.openxmlformats.org/officeDocument/2006/relationships/notesMaster" Target="/ppt/notesMasters/notesMaster1.xml" Id="R05dbf3c110c94633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d8a5bb01bfd84f64" /><Relationship Type="http://schemas.openxmlformats.org/officeDocument/2006/relationships/notesMaster" Target="/ppt/notesMasters/notesMaster1.xml" Id="Rea2fcb66e0df426e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da1e8ecdd9b44f7f" /><Relationship Type="http://schemas.openxmlformats.org/officeDocument/2006/relationships/notesMaster" Target="/ppt/notesMasters/notesMaster1.xml" Id="R4e9cc7bf59874140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a1ea5a2be06f4d13" /><Relationship Type="http://schemas.openxmlformats.org/officeDocument/2006/relationships/notesMaster" Target="/ppt/notesMasters/notesMaster1.xml" Id="Re2a705b1ccdb49e4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15c3b75dfd374bb2" /><Relationship Type="http://schemas.openxmlformats.org/officeDocument/2006/relationships/notesMaster" Target="/ppt/notesMasters/notesMaster1.xml" Id="R1a5882de9ab64717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cf1ccf6776d742bb" /><Relationship Type="http://schemas.openxmlformats.org/officeDocument/2006/relationships/notesMaster" Target="/ppt/notesMasters/notesMaster1.xml" Id="R109c6826a7ba4f9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My project forecasts next-week demand for one FOODS product in one store.</a:t>
            </a:r>
            <a:endParaRPr/>
          </a:p>
          <a:p xmlns:a="http://schemas.openxmlformats.org/drawingml/2006/main">
            <a:r>
              <a:t>The user is a retail employee planning inventory. The model provides guidance but never places an order automatically.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Local project notebooks, reports, data documentation, and verified artifacts.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is a regression task using product, store, past sales, price, and calendar information.</a:t>
            </a:r>
            <a:endParaRPr/>
          </a:p>
          <a:p xmlns:a="http://schemas.openxmlformats.org/drawingml/2006/main">
            <a:r>
              <a:t>Success means reducing mean absolute error compared with a simple baseline on a later unseen period.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Local project notebooks, reports, data documentation, and verified artifacts.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 used M5 Forecasting — Accuracy: almost 28 million daily FOODS values before weekly aggregation.</a:t>
            </a:r>
            <a:endParaRPr/>
          </a:p>
          <a:p xmlns:a="http://schemas.openxmlformats.org/drawingml/2006/main">
            <a:r>
              <a:t>The data are from U.S. Walmart stores in 2011–2016, so local retraining is required for Uzbekistan.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Local project notebooks, reports, data documentation, and verified artifacts.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five M5 files have different roles: sales, calendar, prices, a shorter sales prefix, and a Kaggle submission format.</a:t>
            </a:r>
            <a:endParaRPr/>
          </a:p>
          <a:p xmlns:a="http://schemas.openxmlformats.org/drawingml/2006/main">
            <a:r>
              <a:t>I kept raw CSV files unchanged and saved every transformation in separate folders.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Local project notebooks, reports, data documentation, and verified artifacts.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 row is a product-store series, not one unique product.</a:t>
            </a:r>
            <a:endParaRPr/>
          </a:p>
          <a:p xmlns:a="http://schemas.openxmlformats.org/drawingml/2006/main">
            <a:r>
              <a:t>The full sales file has 3,049 products across 10 stores; FOODS contains 1,437 products and 14,370 product-store series.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Local project notebooks, reports, data documentation, and verified artifacts.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Pandas melt performs the same reshape as Unpivot Columns in Excel Power Query.</a:t>
            </a:r>
            <a:endParaRPr/>
          </a:p>
          <a:p xmlns:a="http://schemas.openxmlformats.org/drawingml/2006/main">
            <a:r>
              <a:t>I did not concatenate validation and evaluation because evaluation already contains the validation days plus 28 additional days.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Local project notebooks, reports, data documentation, and verified artifacts.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 mapped each d code to a calendar week, joined weekly price, and summed seven daily sales values.</a:t>
            </a:r>
            <a:endParaRPr/>
          </a:p>
          <a:p xmlns:a="http://schemas.openxmlformats.org/drawingml/2006/main">
            <a:r>
              <a:t>The first two days were excluded because they did not form a complete Monday-to-Sunday week.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Local project notebooks, reports, data documentation, and verified artifacts.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Lag and rolling features use only earlier weeks, then the data are split chronologically.</a:t>
            </a:r>
            <a:endParaRPr/>
          </a:p>
          <a:p xmlns:a="http://schemas.openxmlformats.org/drawingml/2006/main">
            <a:r>
              <a:t>Validation selects the model; the protected test only confirms the frozen choice.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Local project notebooks, reports, data documentation, and verified artifacts.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 audited schema, missing values, duplicates, types, negative values, and row counts before modeling.</a:t>
            </a:r>
            <a:endParaRPr/>
          </a:p>
          <a:p xmlns:a="http://schemas.openxmlformats.org/drawingml/2006/main">
            <a:r>
              <a:t>Zero demand and high sales were retained as real flagged observations instead of being removed automatically.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Local project notebooks, reports, data documentation, and verified artifacts.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Random shuffling would leak future information into a time-series evaluation.</a:t>
            </a:r>
            <a:endParaRPr/>
          </a:p>
          <a:p xmlns:a="http://schemas.openxmlformats.org/drawingml/2006/main">
            <a:r>
              <a:t>Every sales rolling feature applies shift(1), so the current target cannot appear in its own inputs.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Local project notebooks, reports, data documentation, and verified artifacts.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All candidates used the same validation period, 20 features, and MAE metric.</a:t>
            </a:r>
            <a:endParaRPr/>
          </a:p>
          <a:p xmlns:a="http://schemas.openxmlformats.org/drawingml/2006/main">
            <a:r>
              <a:t>Random Forest achieved 4.270 validation MAE and improved the four-week baseline by 5.48%, so it was frozen as the final candidate.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Local project notebooks, reports, data documentation, and verified artifacts.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frozen Random Forest was retrained on train plus validation and evaluated once on 57,480 later rows.</a:t>
            </a:r>
            <a:endParaRPr/>
          </a:p>
          <a:p xmlns:a="http://schemas.openxmlformats.org/drawingml/2006/main">
            <a:r>
              <a:t>Test MAE was 4.4179 versus 4.7874 for the baseline, a 7.72% improvement.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Local project notebooks, reports, data documentation, and verified artifacts.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Overall MAE hides difficult segments.</a:t>
            </a:r>
            <a:endParaRPr/>
          </a:p>
          <a:p xmlns:a="http://schemas.openxmlformats.org/drawingml/2006/main">
            <a:r>
              <a:t>When actual demand is at least 21 units, MAE rises to 12.33 and the mean underprediction is 5.10 units, so these cases require human review.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Local project notebooks, reports, data documentation, and verified artifacts.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Recent sales history is the strongest model signal, especially the previous week and the previous four-week mean.</a:t>
            </a:r>
            <a:endParaRPr/>
          </a:p>
          <a:p xmlns:a="http://schemas.openxmlformats.org/drawingml/2006/main">
            <a:r>
              <a:t>Feature importance describes model usage, not causal influence.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Local project notebooks, reports, data documentation, and verified artifacts.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same inference core powers the Colab notebook, Flask API, browser UI, and Excel batch demo.</a:t>
            </a:r>
            <a:endParaRPr/>
          </a:p>
          <a:p xmlns:a="http://schemas.openxmlformats.org/drawingml/2006/main">
            <a:r>
              <a:t>Prediction loads the saved model and validates input; it does not retrain the model.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Local project notebooks, reports, data documentation, and verified artifacts.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current project passes 26 automated tests and reproduces the example forecast of 10.4885.</a:t>
            </a:r>
            <a:endParaRPr/>
          </a:p>
          <a:p xmlns:a="http://schemas.openxmlformats.org/drawingml/2006/main">
            <a:r>
              <a:t>The model must not drive automatic purchasing and must be retrained and retested for another retailer, country, or modern period.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Local project notebooks, reports, data documentation, and verified artifacts.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evidence supports a practical but limited conclusion: Random Forest improves the baseline and should support, not replace, human decisions.</a:t>
            </a:r>
            <a:endParaRPr/>
          </a:p>
          <a:p xmlns:a="http://schemas.openxmlformats.org/drawingml/2006/main">
            <a:r>
              <a:t>For questions, I will answer with the decision, the project evidence, and the limitation.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Local project notebooks, reports, data documentation, and verified artifacts.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d2fc92199a14ce5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79b5cda297d4864" /></Relationships>
</file>

<file path=ppt/slideLayouts/slideLayout1.xml><?xml version="1.0" encoding="utf-8"?>
<p:sldLayout xmlns:p="http://schemas.openxmlformats.org/presentationml/2006/main" preserve="1">
  <p:cSld name="DEFAULT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2.xml><?xml version="1.0" encoding="utf-8"?>
<p:sldLayout xmlns:p="http://schemas.openxmlformats.org/presentationml/2006/main" preserve="1">
  <p:cSld name="MASTER"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07F6BEF9-805C-4498-9BE0-E5E9903A9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1097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76D2"/>
          </a:solidFill>
          <a:ln xmlns:a="http://schemas.openxmlformats.org/drawingml/2006/main" w="12700">
            <a:solidFill>
              <a:srgbClr val="1976D2"/>
            </a:solidFill>
            <a:prstDash val="solid"/>
          </a:ln>
        </p:spPr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E9C8F10E-30CA-4C6F-B049-C46E25593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82880"/>
            <a:ext cx="429768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 b="1">
                <a:solidFill>
                  <a:srgbClr val="1976D2"/>
                </a:solidFill>
                <a:latin typeface="Aptos"/>
                <a:ea typeface="Aptos"/>
                <a:cs typeface="Aptos"/>
              </a:rPr>
              <a:t>AI/ML FUNDAMENTALS • CAPSTONE</a:t>
            </a:r>
            <a:endParaRPr sz="90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35A4E39A-B16E-4EE0-9246-D8E8294A6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8240" y="182880"/>
            <a:ext cx="288036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64748B"/>
                </a:solidFill>
                <a:latin typeface="Aptos"/>
                <a:ea typeface="Aptos"/>
                <a:cs typeface="Aptos"/>
              </a:rPr>
              <a:t>Nosirov Nodir • Tulpar</a:t>
            </a:r>
            <a:endParaRPr sz="900"/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096C462D-EEF3-48FE-A93A-581FF0B8E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510528"/>
            <a:ext cx="1115568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D9E2EC"/>
            </a:solidFill>
            <a:prstDash val="solid"/>
          </a:ln>
        </p:spPr>
      </p:sp>
      <p:sp>
        <p:nvSpPr>
          <p:cNvPr id="25" name="Slide Number Placeholder 0">
            <a:extLst xmlns:a="http://schemas.openxmlformats.org/drawingml/2006/main">
              <a:ext uri="{FF2B5EF4-FFF2-40B4-BE49-F238E27FC236}">
                <a16:creationId xmlns:a16="http://schemas.microsoft.com/office/drawing/2014/main" id="{1CC5DFD5-5EA8-444F-A4AC-FB167136EAE4}"/>
              </a:ext>
            </a:extLst>
          </p:cNvPr>
          <p:cNvSpPr>
            <a:spLocks xmlns:a="http://schemas.openxmlformats.org/drawingml/2006/main" noGrp="1"/>
          </p:cNvSpPr>
          <p:nvPr>
            <p:ph type="sldNum" idx="4294967295"/>
          </p:nvPr>
        </p:nvSpPr>
        <p:spPr>
          <a:xfrm xmlns:a="http://schemas.openxmlformats.org/drawingml/2006/main">
            <a:off x="11503152" y="6565392"/>
            <a:ext cx="182880" cy="1371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80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 xmlns:a="http://schemas.openxmlformats.org/drawingml/2006/main">
            <a:pPr algn="r">
              <a:buNone/>
            </a:pPr>
            <a:fld id="{F7021451-1387-4CA6-816F-3879F97B5CBC}" type="slidenum">
              <a:rPr b="0"/>
              <a:t>1002</a:t>
            </a:fld>
            <a:endParaRPr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4e2941ef35b4166" /><Relationship Type="http://schemas.openxmlformats.org/officeDocument/2006/relationships/slideLayout" Target="/ppt/slideLayouts/slideLayout1.xml" Id="Rb61ab016bfb54245" /><Relationship Type="http://schemas.openxmlformats.org/officeDocument/2006/relationships/slideLayout" Target="/ppt/slideLayouts/slideLayout2.xml" Id="R83ddb38856544b0a" /></Relationships>
</file>

<file path=ppt/slideMasters/slideMaster1.xml><?xml version="1.0" encoding="utf-8"?>
<p:sldMaster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Slide Number Placeholder 0">
            <a:extLst xmlns:a="http://schemas.openxmlformats.org/drawingml/2006/main">
              <a:ext uri="{FF2B5EF4-FFF2-40B4-BE49-F238E27FC236}">
                <a16:creationId xmlns:a16="http://schemas.microsoft.com/office/drawing/2014/main" id="{3337B9B3-A74B-4F8F-AA1F-778942359A46}"/>
              </a:ext>
            </a:extLst>
          </p:cNvPr>
          <p:cNvSpPr>
            <a:spLocks xmlns:a="http://schemas.openxmlformats.org/drawingml/2006/main" noGrp="1"/>
          </p:cNvSpPr>
          <p:nvPr>
            <p:ph type="sldNum" idx="4294967295"/>
          </p:nvPr>
        </p:nvSpPr>
        <p:spPr>
          <a:xfrm xmlns:a="http://schemas.openxmlformats.org/drawingml/2006/main">
            <a:off x="11503152" y="6565392"/>
            <a:ext cx="182880" cy="1371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80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 xmlns:a="http://schemas.openxmlformats.org/drawingml/2006/main">
            <a:pPr algn="r">
              <a:buNone/>
            </a:pPr>
            <a:fld id="{F7021451-1387-4CA6-816F-3879F97B5CBC}" type="slidenum">
              <a:rPr b="0"/>
              <a:t>null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61ab016bfb54245"/>
    <p:sldLayoutId xmlns:r="http://schemas.openxmlformats.org/officeDocument/2006/relationships" id="2147483650" r:id="R83ddb38856544b0a"/>
  </p:sldLayoutIdLst>
  <p:hf sldNum="0" hdr="0" ftr="0" dt="0"/>
  <p:txStyles>
    <p:titleStyle>
      <a:lvl1pPr xmlns:a="http://schemas.openxmlformats.org/drawingml/2006/main" algn="ctr" defTabSz="9144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342900" indent="-342900" algn="l" defTabSz="9144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 defTabSz="9144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dc11232865f47c6" /><Relationship Type="http://schemas.openxmlformats.org/officeDocument/2006/relationships/notesSlide" Target="/ppt/notesSlides/notesSlide1.xml" Id="Rfa9f568854aa46c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9a8d2bb7dc241b9" /><Relationship Type="http://schemas.openxmlformats.org/officeDocument/2006/relationships/notesSlide" Target="/ppt/notesSlides/notesSlide2.xml" Id="Rad58b0024a184db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99deacad90541cf" /><Relationship Type="http://schemas.openxmlformats.org/officeDocument/2006/relationships/notesSlide" Target="/ppt/notesSlides/notesSlide3.xml" Id="R5a7476061cfa47a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2dc977a91a2400d" /><Relationship Type="http://schemas.openxmlformats.org/officeDocument/2006/relationships/notesSlide" Target="/ppt/notesSlides/notesSlide4.xml" Id="R7c4ef01a702248b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e1ee7c866a846d5" /><Relationship Type="http://schemas.openxmlformats.org/officeDocument/2006/relationships/notesSlide" Target="/ppt/notesSlides/notesSlide5.xml" Id="R8d48a4106eb348c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b62de5f5c1245af" /><Relationship Type="http://schemas.openxmlformats.org/officeDocument/2006/relationships/notesSlide" Target="/ppt/notesSlides/notesSlide6.xml" Id="Rdec335acd8484c9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2d8d705e16e4e85" /><Relationship Type="http://schemas.openxmlformats.org/officeDocument/2006/relationships/notesSlide" Target="/ppt/notesSlides/notesSlide7.xml" Id="Raf1c63cb6ef442a7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c74e7b977854c7d" /><Relationship Type="http://schemas.openxmlformats.org/officeDocument/2006/relationships/notesSlide" Target="/ppt/notesSlides/notesSlide8.xml" Id="R1651c2f2c8e24ed8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e38d54b84ed45d0" /><Relationship Type="http://schemas.openxmlformats.org/officeDocument/2006/relationships/notesSlide" Target="/ppt/notesSlides/notesSlide9.xml" Id="Rb5c96c00a3b24605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59a643821ed4270" /><Relationship Type="http://schemas.openxmlformats.org/officeDocument/2006/relationships/notesSlide" Target="/ppt/notesSlides/notesSlide10.xml" Id="Rdc1c092054df42a0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7d6b391763d4b76" /><Relationship Type="http://schemas.openxmlformats.org/officeDocument/2006/relationships/chart" Target="/ppt/slides/charts/chart1.xml" Id="Ra4f53a57a39743f9" /><Relationship Type="http://schemas.openxmlformats.org/officeDocument/2006/relationships/notesSlide" Target="/ppt/notesSlides/notesSlide11.xml" Id="R112f91a7a473471d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7ecc8c3148d4d88" /><Relationship Type="http://schemas.openxmlformats.org/officeDocument/2006/relationships/notesSlide" Target="/ppt/notesSlides/notesSlide12.xml" Id="R5b1d3b9baefa4942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f4e467330e14975" /><Relationship Type="http://schemas.openxmlformats.org/officeDocument/2006/relationships/notesSlide" Target="/ppt/notesSlides/notesSlide13.xml" Id="R80f92ec6d4934a8e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2ccc74e76634ca0" /><Relationship Type="http://schemas.openxmlformats.org/officeDocument/2006/relationships/chart" Target="/ppt/slides/charts/chart2.xml" Id="R0b18497782fa4a70" /><Relationship Type="http://schemas.openxmlformats.org/officeDocument/2006/relationships/notesSlide" Target="/ppt/notesSlides/notesSlide14.xml" Id="R2e7ed560939145fd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e7bd1c9537744c3" /><Relationship Type="http://schemas.openxmlformats.org/officeDocument/2006/relationships/notesSlide" Target="/ppt/notesSlides/notesSlide15.xml" Id="R47354f38d99442e2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30b078b90a04a9d" /><Relationship Type="http://schemas.openxmlformats.org/officeDocument/2006/relationships/notesSlide" Target="/ppt/notesSlides/notesSlide16.xml" Id="Rb2054ddfbd494b38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b8069bfc6b24af9" /><Relationship Type="http://schemas.openxmlformats.org/officeDocument/2006/relationships/notesSlide" Target="/ppt/notesSlides/notesSlide17.xml" Id="R6062ee6e420847a9" /></Relationships>
</file>

<file path=ppt/slides/charts/chart1.xml><?xml version="1.0" encoding="utf-8"?>
<c:chartSpace xmlns:c="http://schemas.openxmlformats.org/drawingml/2006/chart">
  <c:lang val="en-US"/>
  <c:roundedCorners val="1"/>
  <c:chart>
    <c:autoTitleDeleted val="1"/>
    <c:plotArea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Validation MAE</c:v>
                </c:pt>
              </c:strCache>
            </c:strRef>
          </c:tx>
          <c:spPr>
            <a:solidFill xmlns:a="http://schemas.openxmlformats.org/drawingml/2006/main">
              <a:srgbClr val="1976D2"/>
            </a:solidFill>
          </c:spPr>
          <c:dPt>
            <c:idx val="0"/>
            <c:invertIfNegative val="0"/>
            <c:spPr>
              <a:solidFill xmlns:a="http://schemas.openxmlformats.org/drawingml/2006/main">
                <a:srgbClr val="1976D2"/>
              </a:solidFill>
            </c:spPr>
          </c:dPt>
          <c:dPt>
            <c:idx val="1"/>
            <c:invertIfNegative val="0"/>
            <c:spPr>
              <a:solidFill xmlns:a="http://schemas.openxmlformats.org/drawingml/2006/main">
                <a:srgbClr val="F59E0B"/>
              </a:solidFill>
            </c:spPr>
          </c:dPt>
          <c:dPt>
            <c:idx val="2"/>
            <c:invertIfNegative val="0"/>
            <c:spPr>
              <a:solidFill xmlns:a="http://schemas.openxmlformats.org/drawingml/2006/main">
                <a:srgbClr val="178F65"/>
              </a:solidFill>
            </c:spPr>
          </c:dPt>
          <c:dLbls>
            <c:numFmt formatCode="#,##0" sourceLinked="0"/>
            <c:txPr>
              <a:bodyPr xmlns:a="http://schemas.openxmlformats.org/drawingml/2006/main" anchorCtr="1"/>
              <a:lstStyle xmlns:a="http://schemas.openxmlformats.org/drawingml/2006/main"/>
              <a:p xmlns:a="http://schemas.openxmlformats.org/drawingml/2006/main">
                <a:pPr>
                  <a:defRPr sz="1200" b="0" i="0" u="none">
                    <a:solidFill>
                      <a:srgbClr val="102A43"/>
                    </a:solidFill>
                    <a:latin typeface="Arial"/>
                    <a:ea typeface="Arial"/>
                    <a:cs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Sheet1!$A$2:$A$4</c:f>
              <c:strCache>
                <c:ptCount val="3"/>
                <c:pt idx="0">
                  <c:v>4-week baseline</c:v>
                </c:pt>
                <c:pt idx="1">
                  <c:v>Linear Regression</c:v>
                </c:pt>
                <c:pt idx="2">
                  <c:v>Random Forest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4.517</c:v>
                </c:pt>
                <c:pt idx="1">
                  <c:v>4.766</c:v>
                </c:pt>
                <c:pt idx="2">
                  <c:v>4.27</c:v>
                </c:pt>
              </c:numCache>
            </c:numRef>
          </c:val>
        </c:ser>
        <c:dLbls>
          <c:numFmt formatCode="#,##0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00" b="0" i="0" u="none">
                  <a:solidFill>
                    <a:srgbClr val="102A43"/>
                  </a:solidFill>
                  <a:latin typeface="Arial"/>
                  <a:ea typeface="Arial"/>
                  <a:cs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xmlns:a="http://schemas.openxmlformats.org/drawingml/2006/main" w="12700">
            <a:solidFill>
              <a:srgbClr val="888888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 b="0" i="0" u="none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</a:p>
        </c:txPr>
        <c:crossAx val="2094734552"/>
        <c:crosses val="autoZero"/>
      </c:catAx>
      <c:valAx>
        <c:axId val="2094734552"/>
        <c:scaling>
          <c:orientation val="minMax"/>
          <c:max val="5.2"/>
          <c:min val="0"/>
        </c:scaling>
        <c:delete val="0"/>
        <c:axPos val="l"/>
        <c:majorGridlines>
          <c:spPr>
            <a:ln xmlns:a="http://schemas.openxmlformats.org/drawingml/2006/main" w="12700">
              <a:solidFill>
                <a:srgbClr val="DCE6EF"/>
              </a:solidFill>
              <a:prstDash val="solid"/>
            </a:ln>
          </c:spPr>
        </c:majorGridlines>
        <c:numFmt formatCode="General" sourceLinked="0"/>
        <c:majorTickMark val="out"/>
        <c:minorTickMark val="none"/>
        <c:tickLblPos val="nextTo"/>
        <c:spPr>
          <a:ln xmlns:a="http://schemas.openxmlformats.org/drawingml/2006/main" w="12700">
            <a:solidFill>
              <a:srgbClr val="888888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00" b="0" i="0" u="none">
                <a:solidFill>
                  <a:srgbClr val="627D98"/>
                </a:solidFill>
                <a:latin typeface="Arial"/>
                <a:ea typeface="Arial"/>
                <a:cs typeface="Arial"/>
              </a:defRPr>
            </a:pPr>
          </a:p>
        </c:txPr>
        <c:crossAx val="2094734554"/>
        <c:crosses val="autoZero"/>
        <c:crossBetween val="between"/>
      </c:valAx>
      <c:spPr>
        <a:noFill xmlns:a="http://schemas.openxmlformats.org/drawingml/2006/main"/>
        <a:ln xmlns:a="http://schemas.openxmlformats.org/drawingml/2006/main">
          <a:noFill/>
        </a:ln>
      </c:spPr>
    </c:plotArea>
    <c:plotVisOnly val="1"/>
  </c:chart>
  <c:spPr>
    <a:noFill xmlns:a="http://schemas.openxmlformats.org/drawingml/2006/main"/>
    <a:ln xmlns:a="http://schemas.openxmlformats.org/drawingml/2006/main">
      <a:noFill/>
    </a:ln>
  </c:spPr>
</c:chartSpace>
</file>

<file path=ppt/slides/charts/chart2.xml><?xml version="1.0" encoding="utf-8"?>
<c:chartSpace xmlns:c="http://schemas.openxmlformats.org/drawingml/2006/chart">
  <c:lang val="en-US"/>
  <c:roundedCorners val="1"/>
  <c:chart>
    <c:autoTitleDeleted val="1"/>
    <c:plotArea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Importance</c:v>
                </c:pt>
              </c:strCache>
            </c:strRef>
          </c:tx>
          <c:spPr>
            <a:solidFill xmlns:a="http://schemas.openxmlformats.org/drawingml/2006/main">
              <a:srgbClr val="1976D2"/>
            </a:solidFill>
          </c:spPr>
          <c:dPt>
            <c:idx val="0"/>
            <c:invertIfNegative val="0"/>
            <c:spPr>
              <a:solidFill xmlns:a="http://schemas.openxmlformats.org/drawingml/2006/main">
                <a:srgbClr val="1976D2"/>
              </a:solidFill>
            </c:spPr>
          </c:dPt>
          <c:dPt>
            <c:idx val="1"/>
            <c:invertIfNegative val="0"/>
            <c:spPr>
              <a:solidFill xmlns:a="http://schemas.openxmlformats.org/drawingml/2006/main">
                <a:srgbClr val="2CB1BC"/>
              </a:solidFill>
            </c:spPr>
          </c:dPt>
          <c:dPt>
            <c:idx val="2"/>
            <c:invertIfNegative val="0"/>
            <c:spPr>
              <a:solidFill xmlns:a="http://schemas.openxmlformats.org/drawingml/2006/main">
                <a:srgbClr val="F59E0B"/>
              </a:solidFill>
            </c:spPr>
          </c:dPt>
          <c:dPt>
            <c:idx val="3"/>
            <c:invertIfNegative val="0"/>
            <c:spPr>
              <a:solidFill xmlns:a="http://schemas.openxmlformats.org/drawingml/2006/main">
                <a:srgbClr val="178F65"/>
              </a:solidFill>
            </c:spPr>
          </c:dPt>
          <c:dPt>
            <c:idx val="4"/>
            <c:invertIfNegative val="0"/>
            <c:spPr>
              <a:solidFill xmlns:a="http://schemas.openxmlformats.org/drawingml/2006/main">
                <a:srgbClr val="627D98"/>
              </a:solidFill>
            </c:spPr>
          </c:dPt>
          <c:dLbls>
            <c:numFmt formatCode="0.0&quot;%&quot;" sourceLinked="0"/>
            <c:txPr>
              <a:bodyPr xmlns:a="http://schemas.openxmlformats.org/drawingml/2006/main" anchorCtr="1"/>
              <a:lstStyle xmlns:a="http://schemas.openxmlformats.org/drawingml/2006/main"/>
              <a:p xmlns:a="http://schemas.openxmlformats.org/drawingml/2006/main">
                <a:pPr>
                  <a:defRPr sz="1200" b="0" i="0" u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Sheet1!$A$2:$A$6</c:f>
              <c:strCache>
                <c:ptCount val="5"/>
                <c:pt idx="0">
                  <c:v>sales_lag_1</c:v>
                </c:pt>
                <c:pt idx="1">
                  <c:v>roll mean 4</c:v>
                </c:pt>
                <c:pt idx="2">
                  <c:v>roll mean 8</c:v>
                </c:pt>
                <c:pt idx="3">
                  <c:v>sales_lag_2</c:v>
                </c:pt>
                <c:pt idx="4">
                  <c:v>other features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50.41</c:v>
                </c:pt>
                <c:pt idx="1">
                  <c:v>35.15</c:v>
                </c:pt>
                <c:pt idx="2">
                  <c:v>6.65</c:v>
                </c:pt>
                <c:pt idx="3">
                  <c:v>4.93</c:v>
                </c:pt>
                <c:pt idx="4">
                  <c:v>2.86</c:v>
                </c:pt>
              </c:numCache>
            </c:numRef>
          </c:val>
        </c:ser>
        <c:dLbls>
          <c:numFmt formatCode="0.0&quot;%&quot;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00" b="0" i="0" u="none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xmlns:a="http://schemas.openxmlformats.org/drawingml/2006/main" w="12700">
            <a:solidFill>
              <a:srgbClr val="888888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100" b="0" i="0" u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</a:p>
        </c:txPr>
        <c:crossAx val="2094734552"/>
        <c:crosses val="autoZero"/>
      </c:catAx>
      <c:valAx>
        <c:axId val="2094734552"/>
        <c:scaling>
          <c:orientation val="minMax"/>
          <c:max val="60"/>
          <c:min val="0"/>
        </c:scaling>
        <c:delete val="0"/>
        <c:axPos val="l"/>
        <c:majorGridlines>
          <c:spPr>
            <a:ln xmlns:a="http://schemas.openxmlformats.org/drawingml/2006/main" w="12700">
              <a:solidFill>
                <a:srgbClr val="DCE6EF"/>
              </a:solidFill>
              <a:prstDash val="solid"/>
            </a:ln>
          </c:spPr>
        </c:majorGridlines>
        <c:numFmt formatCode="General" sourceLinked="0"/>
        <c:majorTickMark val="out"/>
        <c:minorTickMark val="none"/>
        <c:tickLblPos val="nextTo"/>
        <c:spPr>
          <a:ln xmlns:a="http://schemas.openxmlformats.org/drawingml/2006/main" w="12700">
            <a:solidFill>
              <a:srgbClr val="888888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00" b="0" i="0" u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</a:p>
        </c:txPr>
        <c:crossAx val="2094734554"/>
        <c:crosses val="autoZero"/>
        <c:crossBetween val="between"/>
      </c:valAx>
      <c:spPr>
        <a:noFill xmlns:a="http://schemas.openxmlformats.org/drawingml/2006/main"/>
        <a:ln xmlns:a="http://schemas.openxmlformats.org/drawingml/2006/main">
          <a:noFill/>
        </a:ln>
      </c:spPr>
    </c:plotArea>
    <c:plotVisOnly val="1"/>
  </c:chart>
  <c:spPr>
    <a:noFill xmlns:a="http://schemas.openxmlformats.org/drawingml/2006/main"/>
    <a:ln xmlns:a="http://schemas.openxmlformats.org/drawingml/2006/main">
      <a:noFill/>
    </a:ln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02A4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5BFE6374-EFDD-415E-930E-E8291DDFA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43"/>
          </a:solidFill>
          <a:ln xmlns:a="http://schemas.openxmlformats.org/drawingml/2006/main" w="12700">
            <a:solidFill>
              <a:srgbClr val="102A43"/>
            </a:solidFill>
            <a:prstDash val="solid"/>
          </a:ln>
        </p:spPr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EDB3E107-6F0A-42FF-A4B3-B235DACA9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500000">
            <a:off x="8366760" y="137160"/>
            <a:ext cx="3566160" cy="3566160"/>
          </a:xfrm>
          <a:prstGeom xmlns:a="http://schemas.openxmlformats.org/drawingml/2006/main" prst="arc">
            <a:avLst/>
          </a:prstGeom>
          <a:solidFill xmlns:a="http://schemas.openxmlformats.org/drawingml/2006/main">
            <a:srgbClr val="1976D2">
              <a:alpha val="82000"/>
            </a:srgbClr>
          </a:solidFill>
          <a:ln xmlns:a="http://schemas.openxmlformats.org/drawingml/2006/main" w="12700">
            <a:solidFill>
              <a:srgbClr val="1976D2">
                <a:alpha val="0"/>
              </a:srgbClr>
            </a:solidFill>
            <a:prstDash val="solid"/>
          </a:ln>
        </p:spPr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7763B751-B009-4D1C-873D-8B7C575AE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2300000">
            <a:off x="7909560" y="3886200"/>
            <a:ext cx="3703320" cy="2697480"/>
          </a:xfrm>
          <a:prstGeom xmlns:a="http://schemas.openxmlformats.org/drawingml/2006/main" prst="arc">
            <a:avLst/>
          </a:prstGeom>
          <a:solidFill xmlns:a="http://schemas.openxmlformats.org/drawingml/2006/main">
            <a:srgbClr val="2CB1BC">
              <a:alpha val="65000"/>
            </a:srgbClr>
          </a:solidFill>
          <a:ln xmlns:a="http://schemas.openxmlformats.org/drawingml/2006/main" w="12700">
            <a:solidFill>
              <a:srgbClr val="2CB1BC">
                <a:alpha val="0"/>
              </a:srgbClr>
            </a:solidFill>
            <a:prstDash val="solid"/>
          </a:ln>
        </p:spPr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E21396B6-731D-4872-B062-79EB12270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1143000"/>
            <a:ext cx="7772400" cy="1508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800" b="1">
                <a:solidFill>
                  <a:srgbClr val="FFFFFF"/>
                </a:solidFill>
              </a:rPr>
              <a:t>RETAIL DEMAND</a:t>
            </a:r>
            <a:endParaRPr sz="3800"/>
          </a:p>
          <a:p xmlns:a="http://schemas.openxmlformats.org/drawingml/2006/main">
            <a:pPr marL="0" indent="0">
              <a:buNone/>
            </a:pPr>
            <a:r>
              <a:rPr sz="3800" b="1">
                <a:solidFill>
                  <a:srgbClr val="FFFFFF"/>
                </a:solidFill>
              </a:rPr>
              <a:t>FORECASTING</a:t>
            </a:r>
            <a:endParaRPr sz="3800"/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D8CE675A-C1E8-41D0-A659-D70EB7898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" y="2907792"/>
            <a:ext cx="667512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000">
                <a:solidFill>
                  <a:srgbClr val="C7DDFC"/>
                </a:solidFill>
              </a:rPr>
              <a:t>Weekly demand forecasting for FOODS products</a:t>
            </a:r>
            <a:endParaRPr sz="2000"/>
          </a:p>
        </p:txBody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C776A271-2D29-48DB-ADAE-EF6F54600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" y="3547872"/>
            <a:ext cx="40233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0800">
            <a:solidFill>
              <a:srgbClr val="F59E0B"/>
            </a:solidFill>
            <a:prstDash val="solid"/>
          </a:ln>
        </p:spPr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E97DF409-984E-4CD3-9674-585343E60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" y="3877056"/>
            <a:ext cx="603504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>
                <a:solidFill>
                  <a:srgbClr val="FFFFFF"/>
                </a:solidFill>
              </a:rPr>
              <a:t>Nosirov Nodir  •  Tulpar group</a:t>
            </a:r>
            <a:endParaRPr sz="1500"/>
          </a:p>
          <a:p xmlns:a="http://schemas.openxmlformats.org/drawingml/2006/main">
            <a:pPr marL="0" indent="0">
              <a:buNone/>
            </a:pPr>
            <a:r>
              <a:rPr sz="1500">
                <a:solidFill>
                  <a:srgbClr val="FFFFFF"/>
                </a:solidFill>
              </a:rPr>
              <a:t>AI/ML Fundamentals Capstone  •  2026</a:t>
            </a:r>
            <a:endParaRPr sz="1500"/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04C6DF7A-DE0F-47B8-A95F-50DEE2F1D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" y="5870448"/>
            <a:ext cx="804672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D9EAFB"/>
                </a:solidFill>
              </a:rPr>
              <a:t>Goal: support inventory planning — not replace human decisions</a:t>
            </a:r>
            <a:endParaRPr sz="1300"/>
          </a:p>
        </p:txBody>
      </p:sp>
      <p:sp>
        <p:nvSpPr>
          <p:cNvPr id="25" name="Slide Number Placeholder 0">
            <a:extLst xmlns:a="http://schemas.openxmlformats.org/drawingml/2006/main">
              <a:ext uri="{FF2B5EF4-FFF2-40B4-BE49-F238E27FC236}">
                <a16:creationId xmlns:a16="http://schemas.microsoft.com/office/drawing/2014/main" id="{A2E5A9A5-EA19-41BF-BE9F-4185B0A0AEC8}"/>
              </a:ext>
            </a:extLst>
          </p:cNvPr>
          <p:cNvSpPr>
            <a:spLocks xmlns:a="http://schemas.openxmlformats.org/drawingml/2006/main" noGrp="1"/>
          </p:cNvSpPr>
          <p:nvPr>
            <p:ph type="sldNum" idx="4294967295"/>
          </p:nvPr>
        </p:nvSpPr>
        <p:spPr>
          <a:xfrm xmlns:a="http://schemas.openxmlformats.org/drawingml/2006/main">
            <a:off x="11503152" y="6565392"/>
            <a:ext cx="182880" cy="1371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80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 xmlns:a="http://schemas.openxmlformats.org/drawingml/2006/main">
            <a:pPr algn="r">
              <a:buNone/>
            </a:pPr>
            <a:fld id="{F7021451-1387-4CA6-816F-3879F97B5CBC}" type="slidenum">
              <a:rPr b="0"/>
              <a:t>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9307476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C89511E8-E7A8-4215-AD6D-F6A08C18D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530352"/>
            <a:ext cx="292608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110">
                <a:solidFill>
                  <a:srgbClr val="1976D2"/>
                </a:solidFill>
              </a:rPr>
              <a:t>1 • PROBLEM AND USER</a:t>
            </a:r>
            <a:endParaRPr sz="10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815DA9F1-7CAA-40BE-A989-F56C48AC2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804672"/>
            <a:ext cx="1097280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700" b="1">
                <a:solidFill>
                  <a:srgbClr val="102A43"/>
                </a:solidFill>
              </a:rPr>
              <a:t>What problem does the project solve?</a:t>
            </a:r>
            <a:endParaRPr sz="270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BE3EA2EC-7793-468F-9B4D-E29C3A228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600200"/>
            <a:ext cx="3383280" cy="182880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D9E2EC"/>
            </a:solidFill>
            <a:prstDash val="solid"/>
          </a:ln>
          <a:effectLst xmlns:a="http://schemas.openxmlformats.org/drawingml/2006/main">
            <a:outerShdw blurRad="19050" dist="50800" dir="2700000" sx="100000" sy="100000" kx="0" ky="0" algn="bl" rotWithShape="0">
              <a:srgbClr val="B8C6D1">
                <a:alpha val="16000"/>
              </a:srgbClr>
            </a:outerShdw>
          </a:effectLst>
        </p:spPr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F16144D5-9342-42E6-A57E-667301471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600200"/>
            <a:ext cx="73152" cy="1828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76D2"/>
          </a:solidFill>
          <a:ln xmlns:a="http://schemas.openxmlformats.org/drawingml/2006/main" w="12700">
            <a:solidFill>
              <a:srgbClr val="1976D2"/>
            </a:solidFill>
            <a:prstDash val="solid"/>
          </a:ln>
        </p:spPr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7DAD0D3D-34EE-45E6-99D2-DC5F52522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112" y="1783080"/>
            <a:ext cx="29718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102A43"/>
                </a:solidFill>
              </a:rPr>
              <a:t>Input</a:t>
            </a:r>
            <a:endParaRPr sz="1500"/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9D93E5BE-1958-4AE4-9DD4-B03497764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112" y="2167128"/>
            <a:ext cx="2944368" cy="11155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243B53"/>
                </a:solidFill>
              </a:rPr>
              <a:t>Store and product</a:t>
            </a:r>
            <a:endParaRPr sz="1150"/>
          </a:p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243B53"/>
                </a:solidFill>
              </a:rPr>
              <a:t>Past sales</a:t>
            </a:r>
            <a:endParaRPr sz="1150"/>
          </a:p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243B53"/>
                </a:solidFill>
              </a:rPr>
              <a:t>Price and calendar features</a:t>
            </a:r>
            <a:endParaRPr sz="1150"/>
          </a:p>
        </p:txBody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755E571E-8242-4A9C-9155-270E765FB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7408" y="1600200"/>
            <a:ext cx="3383280" cy="182880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D9E2EC"/>
            </a:solidFill>
            <a:prstDash val="solid"/>
          </a:ln>
          <a:effectLst xmlns:a="http://schemas.openxmlformats.org/drawingml/2006/main">
            <a:outerShdw blurRad="19050" dist="50800" dir="2700000" sx="100000" sy="100000" kx="0" ky="0" algn="bl" rotWithShape="0">
              <a:srgbClr val="B8C6D1">
                <a:alpha val="16000"/>
              </a:srgbClr>
            </a:outerShdw>
          </a:effectLst>
        </p:spPr>
      </p:sp>
      <p:sp>
        <p:nvSpPr>
          <p:cNvPr id="9" name="Shape 7">
            <a:extLst xmlns:a="http://schemas.openxmlformats.org/drawingml/2006/main">
              <a:ext uri="{FF2B5EF4-FFF2-40B4-BE49-F238E27FC236}">
                <a16:creationId xmlns:a16="http://schemas.microsoft.com/office/drawing/2014/main" id="{F90DB572-329A-403C-8B9B-B7BFA058F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7408" y="1600200"/>
            <a:ext cx="73152" cy="1828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B1BC"/>
          </a:solidFill>
          <a:ln xmlns:a="http://schemas.openxmlformats.org/drawingml/2006/main" w="12700">
            <a:solidFill>
              <a:srgbClr val="2CB1BC"/>
            </a:solidFill>
            <a:prstDash val="solid"/>
          </a:ln>
        </p:spPr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4F8EB035-E4FE-4280-8EF3-726F8BE0B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3440" y="1783080"/>
            <a:ext cx="29718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102A43"/>
                </a:solidFill>
              </a:rPr>
              <a:t>ML task</a:t>
            </a:r>
            <a:endParaRPr sz="1500"/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11FC7729-3CB9-48F8-BC2A-A19796AD4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3440" y="2167128"/>
            <a:ext cx="2944368" cy="11155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243B53"/>
                </a:solidFill>
              </a:rPr>
              <a:t>Regression: predict how many units of a product will be sold during the next week.</a:t>
            </a:r>
            <a:endParaRPr sz="1150"/>
          </a:p>
        </p:txBody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177DA064-15FD-4733-82DF-E5474E315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4736" y="1600200"/>
            <a:ext cx="3383280" cy="182880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D9E2EC"/>
            </a:solidFill>
            <a:prstDash val="solid"/>
          </a:ln>
          <a:effectLst xmlns:a="http://schemas.openxmlformats.org/drawingml/2006/main">
            <a:outerShdw blurRad="19050" dist="50800" dir="2700000" sx="100000" sy="100000" kx="0" ky="0" algn="bl" rotWithShape="0">
              <a:srgbClr val="B8C6D1">
                <a:alpha val="16000"/>
              </a:srgbClr>
            </a:outerShdw>
          </a:effectLst>
        </p:spPr>
      </p:sp>
      <p:sp>
        <p:nvSpPr>
          <p:cNvPr id="13" name="Shape 11">
            <a:extLst xmlns:a="http://schemas.openxmlformats.org/drawingml/2006/main">
              <a:ext uri="{FF2B5EF4-FFF2-40B4-BE49-F238E27FC236}">
                <a16:creationId xmlns:a16="http://schemas.microsoft.com/office/drawing/2014/main" id="{BF91DAB9-0739-4B97-986D-58364FD68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4736" y="1600200"/>
            <a:ext cx="73152" cy="1828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12700">
            <a:solidFill>
              <a:srgbClr val="F59E0B"/>
            </a:solidFill>
            <a:prstDash val="solid"/>
          </a:ln>
        </p:spPr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63598408-999F-4BA0-82E3-0B4F65B47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0768" y="1783080"/>
            <a:ext cx="29718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102A43"/>
                </a:solidFill>
              </a:rPr>
              <a:t>Output</a:t>
            </a:r>
            <a:endParaRPr sz="1500"/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AD7EE808-A42A-402B-9A56-87D7566FA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0768" y="2167128"/>
            <a:ext cx="2944368" cy="11155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243B53"/>
                </a:solidFill>
              </a:rPr>
              <a:t>One non-negative number — the weekly demand forecast in units.</a:t>
            </a:r>
            <a:endParaRPr sz="1150"/>
          </a:p>
        </p:txBody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6511F0F1-CE96-4020-B448-91ADE6FE6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23360" y="2514600"/>
            <a:ext cx="34747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solidFill>
              <a:srgbClr val="1976D2"/>
            </a:solidFill>
            <a:prstDash val="solid"/>
            <a:headEnd type="none"/>
            <a:tailEnd type="triangle"/>
          </a:ln>
        </p:spPr>
      </p:sp>
      <p:sp>
        <p:nvSpPr>
          <p:cNvPr id="17" name="Shape 15">
            <a:extLst xmlns:a="http://schemas.openxmlformats.org/drawingml/2006/main">
              <a:ext uri="{FF2B5EF4-FFF2-40B4-BE49-F238E27FC236}">
                <a16:creationId xmlns:a16="http://schemas.microsoft.com/office/drawing/2014/main" id="{EDCEEC61-DB6A-4F67-9A0A-F44C49066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0688" y="2514600"/>
            <a:ext cx="34747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solidFill>
              <a:srgbClr val="1976D2"/>
            </a:solidFill>
            <a:prstDash val="solid"/>
            <a:headEnd type="none"/>
            <a:tailEnd type="triangle"/>
          </a:ln>
        </p:spPr>
      </p:sp>
      <p:sp>
        <p:nvSpPr>
          <p:cNvPr id="18" name="Shape 16">
            <a:extLst xmlns:a="http://schemas.openxmlformats.org/drawingml/2006/main">
              <a:ext uri="{FF2B5EF4-FFF2-40B4-BE49-F238E27FC236}">
                <a16:creationId xmlns:a16="http://schemas.microsoft.com/office/drawing/2014/main" id="{AB771BE3-83B8-4A9B-ACA0-F7DA0B6B5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7320" y="4069080"/>
            <a:ext cx="9326880" cy="1143000"/>
          </a:xfrm>
          <a:prstGeom xmlns:a="http://schemas.openxmlformats.org/drawingml/2006/main" prst="roundRect">
            <a:avLst>
              <a:gd name="adj" fmla="val 4800"/>
            </a:avLst>
          </a:prstGeom>
          <a:solidFill xmlns:a="http://schemas.openxmlformats.org/drawingml/2006/main">
            <a:srgbClr val="EAF2FB"/>
          </a:solidFill>
          <a:ln xmlns:a="http://schemas.openxmlformats.org/drawingml/2006/main" w="12700">
            <a:solidFill>
              <a:srgbClr val="B9D7F2"/>
            </a:solidFill>
            <a:prstDash val="solid"/>
          </a:ln>
        </p:spPr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380464B5-9297-4FB2-AAF2-B733B561C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1640" y="4315968"/>
            <a:ext cx="201168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1976D2"/>
                </a:solidFill>
              </a:rPr>
              <a:t>Success criterion</a:t>
            </a:r>
            <a:endParaRPr sz="1500"/>
          </a:p>
        </p:txBody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E5B8CD79-93A5-4332-A7FD-5A836E58F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4224528"/>
            <a:ext cx="667512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 b="1">
                <a:solidFill>
                  <a:srgbClr val="102A43"/>
                </a:solidFill>
              </a:rPr>
              <a:t>The final model MAE must be lower than a simple baseline on an unseen time period.</a:t>
            </a:r>
            <a:endParaRPr sz="1600"/>
          </a:p>
        </p:txBody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0A8157C0-B577-4C68-A6DA-137E2787F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6190488"/>
            <a:ext cx="1042416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i="1">
                <a:solidFill>
                  <a:srgbClr val="627D98"/>
                </a:solidFill>
              </a:rPr>
              <a:t>Practical use: an inventory decision that must be reviewed by a person.</a:t>
            </a:r>
            <a:endParaRPr sz="1000"/>
          </a:p>
        </p:txBody>
      </p:sp>
      <p:sp>
        <p:nvSpPr>
          <p:cNvPr id="25" name="Slide Number Placeholder 0">
            <a:extLst xmlns:a="http://schemas.openxmlformats.org/drawingml/2006/main">
              <a:ext uri="{FF2B5EF4-FFF2-40B4-BE49-F238E27FC236}">
                <a16:creationId xmlns:a16="http://schemas.microsoft.com/office/drawing/2014/main" id="{1C4716FD-807E-4BAD-970A-B19C58BE4B33}"/>
              </a:ext>
            </a:extLst>
          </p:cNvPr>
          <p:cNvSpPr>
            <a:spLocks xmlns:a="http://schemas.openxmlformats.org/drawingml/2006/main" noGrp="1"/>
          </p:cNvSpPr>
          <p:nvPr>
            <p:ph type="sldNum" idx="4294967295"/>
          </p:nvPr>
        </p:nvSpPr>
        <p:spPr>
          <a:xfrm xmlns:a="http://schemas.openxmlformats.org/drawingml/2006/main">
            <a:off x="11503152" y="6565392"/>
            <a:ext cx="182880" cy="1371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80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 xmlns:a="http://schemas.openxmlformats.org/drawingml/2006/main">
            <a:pPr algn="r">
              <a:buNone/>
            </a:pPr>
            <a:fld id="{F7021451-1387-4CA6-816F-3879F97B5CBC}" type="slidenum">
              <a:rPr b="0"/>
              <a:t>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884167510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EE43EAE4-902B-449D-8951-8B7B566E8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530352"/>
            <a:ext cx="292608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110">
                <a:solidFill>
                  <a:srgbClr val="1976D2"/>
                </a:solidFill>
              </a:rPr>
              <a:t>2 • DATA</a:t>
            </a:r>
            <a:endParaRPr sz="10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EEEB52BE-9994-4AFE-B625-81A8C04B2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804672"/>
            <a:ext cx="1097280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700" b="1">
                <a:solidFill>
                  <a:srgbClr val="102A43"/>
                </a:solidFill>
              </a:rPr>
              <a:t>Data: the full scale of the FOODS category</a:t>
            </a:r>
            <a:endParaRPr sz="270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B9EAF470-C8D4-45C1-A930-0CDAC13B0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508760"/>
            <a:ext cx="1965960" cy="1005840"/>
          </a:xfrm>
          <a:prstGeom xmlns:a="http://schemas.openxmlformats.org/drawingml/2006/main" prst="roundRect">
            <a:avLst>
              <a:gd name="adj" fmla="val 545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9E2EC"/>
            </a:solidFill>
            <a:prstDash val="solid"/>
          </a:ln>
        </p:spPr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647FA56F-6A78-4E6C-80E6-F8D89EB81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1636776"/>
            <a:ext cx="1783080" cy="4023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400" b="1">
                <a:solidFill>
                  <a:srgbClr val="1976D2"/>
                </a:solidFill>
              </a:rPr>
              <a:t>≈28M</a:t>
            </a:r>
            <a:endParaRPr sz="2400"/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FA91F8E9-263F-440B-BF1A-77241A3FD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" y="2121408"/>
            <a:ext cx="1746504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>
                <a:solidFill>
                  <a:srgbClr val="627D98"/>
                </a:solidFill>
              </a:rPr>
              <a:t>daily sales values</a:t>
            </a:r>
            <a:endParaRPr sz="1050"/>
          </a:p>
        </p:txBody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E0D0B27E-0602-4488-87A4-377B4CF61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8920" y="1508760"/>
            <a:ext cx="1965960" cy="1005840"/>
          </a:xfrm>
          <a:prstGeom xmlns:a="http://schemas.openxmlformats.org/drawingml/2006/main" prst="roundRect">
            <a:avLst>
              <a:gd name="adj" fmla="val 545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9E2EC"/>
            </a:solidFill>
            <a:prstDash val="solid"/>
          </a:ln>
        </p:spPr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01ADF426-D135-4E72-AED5-B61F0FBF7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0360" y="1636776"/>
            <a:ext cx="1783080" cy="4023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400" b="1">
                <a:solidFill>
                  <a:srgbClr val="2CB1BC"/>
                </a:solidFill>
              </a:rPr>
              <a:t>14 370</a:t>
            </a:r>
            <a:endParaRPr sz="2400"/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8B2A178B-23E3-49A1-8502-09FE4EFFA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8648" y="2121408"/>
            <a:ext cx="1746504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>
                <a:solidFill>
                  <a:srgbClr val="627D98"/>
                </a:solidFill>
              </a:rPr>
              <a:t>product × store</a:t>
            </a:r>
            <a:endParaRPr sz="1050"/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500F62B1-9CA7-4902-A840-607045A27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7760" y="1508760"/>
            <a:ext cx="1965960" cy="1005840"/>
          </a:xfrm>
          <a:prstGeom xmlns:a="http://schemas.openxmlformats.org/drawingml/2006/main" prst="roundRect">
            <a:avLst>
              <a:gd name="adj" fmla="val 545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9E2EC"/>
            </a:solidFill>
            <a:prstDash val="solid"/>
          </a:ln>
        </p:spPr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5667CCD1-8D88-44BD-B031-71144074A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1636776"/>
            <a:ext cx="1783080" cy="4023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400" b="1">
                <a:solidFill>
                  <a:srgbClr val="F59E0B"/>
                </a:solidFill>
              </a:rPr>
              <a:t>1 437</a:t>
            </a:r>
            <a:endParaRPr sz="2400"/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8FD032DB-0FCB-4A7E-AD1D-1F4B324D4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7488" y="2121408"/>
            <a:ext cx="1746504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>
                <a:solidFill>
                  <a:srgbClr val="627D98"/>
                </a:solidFill>
              </a:rPr>
              <a:t>unique products</a:t>
            </a:r>
            <a:endParaRPr sz="1050"/>
          </a:p>
        </p:txBody>
      </p:sp>
      <p:sp>
        <p:nvSpPr>
          <p:cNvPr id="13" name="Shape 11">
            <a:extLst xmlns:a="http://schemas.openxmlformats.org/drawingml/2006/main">
              <a:ext uri="{FF2B5EF4-FFF2-40B4-BE49-F238E27FC236}">
                <a16:creationId xmlns:a16="http://schemas.microsoft.com/office/drawing/2014/main" id="{2C16E63E-5D8C-4DA8-9985-00E97D596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1508760"/>
            <a:ext cx="1965960" cy="1005840"/>
          </a:xfrm>
          <a:prstGeom xmlns:a="http://schemas.openxmlformats.org/drawingml/2006/main" prst="roundRect">
            <a:avLst>
              <a:gd name="adj" fmla="val 545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9E2EC"/>
            </a:solidFill>
            <a:prstDash val="solid"/>
          </a:ln>
        </p:spPr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D6EBD5F8-BA0A-4FB0-B786-5445E24BE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78040" y="1636776"/>
            <a:ext cx="1783080" cy="4023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400" b="1">
                <a:solidFill>
                  <a:srgbClr val="178F65"/>
                </a:solidFill>
              </a:rPr>
              <a:t>10</a:t>
            </a:r>
            <a:endParaRPr sz="2400"/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488AB713-5CD3-4E11-8520-8FCC98AA6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6328" y="2121408"/>
            <a:ext cx="1746504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>
                <a:solidFill>
                  <a:srgbClr val="627D98"/>
                </a:solidFill>
              </a:rPr>
              <a:t>stores</a:t>
            </a:r>
            <a:endParaRPr sz="1050"/>
          </a:p>
        </p:txBody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A5E51B9F-847F-4786-B81F-11A322E1E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5440" y="1508760"/>
            <a:ext cx="1965960" cy="1005840"/>
          </a:xfrm>
          <a:prstGeom xmlns:a="http://schemas.openxmlformats.org/drawingml/2006/main" prst="roundRect">
            <a:avLst>
              <a:gd name="adj" fmla="val 545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9E2EC"/>
            </a:solidFill>
            <a:prstDash val="solid"/>
          </a:ln>
        </p:spPr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4F4E7FE0-3092-477B-B1C1-AD3B3BD68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6880" y="1636776"/>
            <a:ext cx="1783080" cy="4023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400" b="1">
                <a:solidFill>
                  <a:srgbClr val="D64545"/>
                </a:solidFill>
              </a:rPr>
              <a:t>3</a:t>
            </a:r>
            <a:endParaRPr sz="2400"/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67E97802-4509-4240-A04A-97917C0ED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45168" y="2121408"/>
            <a:ext cx="1746504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>
                <a:solidFill>
                  <a:srgbClr val="627D98"/>
                </a:solidFill>
              </a:rPr>
              <a:t>U.S. states</a:t>
            </a:r>
            <a:endParaRPr sz="1050"/>
          </a:p>
        </p:txBody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5856B070-DF6F-4C50-A06F-C17C24FF6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71800"/>
            <a:ext cx="393192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000" b="1">
                <a:solidFill>
                  <a:srgbClr val="102A43"/>
                </a:solidFill>
              </a:rPr>
              <a:t>M5 Forecasting — Accuracy</a:t>
            </a:r>
            <a:endParaRPr sz="2000"/>
          </a:p>
        </p:txBody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640DE98C-2EE1-4CC7-9D49-185D2CC91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56432"/>
            <a:ext cx="4892040" cy="10515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81" tIns="381" rIns="381" bIns="381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>
                <a:solidFill>
                  <a:srgbClr val="243B53"/>
                </a:solidFill>
              </a:rPr>
              <a:t>Walmart sales from 2011–2016. The original files contain daily sales, a calendar, events and holidays, SNAP, and weekly prices.</a:t>
            </a:r>
            <a:endParaRPr sz="1400"/>
          </a:p>
        </p:txBody>
      </p:sp>
      <p:sp>
        <p:nvSpPr>
          <p:cNvPr id="21" name="Shape 19">
            <a:extLst xmlns:a="http://schemas.openxmlformats.org/drawingml/2006/main">
              <a:ext uri="{FF2B5EF4-FFF2-40B4-BE49-F238E27FC236}">
                <a16:creationId xmlns:a16="http://schemas.microsoft.com/office/drawing/2014/main" id="{223DBD71-B87E-4518-8D55-47E7EA0C5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9320" y="2971800"/>
            <a:ext cx="2560320" cy="155448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D9E2EC"/>
            </a:solidFill>
            <a:prstDash val="solid"/>
          </a:ln>
          <a:effectLst xmlns:a="http://schemas.openxmlformats.org/drawingml/2006/main">
            <a:outerShdw blurRad="19050" dist="50800" dir="2700000" sx="100000" sy="100000" kx="0" ky="0" algn="bl" rotWithShape="0">
              <a:srgbClr val="B8C6D1">
                <a:alpha val="16000"/>
              </a:srgbClr>
            </a:outerShdw>
          </a:effectLst>
        </p:spPr>
      </p:sp>
      <p:sp>
        <p:nvSpPr>
          <p:cNvPr id="22" name="Shape 20">
            <a:extLst xmlns:a="http://schemas.openxmlformats.org/drawingml/2006/main">
              <a:ext uri="{FF2B5EF4-FFF2-40B4-BE49-F238E27FC236}">
                <a16:creationId xmlns:a16="http://schemas.microsoft.com/office/drawing/2014/main" id="{42CD6DB0-E185-4128-A1F0-4413DE9A1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9320" y="2971800"/>
            <a:ext cx="73152" cy="15544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76D2"/>
          </a:solidFill>
          <a:ln xmlns:a="http://schemas.openxmlformats.org/drawingml/2006/main" w="12700">
            <a:solidFill>
              <a:srgbClr val="1976D2"/>
            </a:solidFill>
            <a:prstDash val="solid"/>
          </a:ln>
        </p:spPr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21B7100D-74FB-46FD-BDCA-56ADD43D1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5352" y="3154680"/>
            <a:ext cx="21488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102A43"/>
                </a:solidFill>
              </a:rPr>
              <a:t>Why FOODS?</a:t>
            </a:r>
            <a:endParaRPr sz="1500"/>
          </a:p>
        </p:txBody>
      </p:sp>
      <p:sp>
        <p:nvSpPr>
          <p:cNvPr id="24" name="Text 22">
            <a:extLst xmlns:a="http://schemas.openxmlformats.org/drawingml/2006/main">
              <a:ext uri="{FF2B5EF4-FFF2-40B4-BE49-F238E27FC236}">
                <a16:creationId xmlns:a16="http://schemas.microsoft.com/office/drawing/2014/main" id="{D5529E49-A30C-40A5-84FE-89F1DCCC7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5352" y="3538728"/>
            <a:ext cx="2121408" cy="8412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243B53"/>
                </a:solidFill>
              </a:rPr>
              <a:t>One coherent category, while keeping the full data volume and real demand variability.</a:t>
            </a:r>
            <a:endParaRPr sz="1150"/>
          </a:p>
        </p:txBody>
      </p:sp>
      <p:sp>
        <p:nvSpPr>
          <p:cNvPr id="25" name="Shape 23">
            <a:extLst xmlns:a="http://schemas.openxmlformats.org/drawingml/2006/main">
              <a:ext uri="{FF2B5EF4-FFF2-40B4-BE49-F238E27FC236}">
                <a16:creationId xmlns:a16="http://schemas.microsoft.com/office/drawing/2014/main" id="{2DB137DA-47B5-417A-A77F-685BE8189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3960" y="2971800"/>
            <a:ext cx="2560320" cy="155448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D9E2EC"/>
            </a:solidFill>
            <a:prstDash val="solid"/>
          </a:ln>
          <a:effectLst xmlns:a="http://schemas.openxmlformats.org/drawingml/2006/main">
            <a:outerShdw blurRad="19050" dist="50800" dir="2700000" sx="100000" sy="100000" kx="0" ky="0" algn="bl" rotWithShape="0">
              <a:srgbClr val="B8C6D1">
                <a:alpha val="16000"/>
              </a:srgbClr>
            </a:outerShdw>
          </a:effectLst>
        </p:spPr>
      </p:sp>
      <p:sp>
        <p:nvSpPr>
          <p:cNvPr id="26" name="Shape 24">
            <a:extLst xmlns:a="http://schemas.openxmlformats.org/drawingml/2006/main">
              <a:ext uri="{FF2B5EF4-FFF2-40B4-BE49-F238E27FC236}">
                <a16:creationId xmlns:a16="http://schemas.microsoft.com/office/drawing/2014/main" id="{DA1538A0-FA81-4EAF-8783-5B883B98B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3960" y="2971800"/>
            <a:ext cx="73152" cy="15544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4545"/>
          </a:solidFill>
          <a:ln xmlns:a="http://schemas.openxmlformats.org/drawingml/2006/main" w="12700">
            <a:solidFill>
              <a:srgbClr val="D64545"/>
            </a:solidFill>
            <a:prstDash val="solid"/>
          </a:ln>
        </p:spPr>
      </p:sp>
      <p:sp>
        <p:nvSpPr>
          <p:cNvPr id="27" name="Text 25">
            <a:extLst xmlns:a="http://schemas.openxmlformats.org/drawingml/2006/main">
              <a:ext uri="{FF2B5EF4-FFF2-40B4-BE49-F238E27FC236}">
                <a16:creationId xmlns:a16="http://schemas.microsoft.com/office/drawing/2014/main" id="{27D2E1F5-A64C-4790-9FF6-DFC0BFF53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9992" y="3154680"/>
            <a:ext cx="21488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102A43"/>
                </a:solidFill>
              </a:rPr>
              <a:t>Limitation</a:t>
            </a:r>
            <a:endParaRPr sz="1500"/>
          </a:p>
        </p:txBody>
      </p:sp>
      <p:sp>
        <p:nvSpPr>
          <p:cNvPr id="28" name="Text 26">
            <a:extLst xmlns:a="http://schemas.openxmlformats.org/drawingml/2006/main">
              <a:ext uri="{FF2B5EF4-FFF2-40B4-BE49-F238E27FC236}">
                <a16:creationId xmlns:a16="http://schemas.microsoft.com/office/drawing/2014/main" id="{901AD45C-0E56-47D8-8520-FA7088EE6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9992" y="3538728"/>
            <a:ext cx="2121408" cy="8412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243B53"/>
                </a:solidFill>
              </a:rPr>
              <a:t>These are U.S. data, so the model cannot be transferred to Uzbekistan without local data.</a:t>
            </a:r>
            <a:endParaRPr sz="1150"/>
          </a:p>
        </p:txBody>
      </p:sp>
      <p:sp>
        <p:nvSpPr>
          <p:cNvPr id="29" name="Text 27">
            <a:extLst xmlns:a="http://schemas.openxmlformats.org/drawingml/2006/main">
              <a:ext uri="{FF2B5EF4-FFF2-40B4-BE49-F238E27FC236}">
                <a16:creationId xmlns:a16="http://schemas.microsoft.com/office/drawing/2014/main" id="{B9B849AC-0C9A-469B-8319-CA180879F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" y="5257800"/>
            <a:ext cx="9875520" cy="4206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700" b="1">
                <a:solidFill>
                  <a:srgbClr val="1976D2"/>
                </a:solidFill>
              </a:rPr>
              <a:t>After cleaning: 3,118,862 weekly rows • 277 weeks • 3 FOODS departments</a:t>
            </a:r>
            <a:endParaRPr sz="1700"/>
          </a:p>
        </p:txBody>
      </p:sp>
      <p:sp>
        <p:nvSpPr>
          <p:cNvPr id="30" name="Text 28">
            <a:extLst xmlns:a="http://schemas.openxmlformats.org/drawingml/2006/main">
              <a:ext uri="{FF2B5EF4-FFF2-40B4-BE49-F238E27FC236}">
                <a16:creationId xmlns:a16="http://schemas.microsoft.com/office/drawing/2014/main" id="{924E357F-17F9-458E-81B7-C93213598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6190488"/>
            <a:ext cx="1042416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i="1">
                <a:solidFill>
                  <a:srgbClr val="627D98"/>
                </a:solidFill>
              </a:rPr>
              <a:t>The source and access conditions are documented; large CSV files are not stored on GitHub.</a:t>
            </a:r>
            <a:endParaRPr sz="1000"/>
          </a:p>
        </p:txBody>
      </p:sp>
      <p:sp>
        <p:nvSpPr>
          <p:cNvPr id="31" name="Slide Number Placeholder 0">
            <a:extLst xmlns:a="http://schemas.openxmlformats.org/drawingml/2006/main">
              <a:ext uri="{FF2B5EF4-FFF2-40B4-BE49-F238E27FC236}">
                <a16:creationId xmlns:a16="http://schemas.microsoft.com/office/drawing/2014/main" id="{D62786B9-2B4B-4E60-B278-947409BD425A}"/>
              </a:ext>
            </a:extLst>
          </p:cNvPr>
          <p:cNvSpPr>
            <a:spLocks xmlns:a="http://schemas.openxmlformats.org/drawingml/2006/main" noGrp="1"/>
          </p:cNvSpPr>
          <p:nvPr>
            <p:ph type="sldNum" idx="4294967295"/>
          </p:nvPr>
        </p:nvSpPr>
        <p:spPr>
          <a:xfrm xmlns:a="http://schemas.openxmlformats.org/drawingml/2006/main">
            <a:off x="11503152" y="6565392"/>
            <a:ext cx="182880" cy="1371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80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 xmlns:a="http://schemas.openxmlformats.org/drawingml/2006/main">
            <a:pPr algn="r">
              <a:buNone/>
            </a:pPr>
            <a:fld id="{F7021451-1387-4CA6-816F-3879F97B5CBC}" type="slidenum">
              <a:rPr b="0"/>
              <a:t>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149252064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2FAAE047-6F0F-4689-9473-9DE577461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530352"/>
            <a:ext cx="292608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110">
                <a:solidFill>
                  <a:srgbClr val="1976D2"/>
                </a:solidFill>
              </a:rPr>
              <a:t>3 • ORIGINAL M5 FILES</a:t>
            </a:r>
            <a:endParaRPr sz="10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B98C558A-AFD3-4223-89D9-4D831BEE6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804672"/>
            <a:ext cx="1097280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700" b="1">
                <a:solidFill>
                  <a:srgbClr val="102A43"/>
                </a:solidFill>
              </a:rPr>
              <a:t>Five original files serve different purposes</a:t>
            </a:r>
            <a:endParaRPr sz="2700"/>
          </a:p>
        </p:txBody>
      </p:sp>
      <p:graphicFrame>
        <p:nvGraphicFramePr>
          <p:cNvPr id="29" name="Table 0"/>
          <p:cNvGraphicFramePr/>
          <p:nvPr/>
        </p:nvGraphicFramePr>
        <p:xfrm>
          <a:off xmlns:a="http://schemas.openxmlformats.org/drawingml/2006/main" x="658368" y="1463040"/>
          <a:ext xmlns:a="http://schemas.openxmlformats.org/drawingml/2006/main" cx="10881360" cy="333756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971800"/>
                <a:gridCol w="4617720"/>
                <a:gridCol w="3291840"/>
              </a:tblGrid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400">
                          <a:solidFill>
                            <a:srgbClr val="243B53"/>
                          </a:solidFill>
                          <a:latin typeface="Aptos"/>
                          <a:ea typeface="Aptos"/>
                          <a:cs typeface="Aptos"/>
                        </a:rPr>
                        <a:t>File</a:t>
                      </a:r>
                      <a:endParaRPr sz="1400">
                        <a:latin typeface="Aptos"/>
                        <a:ea typeface="Aptos"/>
                        <a:cs typeface="Aptos"/>
                      </a:endParaRPr>
                    </a:p>
                  </a:txBody>
                  <a:tcPr marL="82296" marR="82296" marT="82296" marB="82296">
                    <a:lnL w="12700" cmpd="sng">
                      <a:solidFill>
                        <a:srgbClr val="D9E2EC"/>
                      </a:solidFill>
                      <a:prstDash val="solid"/>
                    </a:lnL>
                    <a:lnR w="12700" cmpd="sng">
                      <a:solidFill>
                        <a:srgbClr val="D9E2EC"/>
                      </a:solidFill>
                      <a:prstDash val="solid"/>
                    </a:lnR>
                    <a:lnT w="12700" cmpd="sng">
                      <a:solidFill>
                        <a:srgbClr val="D9E2EC"/>
                      </a:solidFill>
                      <a:prstDash val="solid"/>
                    </a:lnT>
                    <a:lnB w="12700" cmpd="sng">
                      <a:solidFill>
                        <a:srgbClr val="D9E2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400">
                          <a:solidFill>
                            <a:srgbClr val="243B53"/>
                          </a:solidFill>
                          <a:latin typeface="Aptos"/>
                          <a:ea typeface="Aptos"/>
                          <a:cs typeface="Aptos"/>
                        </a:rPr>
                        <a:t>Contents</a:t>
                      </a:r>
                      <a:endParaRPr sz="1400">
                        <a:latin typeface="Aptos"/>
                        <a:ea typeface="Aptos"/>
                        <a:cs typeface="Aptos"/>
                      </a:endParaRPr>
                    </a:p>
                  </a:txBody>
                  <a:tcPr marL="82296" marR="82296" marT="82296" marB="82296">
                    <a:lnL w="12700" cmpd="sng">
                      <a:solidFill>
                        <a:srgbClr val="D9E2EC"/>
                      </a:solidFill>
                      <a:prstDash val="solid"/>
                    </a:lnL>
                    <a:lnR w="12700" cmpd="sng">
                      <a:solidFill>
                        <a:srgbClr val="D9E2EC"/>
                      </a:solidFill>
                      <a:prstDash val="solid"/>
                    </a:lnR>
                    <a:lnT w="12700" cmpd="sng">
                      <a:solidFill>
                        <a:srgbClr val="D9E2EC"/>
                      </a:solidFill>
                      <a:prstDash val="solid"/>
                    </a:lnT>
                    <a:lnB w="12700" cmpd="sng">
                      <a:solidFill>
                        <a:srgbClr val="D9E2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400">
                          <a:solidFill>
                            <a:srgbClr val="243B53"/>
                          </a:solidFill>
                          <a:latin typeface="Aptos"/>
                          <a:ea typeface="Aptos"/>
                          <a:cs typeface="Aptos"/>
                        </a:rPr>
                        <a:t>Role in the project</a:t>
                      </a:r>
                      <a:endParaRPr sz="1400">
                        <a:latin typeface="Aptos"/>
                        <a:ea typeface="Aptos"/>
                        <a:cs typeface="Aptos"/>
                      </a:endParaRPr>
                    </a:p>
                  </a:txBody>
                  <a:tcPr marL="82296" marR="82296" marT="82296" marB="82296">
                    <a:lnL w="12700" cmpd="sng">
                      <a:solidFill>
                        <a:srgbClr val="D9E2EC"/>
                      </a:solidFill>
                      <a:prstDash val="solid"/>
                    </a:lnL>
                    <a:lnR w="12700" cmpd="sng">
                      <a:solidFill>
                        <a:srgbClr val="D9E2EC"/>
                      </a:solidFill>
                      <a:prstDash val="solid"/>
                    </a:lnR>
                    <a:lnT w="12700" cmpd="sng">
                      <a:solidFill>
                        <a:srgbClr val="D9E2EC"/>
                      </a:solidFill>
                      <a:prstDash val="solid"/>
                    </a:lnT>
                    <a:lnB w="12700" cmpd="sng">
                      <a:solidFill>
                        <a:srgbClr val="D9E2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400">
                          <a:solidFill>
                            <a:srgbClr val="243B53"/>
                          </a:solidFill>
                          <a:latin typeface="Aptos"/>
                          <a:ea typeface="Aptos"/>
                          <a:cs typeface="Aptos"/>
                        </a:rPr>
                        <a:t>calendar.csv</a:t>
                      </a:r>
                      <a:endParaRPr sz="1400">
                        <a:latin typeface="Aptos"/>
                        <a:ea typeface="Aptos"/>
                        <a:cs typeface="Aptos"/>
                      </a:endParaRPr>
                    </a:p>
                  </a:txBody>
                  <a:tcPr marL="82296" marR="82296" marT="82296" marB="82296">
                    <a:lnL w="12700" cmpd="sng">
                      <a:solidFill>
                        <a:srgbClr val="D9E2EC"/>
                      </a:solidFill>
                      <a:prstDash val="solid"/>
                    </a:lnL>
                    <a:lnR w="12700" cmpd="sng">
                      <a:solidFill>
                        <a:srgbClr val="D9E2EC"/>
                      </a:solidFill>
                      <a:prstDash val="solid"/>
                    </a:lnR>
                    <a:lnT w="12700" cmpd="sng">
                      <a:solidFill>
                        <a:srgbClr val="D9E2EC"/>
                      </a:solidFill>
                      <a:prstDash val="solid"/>
                    </a:lnT>
                    <a:lnB w="12700" cmpd="sng">
                      <a:solidFill>
                        <a:srgbClr val="D9E2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400">
                          <a:solidFill>
                            <a:srgbClr val="243B53"/>
                          </a:solidFill>
                          <a:latin typeface="Aptos"/>
                          <a:ea typeface="Aptos"/>
                          <a:cs typeface="Aptos"/>
                        </a:rPr>
                        <a:t>dates, d codes, events, SNAP</a:t>
                      </a:r>
                      <a:endParaRPr sz="1400">
                        <a:latin typeface="Aptos"/>
                        <a:ea typeface="Aptos"/>
                        <a:cs typeface="Aptos"/>
                      </a:endParaRPr>
                    </a:p>
                  </a:txBody>
                  <a:tcPr marL="82296" marR="82296" marT="82296" marB="82296">
                    <a:lnL w="12700" cmpd="sng">
                      <a:solidFill>
                        <a:srgbClr val="D9E2EC"/>
                      </a:solidFill>
                      <a:prstDash val="solid"/>
                    </a:lnL>
                    <a:lnR w="12700" cmpd="sng">
                      <a:solidFill>
                        <a:srgbClr val="D9E2EC"/>
                      </a:solidFill>
                      <a:prstDash val="solid"/>
                    </a:lnR>
                    <a:lnT w="12700" cmpd="sng">
                      <a:solidFill>
                        <a:srgbClr val="D9E2EC"/>
                      </a:solidFill>
                      <a:prstDash val="solid"/>
                    </a:lnT>
                    <a:lnB w="12700" cmpd="sng">
                      <a:solidFill>
                        <a:srgbClr val="D9E2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400">
                          <a:solidFill>
                            <a:srgbClr val="243B53"/>
                          </a:solidFill>
                          <a:latin typeface="Aptos"/>
                          <a:ea typeface="Aptos"/>
                          <a:cs typeface="Aptos"/>
                        </a:rPr>
                        <a:t>used</a:t>
                      </a:r>
                      <a:endParaRPr sz="1400">
                        <a:latin typeface="Aptos"/>
                        <a:ea typeface="Aptos"/>
                        <a:cs typeface="Aptos"/>
                      </a:endParaRPr>
                    </a:p>
                  </a:txBody>
                  <a:tcPr marL="82296" marR="82296" marT="82296" marB="82296">
                    <a:lnL w="12700" cmpd="sng">
                      <a:solidFill>
                        <a:srgbClr val="D9E2EC"/>
                      </a:solidFill>
                      <a:prstDash val="solid"/>
                    </a:lnL>
                    <a:lnR w="12700" cmpd="sng">
                      <a:solidFill>
                        <a:srgbClr val="D9E2EC"/>
                      </a:solidFill>
                      <a:prstDash val="solid"/>
                    </a:lnR>
                    <a:lnT w="12700" cmpd="sng">
                      <a:solidFill>
                        <a:srgbClr val="D9E2EC"/>
                      </a:solidFill>
                      <a:prstDash val="solid"/>
                    </a:lnT>
                    <a:lnB w="12700" cmpd="sng">
                      <a:solidFill>
                        <a:srgbClr val="D9E2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400">
                          <a:solidFill>
                            <a:srgbClr val="243B53"/>
                          </a:solidFill>
                          <a:latin typeface="Aptos"/>
                          <a:ea typeface="Aptos"/>
                          <a:cs typeface="Aptos"/>
                        </a:rPr>
                        <a:t>sales_train_evaluation.csv</a:t>
                      </a:r>
                      <a:endParaRPr sz="1400">
                        <a:latin typeface="Aptos"/>
                        <a:ea typeface="Aptos"/>
                        <a:cs typeface="Aptos"/>
                      </a:endParaRPr>
                    </a:p>
                  </a:txBody>
                  <a:tcPr marL="82296" marR="82296" marT="82296" marB="82296">
                    <a:lnL w="12700" cmpd="sng">
                      <a:solidFill>
                        <a:srgbClr val="D9E2EC"/>
                      </a:solidFill>
                      <a:prstDash val="solid"/>
                    </a:lnL>
                    <a:lnR w="12700" cmpd="sng">
                      <a:solidFill>
                        <a:srgbClr val="D9E2EC"/>
                      </a:solidFill>
                      <a:prstDash val="solid"/>
                    </a:lnR>
                    <a:lnT w="12700" cmpd="sng">
                      <a:solidFill>
                        <a:srgbClr val="D9E2EC"/>
                      </a:solidFill>
                      <a:prstDash val="solid"/>
                    </a:lnT>
                    <a:lnB w="12700" cmpd="sng">
                      <a:solidFill>
                        <a:srgbClr val="D9E2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400">
                          <a:solidFill>
                            <a:srgbClr val="243B53"/>
                          </a:solidFill>
                          <a:latin typeface="Aptos"/>
                          <a:ea typeface="Aptos"/>
                          <a:cs typeface="Aptos"/>
                        </a:rPr>
                        <a:t>sales d_1–d_1941</a:t>
                      </a:r>
                      <a:endParaRPr sz="1400">
                        <a:latin typeface="Aptos"/>
                        <a:ea typeface="Aptos"/>
                        <a:cs typeface="Aptos"/>
                      </a:endParaRPr>
                    </a:p>
                  </a:txBody>
                  <a:tcPr marL="82296" marR="82296" marT="82296" marB="82296">
                    <a:lnL w="12700" cmpd="sng">
                      <a:solidFill>
                        <a:srgbClr val="D9E2EC"/>
                      </a:solidFill>
                      <a:prstDash val="solid"/>
                    </a:lnL>
                    <a:lnR w="12700" cmpd="sng">
                      <a:solidFill>
                        <a:srgbClr val="D9E2EC"/>
                      </a:solidFill>
                      <a:prstDash val="solid"/>
                    </a:lnR>
                    <a:lnT w="12700" cmpd="sng">
                      <a:solidFill>
                        <a:srgbClr val="D9E2EC"/>
                      </a:solidFill>
                      <a:prstDash val="solid"/>
                    </a:lnT>
                    <a:lnB w="12700" cmpd="sng">
                      <a:solidFill>
                        <a:srgbClr val="D9E2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400">
                          <a:solidFill>
                            <a:srgbClr val="243B53"/>
                          </a:solidFill>
                          <a:latin typeface="Aptos"/>
                          <a:ea typeface="Aptos"/>
                          <a:cs typeface="Aptos"/>
                        </a:rPr>
                        <a:t>main sales file</a:t>
                      </a:r>
                      <a:endParaRPr sz="1400">
                        <a:latin typeface="Aptos"/>
                        <a:ea typeface="Aptos"/>
                        <a:cs typeface="Aptos"/>
                      </a:endParaRPr>
                    </a:p>
                  </a:txBody>
                  <a:tcPr marL="82296" marR="82296" marT="82296" marB="82296">
                    <a:lnL w="12700" cmpd="sng">
                      <a:solidFill>
                        <a:srgbClr val="D9E2EC"/>
                      </a:solidFill>
                      <a:prstDash val="solid"/>
                    </a:lnL>
                    <a:lnR w="12700" cmpd="sng">
                      <a:solidFill>
                        <a:srgbClr val="D9E2EC"/>
                      </a:solidFill>
                      <a:prstDash val="solid"/>
                    </a:lnR>
                    <a:lnT w="12700" cmpd="sng">
                      <a:solidFill>
                        <a:srgbClr val="D9E2EC"/>
                      </a:solidFill>
                      <a:prstDash val="solid"/>
                    </a:lnT>
                    <a:lnB w="12700" cmpd="sng">
                      <a:solidFill>
                        <a:srgbClr val="D9E2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400">
                          <a:solidFill>
                            <a:srgbClr val="243B53"/>
                          </a:solidFill>
                          <a:latin typeface="Aptos"/>
                          <a:ea typeface="Aptos"/>
                          <a:cs typeface="Aptos"/>
                        </a:rPr>
                        <a:t>sales_train_validation.csv</a:t>
                      </a:r>
                      <a:endParaRPr sz="1400">
                        <a:latin typeface="Aptos"/>
                        <a:ea typeface="Aptos"/>
                        <a:cs typeface="Aptos"/>
                      </a:endParaRPr>
                    </a:p>
                  </a:txBody>
                  <a:tcPr marL="82296" marR="82296" marT="82296" marB="82296">
                    <a:lnL w="12700" cmpd="sng">
                      <a:solidFill>
                        <a:srgbClr val="D9E2EC"/>
                      </a:solidFill>
                      <a:prstDash val="solid"/>
                    </a:lnL>
                    <a:lnR w="12700" cmpd="sng">
                      <a:solidFill>
                        <a:srgbClr val="D9E2EC"/>
                      </a:solidFill>
                      <a:prstDash val="solid"/>
                    </a:lnR>
                    <a:lnT w="12700" cmpd="sng">
                      <a:solidFill>
                        <a:srgbClr val="D9E2EC"/>
                      </a:solidFill>
                      <a:prstDash val="solid"/>
                    </a:lnT>
                    <a:lnB w="12700" cmpd="sng">
                      <a:solidFill>
                        <a:srgbClr val="D9E2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400">
                          <a:solidFill>
                            <a:srgbClr val="243B53"/>
                          </a:solidFill>
                          <a:latin typeface="Aptos"/>
                          <a:ea typeface="Aptos"/>
                          <a:cs typeface="Aptos"/>
                        </a:rPr>
                        <a:t>same history through d_1913</a:t>
                      </a:r>
                      <a:endParaRPr sz="1400">
                        <a:latin typeface="Aptos"/>
                        <a:ea typeface="Aptos"/>
                        <a:cs typeface="Aptos"/>
                      </a:endParaRPr>
                    </a:p>
                  </a:txBody>
                  <a:tcPr marL="82296" marR="82296" marT="82296" marB="82296">
                    <a:lnL w="12700" cmpd="sng">
                      <a:solidFill>
                        <a:srgbClr val="D9E2EC"/>
                      </a:solidFill>
                      <a:prstDash val="solid"/>
                    </a:lnL>
                    <a:lnR w="12700" cmpd="sng">
                      <a:solidFill>
                        <a:srgbClr val="D9E2EC"/>
                      </a:solidFill>
                      <a:prstDash val="solid"/>
                    </a:lnR>
                    <a:lnT w="12700" cmpd="sng">
                      <a:solidFill>
                        <a:srgbClr val="D9E2EC"/>
                      </a:solidFill>
                      <a:prstDash val="solid"/>
                    </a:lnT>
                    <a:lnB w="12700" cmpd="sng">
                      <a:solidFill>
                        <a:srgbClr val="D9E2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400">
                          <a:solidFill>
                            <a:srgbClr val="243B53"/>
                          </a:solidFill>
                          <a:latin typeface="Aptos"/>
                          <a:ea typeface="Aptos"/>
                          <a:cs typeface="Aptos"/>
                        </a:rPr>
                        <a:t>audited, not appended</a:t>
                      </a:r>
                      <a:endParaRPr sz="1400">
                        <a:latin typeface="Aptos"/>
                        <a:ea typeface="Aptos"/>
                        <a:cs typeface="Aptos"/>
                      </a:endParaRPr>
                    </a:p>
                  </a:txBody>
                  <a:tcPr marL="82296" marR="82296" marT="82296" marB="82296">
                    <a:lnL w="12700" cmpd="sng">
                      <a:solidFill>
                        <a:srgbClr val="D9E2EC"/>
                      </a:solidFill>
                      <a:prstDash val="solid"/>
                    </a:lnL>
                    <a:lnR w="12700" cmpd="sng">
                      <a:solidFill>
                        <a:srgbClr val="D9E2EC"/>
                      </a:solidFill>
                      <a:prstDash val="solid"/>
                    </a:lnR>
                    <a:lnT w="12700" cmpd="sng">
                      <a:solidFill>
                        <a:srgbClr val="D9E2EC"/>
                      </a:solidFill>
                      <a:prstDash val="solid"/>
                    </a:lnT>
                    <a:lnB w="12700" cmpd="sng">
                      <a:solidFill>
                        <a:srgbClr val="D9E2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400">
                          <a:solidFill>
                            <a:srgbClr val="243B53"/>
                          </a:solidFill>
                          <a:latin typeface="Aptos"/>
                          <a:ea typeface="Aptos"/>
                          <a:cs typeface="Aptos"/>
                        </a:rPr>
                        <a:t>sell_prices.csv</a:t>
                      </a:r>
                      <a:endParaRPr sz="1400">
                        <a:latin typeface="Aptos"/>
                        <a:ea typeface="Aptos"/>
                        <a:cs typeface="Aptos"/>
                      </a:endParaRPr>
                    </a:p>
                  </a:txBody>
                  <a:tcPr marL="82296" marR="82296" marT="82296" marB="82296">
                    <a:lnL w="12700" cmpd="sng">
                      <a:solidFill>
                        <a:srgbClr val="D9E2EC"/>
                      </a:solidFill>
                      <a:prstDash val="solid"/>
                    </a:lnL>
                    <a:lnR w="12700" cmpd="sng">
                      <a:solidFill>
                        <a:srgbClr val="D9E2EC"/>
                      </a:solidFill>
                      <a:prstDash val="solid"/>
                    </a:lnR>
                    <a:lnT w="12700" cmpd="sng">
                      <a:solidFill>
                        <a:srgbClr val="D9E2EC"/>
                      </a:solidFill>
                      <a:prstDash val="solid"/>
                    </a:lnT>
                    <a:lnB w="12700" cmpd="sng">
                      <a:solidFill>
                        <a:srgbClr val="D9E2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400">
                          <a:solidFill>
                            <a:srgbClr val="243B53"/>
                          </a:solidFill>
                          <a:latin typeface="Aptos"/>
                          <a:ea typeface="Aptos"/>
                          <a:cs typeface="Aptos"/>
                        </a:rPr>
                        <a:t>price by item + store + wm_yr_wk</a:t>
                      </a:r>
                      <a:endParaRPr sz="1400">
                        <a:latin typeface="Aptos"/>
                        <a:ea typeface="Aptos"/>
                        <a:cs typeface="Aptos"/>
                      </a:endParaRPr>
                    </a:p>
                  </a:txBody>
                  <a:tcPr marL="82296" marR="82296" marT="82296" marB="82296">
                    <a:lnL w="12700" cmpd="sng">
                      <a:solidFill>
                        <a:srgbClr val="D9E2EC"/>
                      </a:solidFill>
                      <a:prstDash val="solid"/>
                    </a:lnL>
                    <a:lnR w="12700" cmpd="sng">
                      <a:solidFill>
                        <a:srgbClr val="D9E2EC"/>
                      </a:solidFill>
                      <a:prstDash val="solid"/>
                    </a:lnR>
                    <a:lnT w="12700" cmpd="sng">
                      <a:solidFill>
                        <a:srgbClr val="D9E2EC"/>
                      </a:solidFill>
                      <a:prstDash val="solid"/>
                    </a:lnT>
                    <a:lnB w="12700" cmpd="sng">
                      <a:solidFill>
                        <a:srgbClr val="D9E2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400">
                          <a:solidFill>
                            <a:srgbClr val="243B53"/>
                          </a:solidFill>
                          <a:latin typeface="Aptos"/>
                          <a:ea typeface="Aptos"/>
                          <a:cs typeface="Aptos"/>
                        </a:rPr>
                        <a:t>used</a:t>
                      </a:r>
                      <a:endParaRPr sz="1400">
                        <a:latin typeface="Aptos"/>
                        <a:ea typeface="Aptos"/>
                        <a:cs typeface="Aptos"/>
                      </a:endParaRPr>
                    </a:p>
                  </a:txBody>
                  <a:tcPr marL="82296" marR="82296" marT="82296" marB="82296">
                    <a:lnL w="12700" cmpd="sng">
                      <a:solidFill>
                        <a:srgbClr val="D9E2EC"/>
                      </a:solidFill>
                      <a:prstDash val="solid"/>
                    </a:lnL>
                    <a:lnR w="12700" cmpd="sng">
                      <a:solidFill>
                        <a:srgbClr val="D9E2EC"/>
                      </a:solidFill>
                      <a:prstDash val="solid"/>
                    </a:lnR>
                    <a:lnT w="12700" cmpd="sng">
                      <a:solidFill>
                        <a:srgbClr val="D9E2EC"/>
                      </a:solidFill>
                      <a:prstDash val="solid"/>
                    </a:lnT>
                    <a:lnB w="12700" cmpd="sng">
                      <a:solidFill>
                        <a:srgbClr val="D9E2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400">
                          <a:solidFill>
                            <a:srgbClr val="243B53"/>
                          </a:solidFill>
                          <a:latin typeface="Aptos"/>
                          <a:ea typeface="Aptos"/>
                          <a:cs typeface="Aptos"/>
                        </a:rPr>
                        <a:t>sample_submission.csv</a:t>
                      </a:r>
                      <a:endParaRPr sz="1400">
                        <a:latin typeface="Aptos"/>
                        <a:ea typeface="Aptos"/>
                        <a:cs typeface="Aptos"/>
                      </a:endParaRPr>
                    </a:p>
                  </a:txBody>
                  <a:tcPr marL="82296" marR="82296" marT="82296" marB="82296">
                    <a:lnL w="12700" cmpd="sng">
                      <a:solidFill>
                        <a:srgbClr val="D9E2EC"/>
                      </a:solidFill>
                      <a:prstDash val="solid"/>
                    </a:lnL>
                    <a:lnR w="12700" cmpd="sng">
                      <a:solidFill>
                        <a:srgbClr val="D9E2EC"/>
                      </a:solidFill>
                      <a:prstDash val="solid"/>
                    </a:lnR>
                    <a:lnT w="12700" cmpd="sng">
                      <a:solidFill>
                        <a:srgbClr val="D9E2EC"/>
                      </a:solidFill>
                      <a:prstDash val="solid"/>
                    </a:lnT>
                    <a:lnB w="12700" cmpd="sng">
                      <a:solidFill>
                        <a:srgbClr val="D9E2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400">
                          <a:solidFill>
                            <a:srgbClr val="243B53"/>
                          </a:solidFill>
                          <a:latin typeface="Aptos"/>
                          <a:ea typeface="Aptos"/>
                          <a:cs typeface="Aptos"/>
                        </a:rPr>
                        <a:t>Kaggle output format F1–F28</a:t>
                      </a:r>
                      <a:endParaRPr sz="1400">
                        <a:latin typeface="Aptos"/>
                        <a:ea typeface="Aptos"/>
                        <a:cs typeface="Aptos"/>
                      </a:endParaRPr>
                    </a:p>
                  </a:txBody>
                  <a:tcPr marL="82296" marR="82296" marT="82296" marB="82296">
                    <a:lnL w="12700" cmpd="sng">
                      <a:solidFill>
                        <a:srgbClr val="D9E2EC"/>
                      </a:solidFill>
                      <a:prstDash val="solid"/>
                    </a:lnL>
                    <a:lnR w="12700" cmpd="sng">
                      <a:solidFill>
                        <a:srgbClr val="D9E2EC"/>
                      </a:solidFill>
                      <a:prstDash val="solid"/>
                    </a:lnR>
                    <a:lnT w="12700" cmpd="sng">
                      <a:solidFill>
                        <a:srgbClr val="D9E2EC"/>
                      </a:solidFill>
                      <a:prstDash val="solid"/>
                    </a:lnT>
                    <a:lnB w="12700" cmpd="sng">
                      <a:solidFill>
                        <a:srgbClr val="D9E2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400">
                          <a:solidFill>
                            <a:srgbClr val="243B53"/>
                          </a:solidFill>
                          <a:latin typeface="Aptos"/>
                          <a:ea typeface="Aptos"/>
                          <a:cs typeface="Aptos"/>
                        </a:rPr>
                        <a:t>not used for training</a:t>
                      </a:r>
                      <a:endParaRPr sz="1400">
                        <a:latin typeface="Aptos"/>
                        <a:ea typeface="Aptos"/>
                        <a:cs typeface="Aptos"/>
                      </a:endParaRPr>
                    </a:p>
                  </a:txBody>
                  <a:tcPr marL="82296" marR="82296" marT="82296" marB="82296">
                    <a:lnL w="12700" cmpd="sng">
                      <a:solidFill>
                        <a:srgbClr val="D9E2EC"/>
                      </a:solidFill>
                      <a:prstDash val="solid"/>
                    </a:lnL>
                    <a:lnR w="12700" cmpd="sng">
                      <a:solidFill>
                        <a:srgbClr val="D9E2EC"/>
                      </a:solidFill>
                      <a:prstDash val="solid"/>
                    </a:lnR>
                    <a:lnT w="12700" cmpd="sng">
                      <a:solidFill>
                        <a:srgbClr val="D9E2EC"/>
                      </a:solidFill>
                      <a:prstDash val="solid"/>
                    </a:lnT>
                    <a:lnB w="12700" cmpd="sng">
                      <a:solidFill>
                        <a:srgbClr val="D9E2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>
            <a:extLst xmlns:a="http://schemas.openxmlformats.org/drawingml/2006/main">
              <a:ext uri="{FF2B5EF4-FFF2-40B4-BE49-F238E27FC236}">
                <a16:creationId xmlns:a16="http://schemas.microsoft.com/office/drawing/2014/main" id="{8A6774AF-56E6-4047-9364-0246D72FC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5166360"/>
            <a:ext cx="10058400" cy="658368"/>
          </a:xfrm>
          <a:prstGeom xmlns:a="http://schemas.openxmlformats.org/drawingml/2006/main" prst="roundRect">
            <a:avLst>
              <a:gd name="adj" fmla="val 5556"/>
            </a:avLst>
          </a:prstGeom>
          <a:solidFill xmlns:a="http://schemas.openxmlformats.org/drawingml/2006/main">
            <a:srgbClr val="E8F5EE"/>
          </a:solidFill>
          <a:ln xmlns:a="http://schemas.openxmlformats.org/drawingml/2006/main" w="12700">
            <a:solidFill>
              <a:srgbClr val="9AD2B8"/>
            </a:solidFill>
            <a:prstDash val="solid"/>
          </a:ln>
        </p:spPr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FED8BC92-5046-4156-BC30-AE56AAC6B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5880" y="5367528"/>
            <a:ext cx="950976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9852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600" b="1">
                <a:solidFill>
                  <a:srgbClr val="178F65"/>
                </a:solidFill>
              </a:rPr>
              <a:t>Original files in data/raw were not changed — Pandas created new Parquet files in interim and processed.</a:t>
            </a:r>
            <a:endParaRPr sz="1600"/>
          </a:p>
        </p:txBody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DE309B31-88F0-4F78-BFAC-58E0D2272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6190488"/>
            <a:ext cx="1042416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i="1">
                <a:solidFill>
                  <a:srgbClr val="627D98"/>
                </a:solidFill>
              </a:rPr>
              <a:t>Reproducibility rule: raw → read only; every transformation is saved separately.</a:t>
            </a:r>
            <a:endParaRPr sz="1000"/>
          </a:p>
        </p:txBody>
      </p:sp>
      <p:sp>
        <p:nvSpPr>
          <p:cNvPr id="25" name="Slide Number Placeholder 0">
            <a:extLst xmlns:a="http://schemas.openxmlformats.org/drawingml/2006/main">
              <a:ext uri="{FF2B5EF4-FFF2-40B4-BE49-F238E27FC236}">
                <a16:creationId xmlns:a16="http://schemas.microsoft.com/office/drawing/2014/main" id="{3E8501A8-8172-4DDC-9D56-9917104F4E5B}"/>
              </a:ext>
            </a:extLst>
          </p:cNvPr>
          <p:cNvSpPr>
            <a:spLocks xmlns:a="http://schemas.openxmlformats.org/drawingml/2006/main" noGrp="1"/>
          </p:cNvSpPr>
          <p:nvPr>
            <p:ph type="sldNum" idx="4294967295"/>
          </p:nvPr>
        </p:nvSpPr>
        <p:spPr>
          <a:xfrm xmlns:a="http://schemas.openxmlformats.org/drawingml/2006/main">
            <a:off x="11503152" y="6565392"/>
            <a:ext cx="182880" cy="1371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80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 xmlns:a="http://schemas.openxmlformats.org/drawingml/2006/main">
            <a:pPr algn="r">
              <a:buNone/>
            </a:pPr>
            <a:fld id="{F7021451-1387-4CA6-816F-3879F97B5CBC}" type="slidenum">
              <a:rPr b="0"/>
              <a:t>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26181637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19D6B552-7AA2-4F0D-9554-C6ED87178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530352"/>
            <a:ext cx="292608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110">
                <a:solidFill>
                  <a:srgbClr val="1976D2"/>
                </a:solidFill>
              </a:rPr>
              <a:t>4 • SALES FILE STRUCTURE</a:t>
            </a:r>
            <a:endParaRPr sz="10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99E7F0A8-16CF-4877-846D-3B06B6890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804672"/>
            <a:ext cx="1097280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700" b="1">
                <a:solidFill>
                  <a:srgbClr val="102A43"/>
                </a:solidFill>
              </a:rPr>
              <a:t>30,490 rows mean product × store, not 30,490 products</a:t>
            </a:r>
            <a:endParaRPr sz="270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44670797-1D76-46D3-8D32-4EB53386B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1417320"/>
            <a:ext cx="27432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700" b="1">
                <a:solidFill>
                  <a:srgbClr val="1976D2"/>
                </a:solidFill>
              </a:rPr>
              <a:t>One original row</a:t>
            </a:r>
            <a:endParaRPr sz="1700"/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99F797C1-541D-4E76-8DB9-C11E930CB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1847088"/>
            <a:ext cx="5989320" cy="10972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A"/>
          </a:solidFill>
          <a:ln xmlns:a="http://schemas.openxmlformats.org/drawingml/2006/main" w="12700">
            <a:solidFill>
              <a:srgbClr val="C9D9E8"/>
            </a:solidFill>
          </a:ln>
        </p:spPr>
        <p:txBody>
          <a:bodyPr xmlns:a="http://schemas.openxmlformats.org/drawingml/2006/main" wrap="square" lIns="2286" tIns="2286" rIns="2286" bIns="2286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700">
                <a:solidFill>
                  <a:srgbClr val="102A43"/>
                </a:solidFill>
                <a:latin typeface="Consolas"/>
                <a:ea typeface="Consolas"/>
                <a:cs typeface="Consolas"/>
              </a:rPr>
              <a:t>item_id       store_id  d_1  d_2  d_3  ...  d_1941</a:t>
            </a:r>
            <a:endParaRPr sz="1700"/>
          </a:p>
          <a:p xmlns:a="http://schemas.openxmlformats.org/drawingml/2006/main">
            <a:pPr marL="0" indent="0">
              <a:buNone/>
            </a:pPr>
            <a:r>
              <a:rPr sz="1700">
                <a:solidFill>
                  <a:srgbClr val="102A43"/>
                </a:solidFill>
                <a:latin typeface="Consolas"/>
                <a:ea typeface="Consolas"/>
                <a:cs typeface="Consolas"/>
              </a:rPr>
              <a:t>FOODS_1_001  CA_1      3    0    1    ...  4</a:t>
            </a:r>
            <a:endParaRPr sz="1700"/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F3871117-89B2-414B-A5AF-F8A42FDA0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1417320"/>
            <a:ext cx="310896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700" b="1">
                <a:solidFill>
                  <a:srgbClr val="178F65"/>
                </a:solidFill>
              </a:rPr>
              <a:t>How to count correctly</a:t>
            </a:r>
            <a:endParaRPr sz="1700"/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B724C9B1-89F6-4F1B-8B8D-652C2931A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1847088"/>
            <a:ext cx="4343400" cy="10972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8F3"/>
          </a:solidFill>
          <a:ln xmlns:a="http://schemas.openxmlformats.org/drawingml/2006/main" w="12700">
            <a:solidFill>
              <a:srgbClr val="B8DDCA"/>
            </a:solidFill>
          </a:ln>
        </p:spPr>
        <p:txBody>
          <a:bodyPr xmlns:a="http://schemas.openxmlformats.org/drawingml/2006/main" wrap="square" lIns="2032" tIns="2032" rIns="2032" bIns="2032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50">
                <a:solidFill>
                  <a:srgbClr val="102A43"/>
                </a:solidFill>
                <a:latin typeface="Consolas"/>
                <a:ea typeface="Consolas"/>
                <a:cs typeface="Consolas"/>
              </a:rPr>
              <a:t>sales_df.shape[0]          → 30 490</a:t>
            </a:r>
            <a:endParaRPr sz="1550"/>
          </a:p>
          <a:p xmlns:a="http://schemas.openxmlformats.org/drawingml/2006/main">
            <a:pPr marL="0" indent="0">
              <a:buNone/>
            </a:pPr>
            <a:r>
              <a:rPr sz="1550">
                <a:solidFill>
                  <a:srgbClr val="102A43"/>
                </a:solidFill>
                <a:latin typeface="Consolas"/>
                <a:ea typeface="Consolas"/>
                <a:cs typeface="Consolas"/>
              </a:rPr>
              <a:t>sales_df.item_id.nunique() → 3 049</a:t>
            </a:r>
            <a:endParaRPr sz="1550"/>
          </a:p>
          <a:p xmlns:a="http://schemas.openxmlformats.org/drawingml/2006/main">
            <a:pPr marL="0" indent="0">
              <a:buNone/>
            </a:pPr>
            <a:r>
              <a:rPr sz="1550">
                <a:solidFill>
                  <a:srgbClr val="102A43"/>
                </a:solidFill>
                <a:latin typeface="Consolas"/>
                <a:ea typeface="Consolas"/>
                <a:cs typeface="Consolas"/>
              </a:rPr>
              <a:t>sales_df.store_id.nunique()→ 10</a:t>
            </a:r>
            <a:endParaRPr sz="1550"/>
          </a:p>
        </p:txBody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44A21E3F-CCFE-461D-9122-FB589CCD0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" y="3456432"/>
            <a:ext cx="9784080" cy="96012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EAF2FB"/>
          </a:solidFill>
          <a:ln xmlns:a="http://schemas.openxmlformats.org/drawingml/2006/main" w="12700">
            <a:solidFill>
              <a:srgbClr val="B9D7F2"/>
            </a:solidFill>
            <a:prstDash val="solid"/>
          </a:ln>
        </p:spPr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7758CB17-4727-437D-B0EF-A2992AB96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8760" y="3767328"/>
            <a:ext cx="91440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91429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100" b="1">
                <a:solidFill>
                  <a:srgbClr val="1976D2"/>
                </a:solidFill>
              </a:rPr>
              <a:t>3,049 products × 10 stores = 30,490 product-store series</a:t>
            </a:r>
            <a:endParaRPr sz="2100"/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D5A75B38-F76F-46E2-9736-41F24B32C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160" y="4864608"/>
            <a:ext cx="96012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800" b="1">
                <a:solidFill>
                  <a:srgbClr val="102A43"/>
                </a:solidFill>
              </a:rPr>
              <a:t>In FOODS: 1,437 unique products × 10 stores = 14,370 rows.</a:t>
            </a:r>
            <a:endParaRPr sz="1800"/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FD34A7F6-D232-4306-A4AA-9F0277385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6190488"/>
            <a:ext cx="1042416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i="1">
                <a:solidFill>
                  <a:srgbClr val="627D98"/>
                </a:solidFill>
              </a:rPr>
              <a:t>item_id is anonymized: FOODS_1_001 is an identifier, not a real product name.</a:t>
            </a:r>
            <a:endParaRPr sz="1000"/>
          </a:p>
        </p:txBody>
      </p:sp>
      <p:sp>
        <p:nvSpPr>
          <p:cNvPr id="25" name="Slide Number Placeholder 0">
            <a:extLst xmlns:a="http://schemas.openxmlformats.org/drawingml/2006/main">
              <a:ext uri="{FF2B5EF4-FFF2-40B4-BE49-F238E27FC236}">
                <a16:creationId xmlns:a16="http://schemas.microsoft.com/office/drawing/2014/main" id="{04FC412C-064C-4EE5-A90F-518569EEF520}"/>
              </a:ext>
            </a:extLst>
          </p:cNvPr>
          <p:cNvSpPr>
            <a:spLocks xmlns:a="http://schemas.openxmlformats.org/drawingml/2006/main" noGrp="1"/>
          </p:cNvSpPr>
          <p:nvPr>
            <p:ph type="sldNum" idx="4294967295"/>
          </p:nvPr>
        </p:nvSpPr>
        <p:spPr>
          <a:xfrm xmlns:a="http://schemas.openxmlformats.org/drawingml/2006/main">
            <a:off x="11503152" y="6565392"/>
            <a:ext cx="182880" cy="1371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80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 xmlns:a="http://schemas.openxmlformats.org/drawingml/2006/main">
            <a:pPr algn="r">
              <a:buNone/>
            </a:pPr>
            <a:fld id="{F7021451-1387-4CA6-816F-3879F97B5CBC}" type="slidenum">
              <a:rPr b="0"/>
              <a:t>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994180121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224CAAFE-4327-409B-B8DF-C50ABFBFE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530352"/>
            <a:ext cx="292608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110">
                <a:solidFill>
                  <a:srgbClr val="1976D2"/>
                </a:solidFill>
              </a:rPr>
              <a:t>5 • WIDE TABLE → LONG TABLE</a:t>
            </a:r>
            <a:endParaRPr sz="10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B87F7C07-2A83-4EC9-8F0B-9FD4DA54E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804672"/>
            <a:ext cx="1097280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700" b="1">
                <a:solidFill>
                  <a:srgbClr val="102A43"/>
                </a:solidFill>
              </a:rPr>
              <a:t>Pandas melt is the same idea as Unpivot Columns in Excel</a:t>
            </a:r>
            <a:endParaRPr sz="270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4D43A588-F5E3-41AF-BDC8-3D6E3C921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89888"/>
            <a:ext cx="38404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700" b="1">
                <a:solidFill>
                  <a:srgbClr val="1976D2"/>
                </a:solidFill>
              </a:rPr>
              <a:t>Before: days are stored in columns</a:t>
            </a:r>
            <a:endParaRPr sz="1700"/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6FE404AE-3CC9-482D-942B-DF1563E0A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64792"/>
            <a:ext cx="402336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A"/>
          </a:solidFill>
          <a:ln xmlns:a="http://schemas.openxmlformats.org/drawingml/2006/main" w="12700">
            <a:solidFill>
              <a:srgbClr val="C9D9E8"/>
            </a:solidFill>
          </a:ln>
        </p:spPr>
        <p:txBody>
          <a:bodyPr xmlns:a="http://schemas.openxmlformats.org/drawingml/2006/main" wrap="square" lIns="2286" tIns="2286" rIns="2286" bIns="2286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700">
                <a:solidFill>
                  <a:srgbClr val="102A43"/>
                </a:solidFill>
                <a:latin typeface="Consolas"/>
                <a:ea typeface="Consolas"/>
                <a:cs typeface="Consolas"/>
              </a:rPr>
              <a:t>item_id       d_1  d_2  d_3</a:t>
            </a:r>
            <a:endParaRPr sz="1700"/>
          </a:p>
          <a:p xmlns:a="http://schemas.openxmlformats.org/drawingml/2006/main">
            <a:pPr marL="0" indent="0">
              <a:buNone/>
            </a:pPr>
            <a:r>
              <a:rPr sz="1700">
                <a:solidFill>
                  <a:srgbClr val="102A43"/>
                </a:solidFill>
                <a:latin typeface="Consolas"/>
                <a:ea typeface="Consolas"/>
                <a:cs typeface="Consolas"/>
              </a:rPr>
              <a:t>FOODS_1_001  3    0    1</a:t>
            </a:r>
            <a:endParaRPr sz="1700"/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AEA88A92-5E01-43A0-9C63-FAF975026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62656"/>
            <a:ext cx="38404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700" b="1">
                <a:solidFill>
                  <a:srgbClr val="178F65"/>
                </a:solidFill>
              </a:rPr>
              <a:t>After: one day becomes one row</a:t>
            </a:r>
            <a:endParaRPr sz="1700"/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3C8DA23C-BBEC-4110-8B85-C928BF326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46704"/>
            <a:ext cx="4023360" cy="13898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8F3"/>
          </a:solidFill>
          <a:ln xmlns:a="http://schemas.openxmlformats.org/drawingml/2006/main" w="12700">
            <a:solidFill>
              <a:srgbClr val="B8DDCA"/>
            </a:solidFill>
          </a:ln>
        </p:spPr>
        <p:txBody>
          <a:bodyPr xmlns:a="http://schemas.openxmlformats.org/drawingml/2006/main" wrap="square" lIns="2286" tIns="2286" rIns="2286" bIns="2286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50">
                <a:solidFill>
                  <a:srgbClr val="102A43"/>
                </a:solidFill>
                <a:latin typeface="Consolas"/>
                <a:ea typeface="Consolas"/>
                <a:cs typeface="Consolas"/>
              </a:rPr>
              <a:t>item_id       d    units_sold</a:t>
            </a:r>
            <a:endParaRPr sz="1650"/>
          </a:p>
          <a:p xmlns:a="http://schemas.openxmlformats.org/drawingml/2006/main">
            <a:pPr marL="0" indent="0">
              <a:buNone/>
            </a:pPr>
            <a:r>
              <a:rPr sz="1650">
                <a:solidFill>
                  <a:srgbClr val="102A43"/>
                </a:solidFill>
                <a:latin typeface="Consolas"/>
                <a:ea typeface="Consolas"/>
                <a:cs typeface="Consolas"/>
              </a:rPr>
              <a:t>FOODS_1_001  d_1  3</a:t>
            </a:r>
            <a:endParaRPr sz="1650"/>
          </a:p>
          <a:p xmlns:a="http://schemas.openxmlformats.org/drawingml/2006/main">
            <a:pPr marL="0" indent="0">
              <a:buNone/>
            </a:pPr>
            <a:r>
              <a:rPr sz="1650">
                <a:solidFill>
                  <a:srgbClr val="102A43"/>
                </a:solidFill>
                <a:latin typeface="Consolas"/>
                <a:ea typeface="Consolas"/>
                <a:cs typeface="Consolas"/>
              </a:rPr>
              <a:t>FOODS_1_001  d_2  0</a:t>
            </a:r>
            <a:endParaRPr sz="1650"/>
          </a:p>
          <a:p xmlns:a="http://schemas.openxmlformats.org/drawingml/2006/main">
            <a:pPr marL="0" indent="0">
              <a:buNone/>
            </a:pPr>
            <a:r>
              <a:rPr sz="1650">
                <a:solidFill>
                  <a:srgbClr val="102A43"/>
                </a:solidFill>
                <a:latin typeface="Consolas"/>
                <a:ea typeface="Consolas"/>
                <a:cs typeface="Consolas"/>
              </a:rPr>
              <a:t>FOODS_1_001  d_3  1</a:t>
            </a:r>
            <a:endParaRPr sz="1650"/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A067591E-68A4-4CA5-A121-0F521924B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4920" y="1389888"/>
            <a:ext cx="18288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700" b="1">
                <a:solidFill>
                  <a:srgbClr val="F59E0B"/>
                </a:solidFill>
              </a:rPr>
              <a:t>Project code</a:t>
            </a:r>
            <a:endParaRPr sz="1700"/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E46DCE1E-7009-498A-860E-F911FAEF7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4920" y="1764792"/>
            <a:ext cx="6263640" cy="14630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7E6"/>
          </a:solidFill>
          <a:ln xmlns:a="http://schemas.openxmlformats.org/drawingml/2006/main" w="12700">
            <a:solidFill>
              <a:srgbClr val="F7C873"/>
            </a:solidFill>
          </a:ln>
        </p:spPr>
        <p:txBody>
          <a:bodyPr xmlns:a="http://schemas.openxmlformats.org/drawingml/2006/main" wrap="square" lIns="2286" tIns="2286" rIns="2286" bIns="2286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>
                <a:solidFill>
                  <a:srgbClr val="102A43"/>
                </a:solidFill>
                <a:latin typeface="Consolas"/>
                <a:ea typeface="Consolas"/>
                <a:cs typeface="Consolas"/>
              </a:rPr>
              <a:t>daily = foods_chunk.melt(</a:t>
            </a:r>
            <a:endParaRPr sz="1500"/>
          </a:p>
          <a:p xmlns:a="http://schemas.openxmlformats.org/drawingml/2006/main">
            <a:pPr marL="0" indent="0">
              <a:buNone/>
            </a:pPr>
            <a:r>
              <a:rPr sz="1500">
                <a:solidFill>
                  <a:srgbClr val="102A43"/>
                </a:solidFill>
                <a:latin typeface="Consolas"/>
                <a:ea typeface="Consolas"/>
                <a:cs typeface="Consolas"/>
              </a:rPr>
              <a:t>    id_vars=sales_id_columns,</a:t>
            </a:r>
            <a:endParaRPr sz="1500"/>
          </a:p>
          <a:p xmlns:a="http://schemas.openxmlformats.org/drawingml/2006/main">
            <a:pPr marL="0" indent="0">
              <a:buNone/>
            </a:pPr>
            <a:r>
              <a:rPr sz="1500">
                <a:solidFill>
                  <a:srgbClr val="102A43"/>
                </a:solidFill>
                <a:latin typeface="Consolas"/>
                <a:ea typeface="Consolas"/>
                <a:cs typeface="Consolas"/>
              </a:rPr>
              <a:t>    value_vars=day_columns,</a:t>
            </a:r>
            <a:endParaRPr sz="1500"/>
          </a:p>
          <a:p xmlns:a="http://schemas.openxmlformats.org/drawingml/2006/main">
            <a:pPr marL="0" indent="0">
              <a:buNone/>
            </a:pPr>
            <a:r>
              <a:rPr sz="1500">
                <a:solidFill>
                  <a:srgbClr val="102A43"/>
                </a:solidFill>
                <a:latin typeface="Consolas"/>
                <a:ea typeface="Consolas"/>
                <a:cs typeface="Consolas"/>
              </a:rPr>
              <a:t>    var_name="d",</a:t>
            </a:r>
            <a:endParaRPr sz="1500"/>
          </a:p>
          <a:p xmlns:a="http://schemas.openxmlformats.org/drawingml/2006/main">
            <a:pPr marL="0" indent="0">
              <a:buNone/>
            </a:pPr>
            <a:r>
              <a:rPr sz="1500">
                <a:solidFill>
                  <a:srgbClr val="102A43"/>
                </a:solidFill>
                <a:latin typeface="Consolas"/>
                <a:ea typeface="Consolas"/>
                <a:cs typeface="Consolas"/>
              </a:rPr>
              <a:t>    value_name="units_sold"</a:t>
            </a:r>
            <a:endParaRPr sz="1500"/>
          </a:p>
          <a:p xmlns:a="http://schemas.openxmlformats.org/drawingml/2006/main">
            <a:pPr marL="0" indent="0">
              <a:buNone/>
            </a:pPr>
            <a:r>
              <a:rPr sz="1500">
                <a:solidFill>
                  <a:srgbClr val="102A43"/>
                </a:solidFill>
                <a:latin typeface="Consolas"/>
                <a:ea typeface="Consolas"/>
                <a:cs typeface="Consolas"/>
              </a:rPr>
              <a:t>)</a:t>
            </a:r>
            <a:endParaRPr sz="1500"/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8A807018-9483-4D69-8B6B-1B211D124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4920" y="3547872"/>
            <a:ext cx="521208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700" b="1">
                <a:solidFill>
                  <a:srgbClr val="D64545"/>
                </a:solidFill>
              </a:rPr>
              <a:t>Why the two sales files were not concatenated</a:t>
            </a:r>
            <a:endParaRPr sz="1700"/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525B7B15-BC0E-4BAA-8C03-6B7558375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4920" y="3931920"/>
            <a:ext cx="6263640" cy="129844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ECEC"/>
          </a:solidFill>
          <a:ln xmlns:a="http://schemas.openxmlformats.org/drawingml/2006/main" w="12700">
            <a:solidFill>
              <a:srgbClr val="E6A2A2"/>
            </a:solidFill>
          </a:ln>
        </p:spPr>
        <p:txBody>
          <a:bodyPr xmlns:a="http://schemas.openxmlformats.org/drawingml/2006/main" wrap="square" lIns="2032" tIns="2032" rIns="2032" bIns="2032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50">
                <a:solidFill>
                  <a:srgbClr val="102A43"/>
                </a:solidFill>
                <a:latin typeface="Consolas"/>
                <a:ea typeface="Consolas"/>
                <a:cs typeface="Consolas"/>
              </a:rPr>
              <a:t>validation: d_1–d_1913</a:t>
            </a:r>
            <a:endParaRPr sz="1550"/>
          </a:p>
          <a:p xmlns:a="http://schemas.openxmlformats.org/drawingml/2006/main">
            <a:pPr marL="0" indent="0">
              <a:buNone/>
            </a:pPr>
            <a:r>
              <a:rPr sz="1550">
                <a:solidFill>
                  <a:srgbClr val="102A43"/>
                </a:solidFill>
                <a:latin typeface="Consolas"/>
                <a:ea typeface="Consolas"/>
                <a:cs typeface="Consolas"/>
              </a:rPr>
              <a:t>evaluation: d_1–d_1941</a:t>
            </a:r>
            <a:endParaRPr sz="1550"/>
          </a:p>
          <a:p xmlns:a="http://schemas.openxmlformats.org/drawingml/2006/main">
            <a:pPr marL="0" indent="0">
              <a:buNone/>
            </a:pPr>
            <a:r>
              <a:t/>
            </a:r>
            <a:endParaRPr sz="1550"/>
          </a:p>
          <a:p xmlns:a="http://schemas.openxmlformats.org/drawingml/2006/main">
            <a:pPr marL="0" indent="0">
              <a:buNone/>
            </a:pPr>
            <a:r>
              <a:rPr sz="1550">
                <a:solidFill>
                  <a:srgbClr val="102A43"/>
                </a:solidFill>
                <a:latin typeface="Consolas"/>
                <a:ea typeface="Consolas"/>
                <a:cs typeface="Consolas"/>
              </a:rPr>
              <a:t>evaluation already contains validation + 28 new days.</a:t>
            </a:r>
            <a:endParaRPr sz="1550"/>
          </a:p>
          <a:p xmlns:a="http://schemas.openxmlformats.org/drawingml/2006/main">
            <a:pPr marL="0" indent="0">
              <a:buNone/>
            </a:pPr>
            <a:r>
              <a:rPr sz="1550">
                <a:solidFill>
                  <a:srgbClr val="102A43"/>
                </a:solidFill>
                <a:latin typeface="Consolas"/>
                <a:ea typeface="Consolas"/>
                <a:cs typeface="Consolas"/>
              </a:rPr>
              <a:t>Concat would duplicate d_1–d_1913.</a:t>
            </a:r>
            <a:endParaRPr sz="1550"/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ADD04810-6F9E-4260-AEBB-F13A712F1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6190488"/>
            <a:ext cx="1042416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i="1">
                <a:solidFill>
                  <a:srgbClr val="627D98"/>
                </a:solidFill>
              </a:rPr>
              <a:t>After melt, FOODS contains 14,370 × 1,941 = 27,892,170 daily values.</a:t>
            </a:r>
            <a:endParaRPr sz="1000"/>
          </a:p>
        </p:txBody>
      </p:sp>
      <p:sp>
        <p:nvSpPr>
          <p:cNvPr id="25" name="Slide Number Placeholder 0">
            <a:extLst xmlns:a="http://schemas.openxmlformats.org/drawingml/2006/main">
              <a:ext uri="{FF2B5EF4-FFF2-40B4-BE49-F238E27FC236}">
                <a16:creationId xmlns:a16="http://schemas.microsoft.com/office/drawing/2014/main" id="{2517122B-F5B6-4851-A781-5F4DEC89FD0F}"/>
              </a:ext>
            </a:extLst>
          </p:cNvPr>
          <p:cNvSpPr>
            <a:spLocks xmlns:a="http://schemas.openxmlformats.org/drawingml/2006/main" noGrp="1"/>
          </p:cNvSpPr>
          <p:nvPr>
            <p:ph type="sldNum" idx="4294967295"/>
          </p:nvPr>
        </p:nvSpPr>
        <p:spPr>
          <a:xfrm xmlns:a="http://schemas.openxmlformats.org/drawingml/2006/main">
            <a:off x="11503152" y="6565392"/>
            <a:ext cx="182880" cy="1371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80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 xmlns:a="http://schemas.openxmlformats.org/drawingml/2006/main">
            <a:pPr algn="r">
              <a:buNone/>
            </a:pPr>
            <a:fld id="{F7021451-1387-4CA6-816F-3879F97B5CBC}" type="slidenum">
              <a:rPr b="0"/>
              <a:t>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41962171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DDF1E40E-FECB-4F58-94D4-0A8773F69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530352"/>
            <a:ext cx="292608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110">
                <a:solidFill>
                  <a:srgbClr val="1976D2"/>
                </a:solidFill>
              </a:rPr>
              <a:t>6 • MERGE AND WEEKLY AGGREGATION</a:t>
            </a:r>
            <a:endParaRPr sz="10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5D8FA300-1674-4B24-9B92-FC0CA22EA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804672"/>
            <a:ext cx="1097280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700" b="1">
                <a:solidFill>
                  <a:srgbClr val="102A43"/>
                </a:solidFill>
              </a:rPr>
              <a:t>Three sources become one weekly row</a:t>
            </a:r>
            <a:endParaRPr sz="270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E6E9AACB-DFB0-49B8-89E0-6F7C79442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1325880"/>
            <a:ext cx="402336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700" b="1">
                <a:solidFill>
                  <a:srgbClr val="1976D2"/>
                </a:solidFill>
              </a:rPr>
              <a:t>1. Map each d code to the project week</a:t>
            </a:r>
            <a:endParaRPr sz="1700"/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D4E93E60-EA63-49E1-B256-A9877E04F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1673352"/>
            <a:ext cx="5212080" cy="11338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A"/>
          </a:solidFill>
          <a:ln xmlns:a="http://schemas.openxmlformats.org/drawingml/2006/main" w="12700">
            <a:solidFill>
              <a:srgbClr val="C9D9E8"/>
            </a:solidFill>
          </a:ln>
        </p:spPr>
        <p:txBody>
          <a:bodyPr xmlns:a="http://schemas.openxmlformats.org/drawingml/2006/main" wrap="square" lIns="2032" tIns="2032" rIns="2032" bIns="2032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50">
                <a:solidFill>
                  <a:srgbClr val="102A43"/>
                </a:solidFill>
                <a:latin typeface="Consolas"/>
                <a:ea typeface="Consolas"/>
                <a:cs typeface="Consolas"/>
              </a:rPr>
              <a:t>day_to_week = calendar.set_index("d")["week_start"]</a:t>
            </a:r>
            <a:endParaRPr sz="1450"/>
          </a:p>
          <a:p xmlns:a="http://schemas.openxmlformats.org/drawingml/2006/main">
            <a:pPr marL="0" indent="0">
              <a:buNone/>
            </a:pPr>
            <a:r>
              <a:rPr sz="1450">
                <a:solidFill>
                  <a:srgbClr val="102A43"/>
                </a:solidFill>
                <a:latin typeface="Consolas"/>
                <a:ea typeface="Consolas"/>
                <a:cs typeface="Consolas"/>
              </a:rPr>
              <a:t>daily["week_start"] = daily["d"].map(day_to_week)</a:t>
            </a:r>
            <a:endParaRPr sz="1450"/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5E0E2F57-CBB2-40C7-854A-F249AD548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9632" y="1325880"/>
            <a:ext cx="43891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700" b="1">
                <a:solidFill>
                  <a:srgbClr val="F59E0B"/>
                </a:solidFill>
              </a:rPr>
              <a:t>2. Join the prepared weekly price</a:t>
            </a:r>
            <a:endParaRPr sz="1700"/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93617D0B-00C1-4C23-9F5E-864AEC5BF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9632" y="1673352"/>
            <a:ext cx="5303520" cy="11338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7E6"/>
          </a:solidFill>
          <a:ln xmlns:a="http://schemas.openxmlformats.org/drawingml/2006/main" w="12700">
            <a:solidFill>
              <a:srgbClr val="F7C873"/>
            </a:solidFill>
          </a:ln>
        </p:spPr>
        <p:txBody>
          <a:bodyPr xmlns:a="http://schemas.openxmlformats.org/drawingml/2006/main" wrap="square" lIns="1778" tIns="1778" rIns="1778" bIns="1778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>
                <a:solidFill>
                  <a:srgbClr val="102A43"/>
                </a:solidFill>
                <a:latin typeface="Consolas"/>
                <a:ea typeface="Consolas"/>
                <a:cs typeface="Consolas"/>
              </a:rPr>
              <a:t>weekly = weekly.merge(</a:t>
            </a:r>
            <a:endParaRPr sz="1400"/>
          </a:p>
          <a:p xmlns:a="http://schemas.openxmlformats.org/drawingml/2006/main">
            <a:pPr marL="0" indent="0">
              <a:buNone/>
            </a:pPr>
            <a:r>
              <a:rPr sz="1400">
                <a:solidFill>
                  <a:srgbClr val="102A43"/>
                </a:solidFill>
                <a:latin typeface="Consolas"/>
                <a:ea typeface="Consolas"/>
                <a:cs typeface="Consolas"/>
              </a:rPr>
              <a:t>    weekly_prices,</a:t>
            </a:r>
            <a:endParaRPr sz="1400"/>
          </a:p>
          <a:p xmlns:a="http://schemas.openxmlformats.org/drawingml/2006/main">
            <a:pPr marL="0" indent="0">
              <a:buNone/>
            </a:pPr>
            <a:r>
              <a:rPr sz="1400">
                <a:solidFill>
                  <a:srgbClr val="102A43"/>
                </a:solidFill>
                <a:latin typeface="Consolas"/>
                <a:ea typeface="Consolas"/>
                <a:cs typeface="Consolas"/>
              </a:rPr>
              <a:t>    on=["store_id", "item_id", "week_start"],</a:t>
            </a:r>
            <a:endParaRPr sz="1400"/>
          </a:p>
          <a:p xmlns:a="http://schemas.openxmlformats.org/drawingml/2006/main">
            <a:pPr marL="0" indent="0">
              <a:buNone/>
            </a:pPr>
            <a:r>
              <a:rPr sz="1400">
                <a:solidFill>
                  <a:srgbClr val="102A43"/>
                </a:solidFill>
                <a:latin typeface="Consolas"/>
                <a:ea typeface="Consolas"/>
                <a:cs typeface="Consolas"/>
              </a:rPr>
              <a:t>    how="left", validate="one_to_one"</a:t>
            </a:r>
            <a:endParaRPr sz="1400"/>
          </a:p>
          <a:p xmlns:a="http://schemas.openxmlformats.org/drawingml/2006/main">
            <a:pPr marL="0" indent="0">
              <a:buNone/>
            </a:pPr>
            <a:r>
              <a:rPr sz="1400">
                <a:solidFill>
                  <a:srgbClr val="102A43"/>
                </a:solidFill>
                <a:latin typeface="Consolas"/>
                <a:ea typeface="Consolas"/>
                <a:cs typeface="Consolas"/>
              </a:rPr>
              <a:t>)</a:t>
            </a:r>
            <a:endParaRPr sz="1400"/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9DEC7873-AB50-404F-9F0B-346647844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3090672"/>
            <a:ext cx="539496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700" b="1">
                <a:solidFill>
                  <a:srgbClr val="178F65"/>
                </a:solidFill>
              </a:rPr>
              <a:t>3. Define Monday and sum seven days</a:t>
            </a:r>
            <a:endParaRPr sz="1700"/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18C1693D-D0A8-4BE8-94FA-EE5D932BC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3474720"/>
            <a:ext cx="6400800" cy="14813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8F3"/>
          </a:solidFill>
          <a:ln xmlns:a="http://schemas.openxmlformats.org/drawingml/2006/main" w="12700">
            <a:solidFill>
              <a:srgbClr val="B8DDCA"/>
            </a:solidFill>
          </a:ln>
        </p:spPr>
        <p:txBody>
          <a:bodyPr xmlns:a="http://schemas.openxmlformats.org/drawingml/2006/main" wrap="square" lIns="1778" tIns="1778" rIns="1778" bIns="1778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50">
                <a:solidFill>
                  <a:srgbClr val="102A43"/>
                </a:solidFill>
                <a:latin typeface="Consolas"/>
                <a:ea typeface="Consolas"/>
                <a:cs typeface="Consolas"/>
              </a:rPr>
              <a:t>weekly = daily.groupby(</a:t>
            </a:r>
            <a:endParaRPr sz="1450"/>
          </a:p>
          <a:p xmlns:a="http://schemas.openxmlformats.org/drawingml/2006/main">
            <a:pPr marL="0" indent="0">
              <a:buNone/>
            </a:pPr>
            <a:r>
              <a:rPr sz="1450">
                <a:solidFill>
                  <a:srgbClr val="102A43"/>
                </a:solidFill>
                <a:latin typeface="Consolas"/>
                <a:ea typeface="Consolas"/>
                <a:cs typeface="Consolas"/>
              </a:rPr>
              <a:t>    sales_id_columns + ["week_start"],</a:t>
            </a:r>
            <a:endParaRPr sz="1450"/>
          </a:p>
          <a:p xmlns:a="http://schemas.openxmlformats.org/drawingml/2006/main">
            <a:pPr marL="0" indent="0">
              <a:buNone/>
            </a:pPr>
            <a:r>
              <a:rPr sz="1450">
                <a:solidFill>
                  <a:srgbClr val="102A43"/>
                </a:solidFill>
                <a:latin typeface="Consolas"/>
                <a:ea typeface="Consolas"/>
                <a:cs typeface="Consolas"/>
              </a:rPr>
              <a:t>    as_index=False, observed=True</a:t>
            </a:r>
            <a:endParaRPr sz="1450"/>
          </a:p>
          <a:p xmlns:a="http://schemas.openxmlformats.org/drawingml/2006/main">
            <a:pPr marL="0" indent="0">
              <a:buNone/>
            </a:pPr>
            <a:r>
              <a:rPr sz="1450">
                <a:solidFill>
                  <a:srgbClr val="102A43"/>
                </a:solidFill>
                <a:latin typeface="Consolas"/>
                <a:ea typeface="Consolas"/>
                <a:cs typeface="Consolas"/>
              </a:rPr>
              <a:t>).agg(</a:t>
            </a:r>
            <a:endParaRPr sz="1450"/>
          </a:p>
          <a:p xmlns:a="http://schemas.openxmlformats.org/drawingml/2006/main">
            <a:pPr marL="0" indent="0">
              <a:buNone/>
            </a:pPr>
            <a:r>
              <a:rPr sz="1450">
                <a:solidFill>
                  <a:srgbClr val="102A43"/>
                </a:solidFill>
                <a:latin typeface="Consolas"/>
                <a:ea typeface="Consolas"/>
                <a:cs typeface="Consolas"/>
              </a:rPr>
              <a:t>    weekly_units_sold=("units_sold", "sum")</a:t>
            </a:r>
            <a:endParaRPr sz="1450"/>
          </a:p>
          <a:p xmlns:a="http://schemas.openxmlformats.org/drawingml/2006/main">
            <a:pPr marL="0" indent="0">
              <a:buNone/>
            </a:pPr>
            <a:r>
              <a:rPr sz="1450">
                <a:solidFill>
                  <a:srgbClr val="102A43"/>
                </a:solidFill>
                <a:latin typeface="Consolas"/>
                <a:ea typeface="Consolas"/>
                <a:cs typeface="Consolas"/>
              </a:rPr>
              <a:t>)</a:t>
            </a:r>
            <a:endParaRPr sz="1450"/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7A922F55-FB5B-40E1-8D4F-E4FB926D2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4928" y="3090672"/>
            <a:ext cx="338328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700" b="1">
                <a:solidFill>
                  <a:srgbClr val="D64545"/>
                </a:solidFill>
              </a:rPr>
              <a:t>A real weekly result</a:t>
            </a:r>
            <a:endParaRPr sz="1700"/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8E930145-52C2-4E82-990C-7D1C4FDCD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4928" y="3474720"/>
            <a:ext cx="4069080" cy="16824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ECEC"/>
          </a:solidFill>
          <a:ln xmlns:a="http://schemas.openxmlformats.org/drawingml/2006/main" w="12700">
            <a:solidFill>
              <a:srgbClr val="E6A2A2"/>
            </a:solidFill>
          </a:ln>
        </p:spPr>
        <p:txBody>
          <a:bodyPr xmlns:a="http://schemas.openxmlformats.org/drawingml/2006/main" wrap="square" lIns="1905" tIns="1905" rIns="1905" bIns="190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50">
                <a:solidFill>
                  <a:srgbClr val="102A43"/>
                </a:solidFill>
                <a:latin typeface="Consolas"/>
                <a:ea typeface="Consolas"/>
                <a:cs typeface="Consolas"/>
              </a:rPr>
              <a:t>item_id:      FOODS_1_001</a:t>
            </a:r>
            <a:endParaRPr sz="1550"/>
          </a:p>
          <a:p xmlns:a="http://schemas.openxmlformats.org/drawingml/2006/main">
            <a:pPr marL="0" indent="0">
              <a:buNone/>
            </a:pPr>
            <a:r>
              <a:rPr sz="1550">
                <a:solidFill>
                  <a:srgbClr val="102A43"/>
                </a:solidFill>
                <a:latin typeface="Consolas"/>
                <a:ea typeface="Consolas"/>
                <a:cs typeface="Consolas"/>
              </a:rPr>
              <a:t>store_id:     CA_1</a:t>
            </a:r>
            <a:endParaRPr sz="1550"/>
          </a:p>
          <a:p xmlns:a="http://schemas.openxmlformats.org/drawingml/2006/main">
            <a:pPr marL="0" indent="0">
              <a:buNone/>
            </a:pPr>
            <a:r>
              <a:rPr sz="1550">
                <a:solidFill>
                  <a:srgbClr val="102A43"/>
                </a:solidFill>
                <a:latin typeface="Consolas"/>
                <a:ea typeface="Consolas"/>
                <a:cs typeface="Consolas"/>
              </a:rPr>
              <a:t>week_start:   2011-01-31</a:t>
            </a:r>
            <a:endParaRPr sz="1550"/>
          </a:p>
          <a:p xmlns:a="http://schemas.openxmlformats.org/drawingml/2006/main">
            <a:pPr marL="0" indent="0">
              <a:buNone/>
            </a:pPr>
            <a:r>
              <a:rPr sz="1550">
                <a:solidFill>
                  <a:srgbClr val="102A43"/>
                </a:solidFill>
                <a:latin typeface="Consolas"/>
                <a:ea typeface="Consolas"/>
                <a:cs typeface="Consolas"/>
              </a:rPr>
              <a:t>week_end:     2011-02-06</a:t>
            </a:r>
            <a:endParaRPr sz="1550"/>
          </a:p>
          <a:p xmlns:a="http://schemas.openxmlformats.org/drawingml/2006/main">
            <a:pPr marL="0" indent="0">
              <a:buNone/>
            </a:pPr>
            <a:r>
              <a:rPr sz="1550">
                <a:solidFill>
                  <a:srgbClr val="102A43"/>
                </a:solidFill>
                <a:latin typeface="Consolas"/>
                <a:ea typeface="Consolas"/>
                <a:cs typeface="Consolas"/>
              </a:rPr>
              <a:t>units sold:   9</a:t>
            </a:r>
            <a:endParaRPr sz="1550"/>
          </a:p>
          <a:p xmlns:a="http://schemas.openxmlformats.org/drawingml/2006/main">
            <a:pPr marL="0" indent="0">
              <a:buNone/>
            </a:pPr>
            <a:r>
              <a:rPr sz="1550">
                <a:solidFill>
                  <a:srgbClr val="102A43"/>
                </a:solidFill>
                <a:latin typeface="Consolas"/>
                <a:ea typeface="Consolas"/>
                <a:cs typeface="Consolas"/>
              </a:rPr>
              <a:t>price mean:   2.00</a:t>
            </a:r>
            <a:endParaRPr sz="1550"/>
          </a:p>
          <a:p xmlns:a="http://schemas.openxmlformats.org/drawingml/2006/main">
            <a:pPr marL="0" indent="0">
              <a:buNone/>
            </a:pPr>
            <a:r>
              <a:rPr sz="1550">
                <a:solidFill>
                  <a:srgbClr val="102A43"/>
                </a:solidFill>
                <a:latin typeface="Consolas"/>
                <a:ea typeface="Consolas"/>
                <a:cs typeface="Consolas"/>
              </a:rPr>
              <a:t>event:        SuperBowl</a:t>
            </a:r>
            <a:endParaRPr sz="1550"/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A54AD956-BDB4-464A-AD37-24A354214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6190488"/>
            <a:ext cx="1042416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i="1">
                <a:solidFill>
                  <a:srgbClr val="627D98"/>
                </a:solidFill>
              </a:rPr>
              <a:t>The first two days, d_1–d_2, were excluded as an incomplete week; the first complete week starts on 31 Jan 2011.</a:t>
            </a:r>
            <a:endParaRPr sz="1000"/>
          </a:p>
        </p:txBody>
      </p:sp>
      <p:sp>
        <p:nvSpPr>
          <p:cNvPr id="25" name="Slide Number Placeholder 0">
            <a:extLst xmlns:a="http://schemas.openxmlformats.org/drawingml/2006/main">
              <a:ext uri="{FF2B5EF4-FFF2-40B4-BE49-F238E27FC236}">
                <a16:creationId xmlns:a16="http://schemas.microsoft.com/office/drawing/2014/main" id="{E4731F5E-C8F1-45B9-B7B9-89881BB1C986}"/>
              </a:ext>
            </a:extLst>
          </p:cNvPr>
          <p:cNvSpPr>
            <a:spLocks xmlns:a="http://schemas.openxmlformats.org/drawingml/2006/main" noGrp="1"/>
          </p:cNvSpPr>
          <p:nvPr>
            <p:ph type="sldNum" idx="4294967295"/>
          </p:nvPr>
        </p:nvSpPr>
        <p:spPr>
          <a:xfrm xmlns:a="http://schemas.openxmlformats.org/drawingml/2006/main">
            <a:off x="11503152" y="6565392"/>
            <a:ext cx="182880" cy="1371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80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 xmlns:a="http://schemas.openxmlformats.org/drawingml/2006/main">
            <a:pPr algn="r">
              <a:buNone/>
            </a:pPr>
            <a:fld id="{F7021451-1387-4CA6-816F-3879F97B5CBC}" type="slidenum">
              <a:rPr b="0"/>
              <a:t>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570053917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109D8D33-591D-4208-A494-062E29D16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530352"/>
            <a:ext cx="292608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110">
                <a:solidFill>
                  <a:srgbClr val="1976D2"/>
                </a:solidFill>
              </a:rPr>
              <a:t>7 • SPLIT AND MODEL-READY TABLES</a:t>
            </a:r>
            <a:endParaRPr sz="10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EF81AB44-0471-4DA5-878E-03C16B337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804672"/>
            <a:ext cx="1097280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700" b="1">
                <a:solidFill>
                  <a:srgbClr val="102A43"/>
                </a:solidFill>
              </a:rPr>
              <a:t>Chronological order protects the model from future data</a:t>
            </a:r>
            <a:endParaRPr sz="270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6ABD6187-D418-40D1-9B47-2DCF1C516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45920"/>
            <a:ext cx="4572000" cy="96012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E8F5EE"/>
          </a:solidFill>
          <a:ln xmlns:a="http://schemas.openxmlformats.org/drawingml/2006/main" w="12700">
            <a:solidFill>
              <a:srgbClr val="9AD2B8"/>
            </a:solidFill>
            <a:prstDash val="solid"/>
          </a:ln>
        </p:spPr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A58987AA-9F6F-4573-8AD3-4020F580C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1810512"/>
            <a:ext cx="4206240" cy="5303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800" b="1">
                <a:solidFill>
                  <a:srgbClr val="178F65"/>
                </a:solidFill>
              </a:rPr>
              <a:t>TRAIN</a:t>
            </a:r>
            <a:endParaRPr sz="1800"/>
          </a:p>
          <a:p xmlns:a="http://schemas.openxmlformats.org/drawingml/2006/main">
            <a:pPr marL="0" indent="0" algn="ctr">
              <a:buNone/>
            </a:pPr>
            <a:r>
              <a:rPr sz="1800" b="1">
                <a:solidFill>
                  <a:srgbClr val="178F65"/>
                </a:solidFill>
              </a:rPr>
              <a:t>31 Jan 2011–27 Mar 2016</a:t>
            </a:r>
            <a:endParaRPr sz="1800"/>
          </a:p>
        </p:txBody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970F5399-732A-4D07-AD4D-31201C7A3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4960" y="1645920"/>
            <a:ext cx="2240280" cy="96012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FFF7E6"/>
          </a:solidFill>
          <a:ln xmlns:a="http://schemas.openxmlformats.org/drawingml/2006/main" w="12700">
            <a:solidFill>
              <a:srgbClr val="F7C873"/>
            </a:solidFill>
            <a:prstDash val="solid"/>
          </a:ln>
        </p:spPr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502C43A2-EE9C-47CD-A0FB-6939F63D6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7840" y="1810512"/>
            <a:ext cx="1874520" cy="5303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650" b="1">
                <a:solidFill>
                  <a:srgbClr val="B66A00"/>
                </a:solidFill>
              </a:rPr>
              <a:t>VALIDATION</a:t>
            </a:r>
            <a:endParaRPr sz="1650"/>
          </a:p>
          <a:p xmlns:a="http://schemas.openxmlformats.org/drawingml/2006/main">
            <a:pPr marL="0" indent="0" algn="ctr">
              <a:buNone/>
            </a:pPr>
            <a:r>
              <a:rPr sz="1650" b="1">
                <a:solidFill>
                  <a:srgbClr val="B66A00"/>
                </a:solidFill>
              </a:rPr>
              <a:t>28 Mar–24 Apr</a:t>
            </a:r>
            <a:endParaRPr sz="1650"/>
          </a:p>
        </p:txBody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0A9AA371-A59B-4408-A912-94C9D932D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1645920"/>
            <a:ext cx="2148840" cy="96012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FDECEC"/>
          </a:solidFill>
          <a:ln xmlns:a="http://schemas.openxmlformats.org/drawingml/2006/main" w="12700">
            <a:solidFill>
              <a:srgbClr val="E6A2A2"/>
            </a:solidFill>
            <a:prstDash val="solid"/>
          </a:ln>
        </p:spPr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62CA4ACA-2E74-4644-9844-839F92A8A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5280" y="1810512"/>
            <a:ext cx="1783080" cy="5303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650" b="1">
                <a:solidFill>
                  <a:srgbClr val="D64545"/>
                </a:solidFill>
              </a:rPr>
              <a:t>TEST</a:t>
            </a:r>
            <a:endParaRPr sz="1650"/>
          </a:p>
          <a:p xmlns:a="http://schemas.openxmlformats.org/drawingml/2006/main">
            <a:pPr marL="0" indent="0" algn="ctr">
              <a:buNone/>
            </a:pPr>
            <a:r>
              <a:rPr sz="1650" b="1">
                <a:solidFill>
                  <a:srgbClr val="D64545"/>
                </a:solidFill>
              </a:rPr>
              <a:t>25 Apr–22 May</a:t>
            </a:r>
            <a:endParaRPr sz="1650"/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3B0BCF9B-438F-4207-BC5E-7296E8D65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1645920"/>
            <a:ext cx="1463040" cy="96012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EAF2FB"/>
          </a:solidFill>
          <a:ln xmlns:a="http://schemas.openxmlformats.org/drawingml/2006/main" w="12700">
            <a:solidFill>
              <a:srgbClr val="B9D7F2"/>
            </a:solidFill>
            <a:prstDash val="solid"/>
          </a:ln>
        </p:spPr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E2A9DF47-8641-4E79-9D0E-40517F399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8128" y="1810512"/>
            <a:ext cx="1243584" cy="5303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500" b="1">
                <a:solidFill>
                  <a:srgbClr val="1976D2"/>
                </a:solidFill>
              </a:rPr>
              <a:t>DEMO</a:t>
            </a:r>
            <a:endParaRPr sz="1500"/>
          </a:p>
          <a:p xmlns:a="http://schemas.openxmlformats.org/drawingml/2006/main">
            <a:pPr marL="0" indent="0" algn="ctr">
              <a:buNone/>
            </a:pPr>
            <a:r>
              <a:rPr sz="1500" b="1">
                <a:solidFill>
                  <a:srgbClr val="1976D2"/>
                </a:solidFill>
              </a:rPr>
              <a:t>23–29 May</a:t>
            </a:r>
            <a:endParaRPr sz="1500"/>
          </a:p>
        </p:txBody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BB98263E-0A11-4520-AE9E-22D4E1C89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66944" y="2121408"/>
            <a:ext cx="10972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solidFill>
              <a:srgbClr val="627D98"/>
            </a:solidFill>
            <a:prstDash val="solid"/>
            <a:headEnd type="none"/>
            <a:tailEnd type="triangle"/>
          </a:ln>
        </p:spPr>
      </p:sp>
      <p:sp>
        <p:nvSpPr>
          <p:cNvPr id="13" name="Shape 11">
            <a:extLst xmlns:a="http://schemas.openxmlformats.org/drawingml/2006/main">
              <a:ext uri="{FF2B5EF4-FFF2-40B4-BE49-F238E27FC236}">
                <a16:creationId xmlns:a16="http://schemas.microsoft.com/office/drawing/2014/main" id="{6A71A373-A210-4073-880A-D1561DCA9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44384" y="2121408"/>
            <a:ext cx="10972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solidFill>
              <a:srgbClr val="627D98"/>
            </a:solidFill>
            <a:prstDash val="solid"/>
            <a:headEnd type="none"/>
            <a:tailEnd type="triangle"/>
          </a:ln>
        </p:spPr>
      </p:sp>
      <p:sp>
        <p:nvSpPr>
          <p:cNvPr id="14" name="Shape 12">
            <a:extLst xmlns:a="http://schemas.openxmlformats.org/drawingml/2006/main">
              <a:ext uri="{FF2B5EF4-FFF2-40B4-BE49-F238E27FC236}">
                <a16:creationId xmlns:a16="http://schemas.microsoft.com/office/drawing/2014/main" id="{8521752D-62E3-427E-8AB3-0D1C31C45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30384" y="2121408"/>
            <a:ext cx="10972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solidFill>
              <a:srgbClr val="627D98"/>
            </a:solidFill>
            <a:prstDash val="solid"/>
            <a:headEnd type="none"/>
            <a:tailEnd type="triangle"/>
          </a:ln>
        </p:spPr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137BC5E0-056E-41D2-9D68-6C24849D1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3127248"/>
            <a:ext cx="420624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 b="1">
                <a:solidFill>
                  <a:srgbClr val="102A43"/>
                </a:solidFill>
              </a:rPr>
              <a:t>After creating lag and rolling features</a:t>
            </a:r>
            <a:endParaRPr sz="1800"/>
          </a:p>
        </p:txBody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34735FB5-2043-4326-B93C-C74A2534C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3566160"/>
            <a:ext cx="5257800" cy="137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A"/>
          </a:solidFill>
          <a:ln xmlns:a="http://schemas.openxmlformats.org/drawingml/2006/main" w="12700">
            <a:solidFill>
              <a:srgbClr val="C9D9E8"/>
            </a:solidFill>
          </a:ln>
        </p:spPr>
        <p:txBody>
          <a:bodyPr xmlns:a="http://schemas.openxmlformats.org/drawingml/2006/main" wrap="square" lIns="2286" tIns="2286" rIns="2286" bIns="2286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>
                <a:solidFill>
                  <a:srgbClr val="102A43"/>
                </a:solidFill>
                <a:latin typeface="Consolas"/>
                <a:ea typeface="Consolas"/>
                <a:cs typeface="Consolas"/>
              </a:rPr>
              <a:t>data/processed/m5_foods_features/</a:t>
            </a:r>
            <a:endParaRPr sz="1600"/>
          </a:p>
          <a:p xmlns:a="http://schemas.openxmlformats.org/drawingml/2006/main">
            <a:pPr marL="0" indent="0">
              <a:buNone/>
            </a:pPr>
            <a:r>
              <a:rPr sz="1600">
                <a:solidFill>
                  <a:srgbClr val="102A43"/>
                </a:solidFill>
                <a:latin typeface="Consolas"/>
                <a:ea typeface="Consolas"/>
                <a:cs typeface="Consolas"/>
              </a:rPr>
              <a:t>├── train.parquet       2,888,944 rows</a:t>
            </a:r>
            <a:endParaRPr sz="1600"/>
          </a:p>
          <a:p xmlns:a="http://schemas.openxmlformats.org/drawingml/2006/main">
            <a:pPr marL="0" indent="0">
              <a:buNone/>
            </a:pPr>
            <a:r>
              <a:rPr sz="1600">
                <a:solidFill>
                  <a:srgbClr val="102A43"/>
                </a:solidFill>
                <a:latin typeface="Consolas"/>
                <a:ea typeface="Consolas"/>
                <a:cs typeface="Consolas"/>
              </a:rPr>
              <a:t>├── validation.parquet     57,478 rows</a:t>
            </a:r>
            <a:endParaRPr sz="1600"/>
          </a:p>
          <a:p xmlns:a="http://schemas.openxmlformats.org/drawingml/2006/main">
            <a:pPr marL="0" indent="0">
              <a:buNone/>
            </a:pPr>
            <a:r>
              <a:rPr sz="1600">
                <a:solidFill>
                  <a:srgbClr val="102A43"/>
                </a:solidFill>
                <a:latin typeface="Consolas"/>
                <a:ea typeface="Consolas"/>
                <a:cs typeface="Consolas"/>
              </a:rPr>
              <a:t>└── test.parquet           57,480 rows</a:t>
            </a:r>
            <a:endParaRPr sz="1600"/>
          </a:p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8E951130-B1A6-4C2F-8154-152E5C47A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127248"/>
            <a:ext cx="374904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 b="1">
                <a:solidFill>
                  <a:srgbClr val="178F65"/>
                </a:solidFill>
              </a:rPr>
              <a:t>What Random Forest receives</a:t>
            </a:r>
            <a:endParaRPr sz="1800"/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5BFDE93A-6F96-4784-98D3-9B8A85072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566160"/>
            <a:ext cx="4846320" cy="15727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8F3"/>
          </a:solidFill>
          <a:ln xmlns:a="http://schemas.openxmlformats.org/drawingml/2006/main" w="12700">
            <a:solidFill>
              <a:srgbClr val="B8DDCA"/>
            </a:solidFill>
          </a:ln>
        </p:spPr>
        <p:txBody>
          <a:bodyPr xmlns:a="http://schemas.openxmlformats.org/drawingml/2006/main" wrap="square" lIns="2286" tIns="2286" rIns="2286" bIns="2286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50">
                <a:solidFill>
                  <a:srgbClr val="243B53"/>
                </a:solidFill>
              </a:rPr>
              <a:t>20 numeric features:</a:t>
            </a:r>
            <a:endParaRPr sz="1550"/>
          </a:p>
          <a:p xmlns:a="http://schemas.openxmlformats.org/drawingml/2006/main">
            <a:pPr marL="0" indent="0">
              <a:buNone/>
            </a:pPr>
            <a:r>
              <a:rPr sz="1550">
                <a:solidFill>
                  <a:srgbClr val="243B53"/>
                </a:solidFill>
              </a:rPr>
              <a:t>• past sales and rolling statistics;</a:t>
            </a:r>
            <a:endParaRPr sz="1550"/>
          </a:p>
          <a:p xmlns:a="http://schemas.openxmlformats.org/drawingml/2006/main">
            <a:pPr marL="0" indent="0">
              <a:buNone/>
            </a:pPr>
            <a:r>
              <a:rPr sz="1550">
                <a:solidFill>
                  <a:srgbClr val="243B53"/>
                </a:solidFill>
              </a:rPr>
              <a:t>• price and price change;</a:t>
            </a:r>
            <a:endParaRPr sz="1550"/>
          </a:p>
          <a:p xmlns:a="http://schemas.openxmlformats.org/drawingml/2006/main">
            <a:pPr marL="0" indent="0">
              <a:buNone/>
            </a:pPr>
            <a:r>
              <a:rPr sz="1550">
                <a:solidFill>
                  <a:srgbClr val="243B53"/>
                </a:solidFill>
              </a:rPr>
              <a:t>• year, month, week, quarter;</a:t>
            </a:r>
            <a:endParaRPr sz="1550"/>
          </a:p>
          <a:p xmlns:a="http://schemas.openxmlformats.org/drawingml/2006/main">
            <a:pPr marL="0" indent="0">
              <a:buNone/>
            </a:pPr>
            <a:r>
              <a:rPr sz="1550">
                <a:solidFill>
                  <a:srgbClr val="243B53"/>
                </a:solidFill>
              </a:rPr>
              <a:t>• events and SNAP.</a:t>
            </a:r>
            <a:endParaRPr sz="1550"/>
          </a:p>
          <a:p xmlns:a="http://schemas.openxmlformats.org/drawingml/2006/main">
            <a:pPr marL="0" indent="0">
              <a:buNone/>
            </a:pPr>
            <a:r>
              <a:rPr sz="1550">
                <a:solidFill>
                  <a:srgbClr val="243B53"/>
                </a:solidFill>
              </a:rPr>
              <a:t>Target: weekly_units_sold</a:t>
            </a:r>
            <a:endParaRPr sz="1550"/>
          </a:p>
        </p:txBody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D2F7E7BE-0D42-4907-99AE-2C210334F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6190488"/>
            <a:ext cx="1042416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i="1">
                <a:solidFill>
                  <a:srgbClr val="627D98"/>
                </a:solidFill>
              </a:rPr>
              <a:t>Test did not select the model: Random Forest was frozen using validation before the test target was opened.</a:t>
            </a:r>
            <a:endParaRPr sz="1000"/>
          </a:p>
        </p:txBody>
      </p:sp>
      <p:sp>
        <p:nvSpPr>
          <p:cNvPr id="25" name="Slide Number Placeholder 0">
            <a:extLst xmlns:a="http://schemas.openxmlformats.org/drawingml/2006/main">
              <a:ext uri="{FF2B5EF4-FFF2-40B4-BE49-F238E27FC236}">
                <a16:creationId xmlns:a16="http://schemas.microsoft.com/office/drawing/2014/main" id="{0CCB5062-5E60-4505-BBC1-FA74FB7D49B8}"/>
              </a:ext>
            </a:extLst>
          </p:cNvPr>
          <p:cNvSpPr>
            <a:spLocks xmlns:a="http://schemas.openxmlformats.org/drawingml/2006/main" noGrp="1"/>
          </p:cNvSpPr>
          <p:nvPr>
            <p:ph type="sldNum" idx="4294967295"/>
          </p:nvPr>
        </p:nvSpPr>
        <p:spPr>
          <a:xfrm xmlns:a="http://schemas.openxmlformats.org/drawingml/2006/main">
            <a:off x="11503152" y="6565392"/>
            <a:ext cx="182880" cy="1371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80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 xmlns:a="http://schemas.openxmlformats.org/drawingml/2006/main">
            <a:pPr algn="r">
              <a:buNone/>
            </a:pPr>
            <a:fld id="{F7021451-1387-4CA6-816F-3879F97B5CBC}" type="slidenum">
              <a:rPr b="0"/>
              <a:t>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59712373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19809DDA-71DC-4DC6-9600-DC6DC72DD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530352"/>
            <a:ext cx="292608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110">
                <a:solidFill>
                  <a:srgbClr val="1976D2"/>
                </a:solidFill>
              </a:rPr>
              <a:t>3 • DATA PREPARATION</a:t>
            </a:r>
            <a:endParaRPr sz="10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5FD43B02-7CB6-4545-A29C-BEF0BD5DA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804672"/>
            <a:ext cx="1097280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700" b="1">
                <a:solidFill>
                  <a:srgbClr val="102A43"/>
                </a:solidFill>
              </a:rPr>
              <a:t>Audit and cleaning form a chain of decisions</a:t>
            </a:r>
            <a:endParaRPr sz="270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2127D45C-1013-4C0D-9C0C-ECDF89EBA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600200"/>
            <a:ext cx="1874520" cy="2240280"/>
          </a:xfrm>
          <a:prstGeom xmlns:a="http://schemas.openxmlformats.org/drawingml/2006/main" prst="roundRect">
            <a:avLst>
              <a:gd name="adj" fmla="val 390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D9E2EC"/>
            </a:solidFill>
            <a:prstDash val="solid"/>
          </a:ln>
          <a:effectLst xmlns:a="http://schemas.openxmlformats.org/drawingml/2006/main">
            <a:outerShdw blurRad="19050" dist="50800" dir="2700000" sx="100000" sy="100000" kx="0" ky="0" algn="bl" rotWithShape="0">
              <a:srgbClr val="B8C6D1">
                <a:alpha val="16000"/>
              </a:srgbClr>
            </a:outerShdw>
          </a:effectLst>
        </p:spPr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F7F96792-E66A-4D7A-B97D-7F8D5A693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600200"/>
            <a:ext cx="73152" cy="22402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76D2"/>
          </a:solidFill>
          <a:ln xmlns:a="http://schemas.openxmlformats.org/drawingml/2006/main" w="12700">
            <a:solidFill>
              <a:srgbClr val="1976D2"/>
            </a:solidFill>
            <a:prstDash val="solid"/>
          </a:ln>
        </p:spPr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EB9291E0-2D20-4A7C-8624-7A54CFC71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112" y="1783080"/>
            <a:ext cx="14630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102A43"/>
                </a:solidFill>
              </a:rPr>
              <a:t>Audit</a:t>
            </a:r>
            <a:endParaRPr sz="1500"/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2FF52B71-A5E9-4E95-9A1D-629FAF972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112" y="2167128"/>
            <a:ext cx="1435608" cy="1527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243B53"/>
                </a:solidFill>
              </a:rPr>
              <a:t>Schema, missing values, duplicates, types, negative values</a:t>
            </a:r>
            <a:endParaRPr sz="1150"/>
          </a:p>
        </p:txBody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EA9FADDD-98A3-4579-A18B-E8A0B9768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3744" y="2651760"/>
            <a:ext cx="329184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solidFill>
              <a:srgbClr val="627D98"/>
            </a:solidFill>
            <a:prstDash val="solid"/>
            <a:headEnd type="none"/>
            <a:tailEnd type="triangle"/>
          </a:ln>
        </p:spPr>
      </p:sp>
      <p:sp>
        <p:nvSpPr>
          <p:cNvPr id="9" name="Shape 7">
            <a:extLst xmlns:a="http://schemas.openxmlformats.org/drawingml/2006/main">
              <a:ext uri="{FF2B5EF4-FFF2-40B4-BE49-F238E27FC236}">
                <a16:creationId xmlns:a16="http://schemas.microsoft.com/office/drawing/2014/main" id="{8359C9C7-1F3A-4ADC-8020-FCBEC05AC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8648" y="1600200"/>
            <a:ext cx="1874520" cy="2240280"/>
          </a:xfrm>
          <a:prstGeom xmlns:a="http://schemas.openxmlformats.org/drawingml/2006/main" prst="roundRect">
            <a:avLst>
              <a:gd name="adj" fmla="val 390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D9E2EC"/>
            </a:solidFill>
            <a:prstDash val="solid"/>
          </a:ln>
          <a:effectLst xmlns:a="http://schemas.openxmlformats.org/drawingml/2006/main">
            <a:outerShdw blurRad="19050" dist="50800" dir="2700000" sx="100000" sy="100000" kx="0" ky="0" algn="bl" rotWithShape="0">
              <a:srgbClr val="B8C6D1">
                <a:alpha val="16000"/>
              </a:srgbClr>
            </a:outerShdw>
          </a:effectLst>
        </p:spPr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6B4456FA-3381-4041-80BD-CB8FD35EF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8648" y="1600200"/>
            <a:ext cx="73152" cy="22402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B1BC"/>
          </a:solidFill>
          <a:ln xmlns:a="http://schemas.openxmlformats.org/drawingml/2006/main" w="12700">
            <a:solidFill>
              <a:srgbClr val="2CB1BC"/>
            </a:solidFill>
            <a:prstDash val="solid"/>
          </a:ln>
        </p:spPr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D281E1FC-721B-4E7F-B3E4-0077AF43E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4680" y="1783080"/>
            <a:ext cx="14630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102A43"/>
                </a:solidFill>
              </a:rPr>
              <a:t>Build weeks</a:t>
            </a:r>
            <a:endParaRPr sz="1500"/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3D4DD310-6CFE-48D7-B8A1-234E37751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4680" y="2167128"/>
            <a:ext cx="1435608" cy="1527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243B53"/>
                </a:solidFill>
              </a:rPr>
              <a:t>Seven-day sum, price, events, and SNAP</a:t>
            </a:r>
            <a:endParaRPr sz="1150"/>
          </a:p>
        </p:txBody>
      </p:sp>
      <p:sp>
        <p:nvSpPr>
          <p:cNvPr id="13" name="Shape 11">
            <a:extLst xmlns:a="http://schemas.openxmlformats.org/drawingml/2006/main">
              <a:ext uri="{FF2B5EF4-FFF2-40B4-BE49-F238E27FC236}">
                <a16:creationId xmlns:a16="http://schemas.microsoft.com/office/drawing/2014/main" id="{EBBB7B41-D180-496C-89AA-9939C3284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2312" y="2651760"/>
            <a:ext cx="329184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solidFill>
              <a:srgbClr val="627D98"/>
            </a:solidFill>
            <a:prstDash val="solid"/>
            <a:headEnd type="none"/>
            <a:tailEnd type="triangle"/>
          </a:ln>
        </p:spPr>
      </p:sp>
      <p:sp>
        <p:nvSpPr>
          <p:cNvPr id="14" name="Shape 12">
            <a:extLst xmlns:a="http://schemas.openxmlformats.org/drawingml/2006/main">
              <a:ext uri="{FF2B5EF4-FFF2-40B4-BE49-F238E27FC236}">
                <a16:creationId xmlns:a16="http://schemas.microsoft.com/office/drawing/2014/main" id="{02F1AED5-A664-43CC-B182-9ECA1067A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57216" y="1600200"/>
            <a:ext cx="1874520" cy="2240280"/>
          </a:xfrm>
          <a:prstGeom xmlns:a="http://schemas.openxmlformats.org/drawingml/2006/main" prst="roundRect">
            <a:avLst>
              <a:gd name="adj" fmla="val 390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D9E2EC"/>
            </a:solidFill>
            <a:prstDash val="solid"/>
          </a:ln>
          <a:effectLst xmlns:a="http://schemas.openxmlformats.org/drawingml/2006/main">
            <a:outerShdw blurRad="19050" dist="50800" dir="2700000" sx="100000" sy="100000" kx="0" ky="0" algn="bl" rotWithShape="0">
              <a:srgbClr val="B8C6D1">
                <a:alpha val="16000"/>
              </a:srgbClr>
            </a:outerShdw>
          </a:effectLst>
        </p:spPr>
      </p:sp>
      <p:sp>
        <p:nvSpPr>
          <p:cNvPr id="15" name="Shape 13">
            <a:extLst xmlns:a="http://schemas.openxmlformats.org/drawingml/2006/main">
              <a:ext uri="{FF2B5EF4-FFF2-40B4-BE49-F238E27FC236}">
                <a16:creationId xmlns:a16="http://schemas.microsoft.com/office/drawing/2014/main" id="{2A9EBF6B-084F-4C63-8124-7CCA8DAB9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57216" y="1600200"/>
            <a:ext cx="73152" cy="22402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12700">
            <a:solidFill>
              <a:srgbClr val="F59E0B"/>
            </a:solidFill>
            <a:prstDash val="solid"/>
          </a:ln>
        </p:spPr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1DF2B1ED-0001-4A51-8A78-C80CEC835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3248" y="1783080"/>
            <a:ext cx="14630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102A43"/>
                </a:solidFill>
              </a:rPr>
              <a:t>Filter</a:t>
            </a:r>
            <a:endParaRPr sz="1500"/>
          </a:p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F8F05AEF-CA30-4F49-BE77-48A420317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3248" y="2167128"/>
            <a:ext cx="1435608" cy="1527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243B53"/>
                </a:solidFill>
              </a:rPr>
              <a:t>Incomplete weeks and weeks without a valid price</a:t>
            </a:r>
            <a:endParaRPr sz="1150"/>
          </a:p>
        </p:txBody>
      </p:sp>
      <p:sp>
        <p:nvSpPr>
          <p:cNvPr id="18" name="Shape 16">
            <a:extLst xmlns:a="http://schemas.openxmlformats.org/drawingml/2006/main">
              <a:ext uri="{FF2B5EF4-FFF2-40B4-BE49-F238E27FC236}">
                <a16:creationId xmlns:a16="http://schemas.microsoft.com/office/drawing/2014/main" id="{B1AB8704-B6A2-488F-90AA-B42A19B4A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0880" y="2651760"/>
            <a:ext cx="329184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solidFill>
              <a:srgbClr val="627D98"/>
            </a:solidFill>
            <a:prstDash val="solid"/>
            <a:headEnd type="none"/>
            <a:tailEnd type="triangle"/>
          </a:ln>
        </p:spPr>
      </p:sp>
      <p:sp>
        <p:nvSpPr>
          <p:cNvPr id="19" name="Shape 17">
            <a:extLst xmlns:a="http://schemas.openxmlformats.org/drawingml/2006/main">
              <a:ext uri="{FF2B5EF4-FFF2-40B4-BE49-F238E27FC236}">
                <a16:creationId xmlns:a16="http://schemas.microsoft.com/office/drawing/2014/main" id="{23CDA918-FFCB-4502-8955-1708EEC3C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5784" y="1600200"/>
            <a:ext cx="1874520" cy="2240280"/>
          </a:xfrm>
          <a:prstGeom xmlns:a="http://schemas.openxmlformats.org/drawingml/2006/main" prst="roundRect">
            <a:avLst>
              <a:gd name="adj" fmla="val 390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D9E2EC"/>
            </a:solidFill>
            <a:prstDash val="solid"/>
          </a:ln>
          <a:effectLst xmlns:a="http://schemas.openxmlformats.org/drawingml/2006/main">
            <a:outerShdw blurRad="19050" dist="50800" dir="2700000" sx="100000" sy="100000" kx="0" ky="0" algn="bl" rotWithShape="0">
              <a:srgbClr val="B8C6D1">
                <a:alpha val="16000"/>
              </a:srgbClr>
            </a:outerShdw>
          </a:effectLst>
        </p:spPr>
      </p:sp>
      <p:sp>
        <p:nvSpPr>
          <p:cNvPr id="20" name="Shape 18">
            <a:extLst xmlns:a="http://schemas.openxmlformats.org/drawingml/2006/main">
              <a:ext uri="{FF2B5EF4-FFF2-40B4-BE49-F238E27FC236}">
                <a16:creationId xmlns:a16="http://schemas.microsoft.com/office/drawing/2014/main" id="{6079C195-C2CD-4022-9F94-F1E11D78D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5784" y="1600200"/>
            <a:ext cx="73152" cy="22402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8F65"/>
          </a:solidFill>
          <a:ln xmlns:a="http://schemas.openxmlformats.org/drawingml/2006/main" w="12700">
            <a:solidFill>
              <a:srgbClr val="178F65"/>
            </a:solidFill>
            <a:prstDash val="solid"/>
          </a:ln>
        </p:spPr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3C0A1CB7-05F7-4E0B-9F1D-1FBA68049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1816" y="1783080"/>
            <a:ext cx="14630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102A43"/>
                </a:solidFill>
              </a:rPr>
              <a:t>Preserve</a:t>
            </a:r>
            <a:endParaRPr sz="1500"/>
          </a:p>
        </p:txBody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F0D6485A-0E38-4044-AF60-F25332569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1816" y="2167128"/>
            <a:ext cx="1435608" cy="1527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243B53"/>
                </a:solidFill>
              </a:rPr>
              <a:t>Zeros and outliers as valid flagged observations</a:t>
            </a:r>
            <a:endParaRPr sz="1150"/>
          </a:p>
        </p:txBody>
      </p:sp>
      <p:sp>
        <p:nvSpPr>
          <p:cNvPr id="23" name="Shape 21">
            <a:extLst xmlns:a="http://schemas.openxmlformats.org/drawingml/2006/main">
              <a:ext uri="{FF2B5EF4-FFF2-40B4-BE49-F238E27FC236}">
                <a16:creationId xmlns:a16="http://schemas.microsoft.com/office/drawing/2014/main" id="{8B468777-3B0B-46E7-958D-F0EAD67C4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9448" y="2651760"/>
            <a:ext cx="329184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solidFill>
              <a:srgbClr val="627D98"/>
            </a:solidFill>
            <a:prstDash val="solid"/>
            <a:headEnd type="none"/>
            <a:tailEnd type="triangle"/>
          </a:ln>
        </p:spPr>
      </p:sp>
      <p:sp>
        <p:nvSpPr>
          <p:cNvPr id="24" name="Shape 22">
            <a:extLst xmlns:a="http://schemas.openxmlformats.org/drawingml/2006/main">
              <a:ext uri="{FF2B5EF4-FFF2-40B4-BE49-F238E27FC236}">
                <a16:creationId xmlns:a16="http://schemas.microsoft.com/office/drawing/2014/main" id="{14AB33EB-1FF3-4A3D-A53E-E527F2D02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4352" y="1600200"/>
            <a:ext cx="1874520" cy="2240280"/>
          </a:xfrm>
          <a:prstGeom xmlns:a="http://schemas.openxmlformats.org/drawingml/2006/main" prst="roundRect">
            <a:avLst>
              <a:gd name="adj" fmla="val 390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D9E2EC"/>
            </a:solidFill>
            <a:prstDash val="solid"/>
          </a:ln>
          <a:effectLst xmlns:a="http://schemas.openxmlformats.org/drawingml/2006/main">
            <a:outerShdw blurRad="19050" dist="50800" dir="2700000" sx="100000" sy="100000" kx="0" ky="0" algn="bl" rotWithShape="0">
              <a:srgbClr val="B8C6D1">
                <a:alpha val="16000"/>
              </a:srgbClr>
            </a:outerShdw>
          </a:effectLst>
        </p:spPr>
      </p:sp>
      <p:sp>
        <p:nvSpPr>
          <p:cNvPr id="25" name="Shape 23">
            <a:extLst xmlns:a="http://schemas.openxmlformats.org/drawingml/2006/main">
              <a:ext uri="{FF2B5EF4-FFF2-40B4-BE49-F238E27FC236}">
                <a16:creationId xmlns:a16="http://schemas.microsoft.com/office/drawing/2014/main" id="{BC77699A-FD75-4DCE-A6F9-88AB794DE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4352" y="1600200"/>
            <a:ext cx="73152" cy="22402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4545"/>
          </a:solidFill>
          <a:ln xmlns:a="http://schemas.openxmlformats.org/drawingml/2006/main" w="12700">
            <a:solidFill>
              <a:srgbClr val="D64545"/>
            </a:solidFill>
            <a:prstDash val="solid"/>
          </a:ln>
        </p:spPr>
      </p:sp>
      <p:sp>
        <p:nvSpPr>
          <p:cNvPr id="26" name="Text 24">
            <a:extLst xmlns:a="http://schemas.openxmlformats.org/drawingml/2006/main">
              <a:ext uri="{FF2B5EF4-FFF2-40B4-BE49-F238E27FC236}">
                <a16:creationId xmlns:a16="http://schemas.microsoft.com/office/drawing/2014/main" id="{A4A3BED7-FD6D-4F69-A832-592CD004C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30384" y="1783080"/>
            <a:ext cx="14630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102A43"/>
                </a:solidFill>
              </a:rPr>
              <a:t>Document</a:t>
            </a:r>
            <a:endParaRPr sz="1500"/>
          </a:p>
        </p:txBody>
      </p:sp>
      <p:sp>
        <p:nvSpPr>
          <p:cNvPr id="27" name="Text 25">
            <a:extLst xmlns:a="http://schemas.openxmlformats.org/drawingml/2006/main">
              <a:ext uri="{FF2B5EF4-FFF2-40B4-BE49-F238E27FC236}">
                <a16:creationId xmlns:a16="http://schemas.microsoft.com/office/drawing/2014/main" id="{0119F00F-95F9-48EB-8E36-27708B153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30384" y="2167128"/>
            <a:ext cx="1435608" cy="1527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243B53"/>
                </a:solidFill>
              </a:rPr>
              <a:t>Row counts and the reason for every decision</a:t>
            </a:r>
            <a:endParaRPr sz="1150"/>
          </a:p>
        </p:txBody>
      </p:sp>
      <p:sp>
        <p:nvSpPr>
          <p:cNvPr id="28" name="Shape 26">
            <a:extLst xmlns:a="http://schemas.openxmlformats.org/drawingml/2006/main">
              <a:ext uri="{FF2B5EF4-FFF2-40B4-BE49-F238E27FC236}">
                <a16:creationId xmlns:a16="http://schemas.microsoft.com/office/drawing/2014/main" id="{C06715B7-C93A-43C7-A782-F35FF2358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51960"/>
            <a:ext cx="10332720" cy="1051560"/>
          </a:xfrm>
          <a:prstGeom xmlns:a="http://schemas.openxmlformats.org/drawingml/2006/main" prst="roundRect">
            <a:avLst>
              <a:gd name="adj" fmla="val 4348"/>
            </a:avLst>
          </a:prstGeom>
          <a:solidFill xmlns:a="http://schemas.openxmlformats.org/drawingml/2006/main">
            <a:srgbClr val="FFF7E6"/>
          </a:solidFill>
          <a:ln xmlns:a="http://schemas.openxmlformats.org/drawingml/2006/main" w="12700">
            <a:solidFill>
              <a:srgbClr val="F7C873"/>
            </a:solidFill>
            <a:prstDash val="solid"/>
          </a:ln>
        </p:spPr>
      </p:sp>
      <p:sp>
        <p:nvSpPr>
          <p:cNvPr id="29" name="Text 27">
            <a:extLst xmlns:a="http://schemas.openxmlformats.org/drawingml/2006/main">
              <a:ext uri="{FF2B5EF4-FFF2-40B4-BE49-F238E27FC236}">
                <a16:creationId xmlns:a16="http://schemas.microsoft.com/office/drawing/2014/main" id="{A1B2F149-0CF2-4295-B149-7D434979E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" y="4507992"/>
            <a:ext cx="192024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B66A00"/>
                </a:solidFill>
              </a:rPr>
              <a:t>Key decision</a:t>
            </a:r>
            <a:endParaRPr sz="1500"/>
          </a:p>
        </p:txBody>
      </p:sp>
      <p:sp>
        <p:nvSpPr>
          <p:cNvPr id="30" name="Text 28">
            <a:extLst xmlns:a="http://schemas.openxmlformats.org/drawingml/2006/main">
              <a:ext uri="{FF2B5EF4-FFF2-40B4-BE49-F238E27FC236}">
                <a16:creationId xmlns:a16="http://schemas.microsoft.com/office/drawing/2014/main" id="{C01AC7AE-1473-4BF9-9DBF-1053E68F0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8960" y="4389120"/>
            <a:ext cx="7726680" cy="5303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102A43"/>
                </a:solidFill>
              </a:rPr>
              <a:t>Zero demand and high sales were not deleted automatically: they reflect real behavior and were analyzed separately.</a:t>
            </a:r>
            <a:endParaRPr sz="1500"/>
          </a:p>
        </p:txBody>
      </p:sp>
      <p:sp>
        <p:nvSpPr>
          <p:cNvPr id="31" name="Text 29">
            <a:extLst xmlns:a="http://schemas.openxmlformats.org/drawingml/2006/main">
              <a:ext uri="{FF2B5EF4-FFF2-40B4-BE49-F238E27FC236}">
                <a16:creationId xmlns:a16="http://schemas.microsoft.com/office/drawing/2014/main" id="{06C4A1FC-E1D7-49B2-8B21-F4FBA25EE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6190488"/>
            <a:ext cx="1042416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i="1">
                <a:solidFill>
                  <a:srgbClr val="627D98"/>
                </a:solidFill>
              </a:rPr>
              <a:t>The original CSV files remained unchanged; notebooks 01–02 reproduce the processed data.</a:t>
            </a:r>
            <a:endParaRPr sz="1000"/>
          </a:p>
        </p:txBody>
      </p:sp>
      <p:sp>
        <p:nvSpPr>
          <p:cNvPr id="32" name="Slide Number Placeholder 0">
            <a:extLst xmlns:a="http://schemas.openxmlformats.org/drawingml/2006/main">
              <a:ext uri="{FF2B5EF4-FFF2-40B4-BE49-F238E27FC236}">
                <a16:creationId xmlns:a16="http://schemas.microsoft.com/office/drawing/2014/main" id="{E54736BF-A54A-4E39-B446-81D5FD405B6B}"/>
              </a:ext>
            </a:extLst>
          </p:cNvPr>
          <p:cNvSpPr>
            <a:spLocks xmlns:a="http://schemas.openxmlformats.org/drawingml/2006/main" noGrp="1"/>
          </p:cNvSpPr>
          <p:nvPr>
            <p:ph type="sldNum" idx="4294967295"/>
          </p:nvPr>
        </p:nvSpPr>
        <p:spPr>
          <a:xfrm xmlns:a="http://schemas.openxmlformats.org/drawingml/2006/main">
            <a:off x="11503152" y="6565392"/>
            <a:ext cx="182880" cy="1371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80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 xmlns:a="http://schemas.openxmlformats.org/drawingml/2006/main">
            <a:pPr algn="r">
              <a:buNone/>
            </a:pPr>
            <a:fld id="{F7021451-1387-4CA6-816F-3879F97B5CBC}" type="slidenum">
              <a:rPr b="0"/>
              <a:t>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17335108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55C1C80A-5DE3-45BE-BA40-19914FC30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530352"/>
            <a:ext cx="292608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110">
                <a:solidFill>
                  <a:srgbClr val="1976D2"/>
                </a:solidFill>
              </a:rPr>
              <a:t>4 • LEAKAGE-SAFE PIPELINE</a:t>
            </a:r>
            <a:endParaRPr sz="10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328F31A8-5705-4BF3-A769-50A7ACC2B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804672"/>
            <a:ext cx="1097280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700" b="1">
                <a:solidFill>
                  <a:srgbClr val="102A43"/>
                </a:solidFill>
              </a:rPr>
              <a:t>How I protected the project from data leakage</a:t>
            </a:r>
            <a:endParaRPr sz="270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37F23177-D501-4162-BF5D-8EECA622E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1965960"/>
            <a:ext cx="4800600" cy="1051560"/>
          </a:xfrm>
          <a:prstGeom xmlns:a="http://schemas.openxmlformats.org/drawingml/2006/main" prst="roundRect">
            <a:avLst>
              <a:gd name="adj" fmla="val 3478"/>
            </a:avLst>
          </a:prstGeom>
          <a:solidFill xmlns:a="http://schemas.openxmlformats.org/drawingml/2006/main">
            <a:srgbClr val="E8F5EE"/>
          </a:solidFill>
          <a:ln xmlns:a="http://schemas.openxmlformats.org/drawingml/2006/main" w="12700">
            <a:solidFill>
              <a:srgbClr val="9AD2B8"/>
            </a:solidFill>
            <a:prstDash val="solid"/>
          </a:ln>
        </p:spPr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123F6333-5574-4F9A-AA79-DB4C282A8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2130552"/>
            <a:ext cx="105156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 b="1">
                <a:solidFill>
                  <a:srgbClr val="178F65"/>
                </a:solidFill>
              </a:rPr>
              <a:t>TRAIN</a:t>
            </a:r>
            <a:endParaRPr sz="1800"/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1BD32E11-0488-4433-AB61-0CE971214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3392" y="2148840"/>
            <a:ext cx="31546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243B53"/>
                </a:solidFill>
              </a:rPr>
              <a:t>feature and model training</a:t>
            </a:r>
            <a:endParaRPr sz="1300"/>
          </a:p>
        </p:txBody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2B2CD6B5-12FB-4822-B4AC-D0B7E1BE1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3560" y="1965960"/>
            <a:ext cx="2468880" cy="1051560"/>
          </a:xfrm>
          <a:prstGeom xmlns:a="http://schemas.openxmlformats.org/drawingml/2006/main" prst="roundRect">
            <a:avLst>
              <a:gd name="adj" fmla="val 3478"/>
            </a:avLst>
          </a:prstGeom>
          <a:solidFill xmlns:a="http://schemas.openxmlformats.org/drawingml/2006/main">
            <a:srgbClr val="FFF7E6"/>
          </a:solidFill>
          <a:ln xmlns:a="http://schemas.openxmlformats.org/drawingml/2006/main" w="12700">
            <a:solidFill>
              <a:srgbClr val="F7C873"/>
            </a:solidFill>
            <a:prstDash val="solid"/>
          </a:ln>
        </p:spPr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5E1CFEB5-D512-4AAB-ABD4-18AE2B0CE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0448" y="2130552"/>
            <a:ext cx="196596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700" b="1">
                <a:solidFill>
                  <a:srgbClr val="B66A00"/>
                </a:solidFill>
              </a:rPr>
              <a:t>VALIDATION</a:t>
            </a:r>
            <a:endParaRPr sz="1700"/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4F8B9C0F-6873-4160-BC89-BED85AC88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5312" y="2532888"/>
            <a:ext cx="18288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>
                <a:solidFill>
                  <a:srgbClr val="243B53"/>
                </a:solidFill>
              </a:rPr>
              <a:t>model selection</a:t>
            </a:r>
            <a:endParaRPr sz="1200"/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AB70BDF0-C255-4C2D-80BD-1B7CEA6AC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3880" y="1965960"/>
            <a:ext cx="3246120" cy="1051560"/>
          </a:xfrm>
          <a:prstGeom xmlns:a="http://schemas.openxmlformats.org/drawingml/2006/main" prst="roundRect">
            <a:avLst>
              <a:gd name="adj" fmla="val 3478"/>
            </a:avLst>
          </a:prstGeom>
          <a:solidFill xmlns:a="http://schemas.openxmlformats.org/drawingml/2006/main">
            <a:srgbClr val="FDECEC"/>
          </a:solidFill>
          <a:ln xmlns:a="http://schemas.openxmlformats.org/drawingml/2006/main" w="12700">
            <a:solidFill>
              <a:srgbClr val="E6A2A2"/>
            </a:solidFill>
            <a:prstDash val="solid"/>
          </a:ln>
        </p:spPr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1E0890BF-F180-42E1-B303-440685602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0768" y="2130552"/>
            <a:ext cx="2743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700" b="1">
                <a:solidFill>
                  <a:srgbClr val="D64545"/>
                </a:solidFill>
              </a:rPr>
              <a:t>PROTECTED TEST</a:t>
            </a:r>
            <a:endParaRPr sz="1700"/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1E067679-6C8C-44B1-9F1E-4B6FD8C7F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532888"/>
            <a:ext cx="269748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>
                <a:solidFill>
                  <a:srgbClr val="243B53"/>
                </a:solidFill>
              </a:rPr>
              <a:t>one final evaluation</a:t>
            </a:r>
            <a:endParaRPr sz="1200"/>
          </a:p>
        </p:txBody>
      </p:sp>
      <p:sp>
        <p:nvSpPr>
          <p:cNvPr id="13" name="Shape 11">
            <a:extLst xmlns:a="http://schemas.openxmlformats.org/drawingml/2006/main">
              <a:ext uri="{FF2B5EF4-FFF2-40B4-BE49-F238E27FC236}">
                <a16:creationId xmlns:a16="http://schemas.microsoft.com/office/drawing/2014/main" id="{EC3CAEDC-8FEE-4093-A20D-C6F647B70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4688" y="2496312"/>
            <a:ext cx="9144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solidFill>
              <a:srgbClr val="627D98"/>
            </a:solidFill>
            <a:prstDash val="solid"/>
            <a:headEnd type="none"/>
            <a:tailEnd type="triangle"/>
          </a:ln>
        </p:spPr>
      </p:sp>
      <p:sp>
        <p:nvSpPr>
          <p:cNvPr id="14" name="Shape 12">
            <a:extLst xmlns:a="http://schemas.openxmlformats.org/drawingml/2006/main">
              <a:ext uri="{FF2B5EF4-FFF2-40B4-BE49-F238E27FC236}">
                <a16:creationId xmlns:a16="http://schemas.microsoft.com/office/drawing/2014/main" id="{B731A478-9C2D-4ED0-80A0-675EDE671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4152" y="2496312"/>
            <a:ext cx="9144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solidFill>
              <a:srgbClr val="627D98"/>
            </a:solidFill>
            <a:prstDash val="solid"/>
            <a:headEnd type="none"/>
            <a:tailEnd type="triangle"/>
          </a:ln>
        </p:spPr>
      </p:sp>
      <p:sp>
        <p:nvSpPr>
          <p:cNvPr id="15" name="Shape 13">
            <a:extLst xmlns:a="http://schemas.openxmlformats.org/drawingml/2006/main">
              <a:ext uri="{FF2B5EF4-FFF2-40B4-BE49-F238E27FC236}">
                <a16:creationId xmlns:a16="http://schemas.microsoft.com/office/drawing/2014/main" id="{83D044EE-855B-4158-8A91-A830FC77B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3703320"/>
            <a:ext cx="3383280" cy="1325880"/>
          </a:xfrm>
          <a:prstGeom xmlns:a="http://schemas.openxmlformats.org/drawingml/2006/main" prst="roundRect">
            <a:avLst>
              <a:gd name="adj" fmla="val 55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D9E2EC"/>
            </a:solidFill>
            <a:prstDash val="solid"/>
          </a:ln>
          <a:effectLst xmlns:a="http://schemas.openxmlformats.org/drawingml/2006/main">
            <a:outerShdw blurRad="19050" dist="50800" dir="2700000" sx="100000" sy="100000" kx="0" ky="0" algn="bl" rotWithShape="0">
              <a:srgbClr val="B8C6D1">
                <a:alpha val="16000"/>
              </a:srgbClr>
            </a:outerShdw>
          </a:effectLst>
        </p:spPr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07562A80-202A-4406-AFD5-C3B28AF0D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3703320"/>
            <a:ext cx="73152" cy="13258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76D2"/>
          </a:solidFill>
          <a:ln xmlns:a="http://schemas.openxmlformats.org/drawingml/2006/main" w="12700">
            <a:solidFill>
              <a:srgbClr val="1976D2"/>
            </a:solidFill>
            <a:prstDash val="solid"/>
          </a:ln>
        </p:spPr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CF50275D-BBFC-49CB-8057-ADA974C3E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552" y="3886200"/>
            <a:ext cx="29718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102A43"/>
                </a:solidFill>
              </a:rPr>
              <a:t>Past → future</a:t>
            </a:r>
            <a:endParaRPr sz="1500"/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4F259D99-5454-4A2F-A2A6-A370D5EA8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552" y="4270248"/>
            <a:ext cx="2944368" cy="6126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243B53"/>
                </a:solidFill>
              </a:rPr>
              <a:t>Chronological splitting instead of random shuffling.</a:t>
            </a:r>
            <a:endParaRPr sz="1150"/>
          </a:p>
        </p:txBody>
      </p:sp>
      <p:sp>
        <p:nvSpPr>
          <p:cNvPr id="19" name="Shape 17">
            <a:extLst xmlns:a="http://schemas.openxmlformats.org/drawingml/2006/main">
              <a:ext uri="{FF2B5EF4-FFF2-40B4-BE49-F238E27FC236}">
                <a16:creationId xmlns:a16="http://schemas.microsoft.com/office/drawing/2014/main" id="{8FB836EF-0B32-4B6D-A021-69A3485A0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7408" y="3703320"/>
            <a:ext cx="3383280" cy="1325880"/>
          </a:xfrm>
          <a:prstGeom xmlns:a="http://schemas.openxmlformats.org/drawingml/2006/main" prst="roundRect">
            <a:avLst>
              <a:gd name="adj" fmla="val 55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D9E2EC"/>
            </a:solidFill>
            <a:prstDash val="solid"/>
          </a:ln>
          <a:effectLst xmlns:a="http://schemas.openxmlformats.org/drawingml/2006/main">
            <a:outerShdw blurRad="19050" dist="50800" dir="2700000" sx="100000" sy="100000" kx="0" ky="0" algn="bl" rotWithShape="0">
              <a:srgbClr val="B8C6D1">
                <a:alpha val="16000"/>
              </a:srgbClr>
            </a:outerShdw>
          </a:effectLst>
        </p:spPr>
      </p:sp>
      <p:sp>
        <p:nvSpPr>
          <p:cNvPr id="20" name="Shape 18">
            <a:extLst xmlns:a="http://schemas.openxmlformats.org/drawingml/2006/main">
              <a:ext uri="{FF2B5EF4-FFF2-40B4-BE49-F238E27FC236}">
                <a16:creationId xmlns:a16="http://schemas.microsoft.com/office/drawing/2014/main" id="{D59145CB-0F4C-4ECD-A635-6CFECE36E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7408" y="3703320"/>
            <a:ext cx="73152" cy="13258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B1BC"/>
          </a:solidFill>
          <a:ln xmlns:a="http://schemas.openxmlformats.org/drawingml/2006/main" w="12700">
            <a:solidFill>
              <a:srgbClr val="2CB1BC"/>
            </a:solidFill>
            <a:prstDash val="solid"/>
          </a:ln>
        </p:spPr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4C099D3A-2FF6-45B3-A726-BAA76D749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3440" y="3886200"/>
            <a:ext cx="29718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102A43"/>
                </a:solidFill>
              </a:rPr>
              <a:t>Past sales only</a:t>
            </a:r>
            <a:endParaRPr sz="1500"/>
          </a:p>
        </p:txBody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26AD25A6-60DD-4CBE-90F3-93C96EAD5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3440" y="4270248"/>
            <a:ext cx="2944368" cy="6126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243B53"/>
                </a:solidFill>
              </a:rPr>
              <a:t>Lag and rolling features use shift(1): the current target cannot enter its own features.</a:t>
            </a:r>
            <a:endParaRPr sz="1150"/>
          </a:p>
        </p:txBody>
      </p:sp>
      <p:sp>
        <p:nvSpPr>
          <p:cNvPr id="23" name="Shape 21">
            <a:extLst xmlns:a="http://schemas.openxmlformats.org/drawingml/2006/main">
              <a:ext uri="{FF2B5EF4-FFF2-40B4-BE49-F238E27FC236}">
                <a16:creationId xmlns:a16="http://schemas.microsoft.com/office/drawing/2014/main" id="{EAF94819-F582-4C59-B8F2-CBBB789ED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3296" y="3703320"/>
            <a:ext cx="3383280" cy="1325880"/>
          </a:xfrm>
          <a:prstGeom xmlns:a="http://schemas.openxmlformats.org/drawingml/2006/main" prst="roundRect">
            <a:avLst>
              <a:gd name="adj" fmla="val 55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D9E2EC"/>
            </a:solidFill>
            <a:prstDash val="solid"/>
          </a:ln>
          <a:effectLst xmlns:a="http://schemas.openxmlformats.org/drawingml/2006/main">
            <a:outerShdw blurRad="19050" dist="50800" dir="2700000" sx="100000" sy="100000" kx="0" ky="0" algn="bl" rotWithShape="0">
              <a:srgbClr val="B8C6D1">
                <a:alpha val="16000"/>
              </a:srgbClr>
            </a:outerShdw>
          </a:effectLst>
        </p:spPr>
      </p:sp>
      <p:sp>
        <p:nvSpPr>
          <p:cNvPr id="24" name="Shape 22">
            <a:extLst xmlns:a="http://schemas.openxmlformats.org/drawingml/2006/main">
              <a:ext uri="{FF2B5EF4-FFF2-40B4-BE49-F238E27FC236}">
                <a16:creationId xmlns:a16="http://schemas.microsoft.com/office/drawing/2014/main" id="{DE065615-90D5-43CF-87A8-858FA5CAC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3296" y="3703320"/>
            <a:ext cx="73152" cy="13258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4545"/>
          </a:solidFill>
          <a:ln xmlns:a="http://schemas.openxmlformats.org/drawingml/2006/main" w="12700">
            <a:solidFill>
              <a:srgbClr val="D64545"/>
            </a:solidFill>
            <a:prstDash val="solid"/>
          </a:ln>
        </p:spPr>
      </p:sp>
      <p:sp>
        <p:nvSpPr>
          <p:cNvPr id="25" name="Text 23">
            <a:extLst xmlns:a="http://schemas.openxmlformats.org/drawingml/2006/main">
              <a:ext uri="{FF2B5EF4-FFF2-40B4-BE49-F238E27FC236}">
                <a16:creationId xmlns:a16="http://schemas.microsoft.com/office/drawing/2014/main" id="{7D1D32D9-376F-48CD-A3F5-B82AAE13F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9328" y="3886200"/>
            <a:ext cx="29718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102A43"/>
                </a:solidFill>
              </a:rPr>
              <a:t>Test does not choose the winner</a:t>
            </a:r>
            <a:endParaRPr sz="1500"/>
          </a:p>
        </p:txBody>
      </p:sp>
      <p:sp>
        <p:nvSpPr>
          <p:cNvPr id="26" name="Text 24">
            <a:extLst xmlns:a="http://schemas.openxmlformats.org/drawingml/2006/main">
              <a:ext uri="{FF2B5EF4-FFF2-40B4-BE49-F238E27FC236}">
                <a16:creationId xmlns:a16="http://schemas.microsoft.com/office/drawing/2014/main" id="{3F947079-A115-4DF8-B800-5A13AADD2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9328" y="4270248"/>
            <a:ext cx="2944368" cy="6126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243B53"/>
                </a:solidFill>
              </a:rPr>
              <a:t>The model was not tuned again after the test.</a:t>
            </a:r>
            <a:endParaRPr sz="1150"/>
          </a:p>
        </p:txBody>
      </p:sp>
      <p:sp>
        <p:nvSpPr>
          <p:cNvPr id="27" name="Text 25">
            <a:extLst xmlns:a="http://schemas.openxmlformats.org/drawingml/2006/main">
              <a:ext uri="{FF2B5EF4-FFF2-40B4-BE49-F238E27FC236}">
                <a16:creationId xmlns:a16="http://schemas.microsoft.com/office/drawing/2014/main" id="{19BE310F-3018-4B15-B9DB-CD3B49D6B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6190488"/>
            <a:ext cx="1042416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i="1">
                <a:solidFill>
                  <a:srgbClr val="627D98"/>
                </a:solidFill>
              </a:rPr>
              <a:t>Checks: chronological order, exact lags, duplicate keys, missing values, and feature availability.</a:t>
            </a:r>
            <a:endParaRPr sz="1000"/>
          </a:p>
        </p:txBody>
      </p:sp>
      <p:sp>
        <p:nvSpPr>
          <p:cNvPr id="28" name="Slide Number Placeholder 0">
            <a:extLst xmlns:a="http://schemas.openxmlformats.org/drawingml/2006/main">
              <a:ext uri="{FF2B5EF4-FFF2-40B4-BE49-F238E27FC236}">
                <a16:creationId xmlns:a16="http://schemas.microsoft.com/office/drawing/2014/main" id="{E588B0DB-EB80-4FEE-8CE6-970EE811F347}"/>
              </a:ext>
            </a:extLst>
          </p:cNvPr>
          <p:cNvSpPr>
            <a:spLocks xmlns:a="http://schemas.openxmlformats.org/drawingml/2006/main" noGrp="1"/>
          </p:cNvSpPr>
          <p:nvPr>
            <p:ph type="sldNum" idx="4294967295"/>
          </p:nvPr>
        </p:nvSpPr>
        <p:spPr>
          <a:xfrm xmlns:a="http://schemas.openxmlformats.org/drawingml/2006/main">
            <a:off x="11274552" y="6565392"/>
            <a:ext cx="411480" cy="1371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80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 xmlns:a="http://schemas.openxmlformats.org/drawingml/2006/main">
            <a:pPr algn="r">
              <a:buNone/>
            </a:pPr>
            <a:fld id="{F7021451-1387-4CA6-816F-3879F97B5CBC}" type="slidenum">
              <a:rPr b="0"/>
              <a:t>10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960360820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735D6DAF-6C09-486E-8F6D-87E94EBCD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530352"/>
            <a:ext cx="292608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110">
                <a:solidFill>
                  <a:srgbClr val="1976D2"/>
                </a:solidFill>
              </a:rPr>
              <a:t>5 • BASELINE AND MODELS</a:t>
            </a:r>
            <a:endParaRPr sz="10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DA58D81B-BCCF-4CCD-8583-C798323DB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804672"/>
            <a:ext cx="1097280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700" b="1">
                <a:solidFill>
                  <a:srgbClr val="102A43"/>
                </a:solidFill>
              </a:rPr>
              <a:t>Experiments: why Random Forest was selected</a:t>
            </a:r>
            <a:endParaRPr sz="2700"/>
          </a:p>
        </p:txBody>
      </p:sp>
      <p:graphicFrame>
        <p:nvGraphicFramePr>
          <p:cNvPr id="29" name="Chart 0"/>
          <p:cNvGraphicFramePr/>
          <p:nvPr/>
        </p:nvGraphicFramePr>
        <p:xfrm>
          <a:off xmlns:a="http://schemas.openxmlformats.org/drawingml/2006/main" x="685800" y="1554480"/>
          <a:ext xmlns:a="http://schemas.openxmlformats.org/drawingml/2006/main" cx="5623560" cy="393192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a4f53a57a39743f9"/>
          </a:graphicData>
        </a:graphic>
      </p:graphicFrame>
      <p:sp>
        <p:nvSpPr>
          <p:cNvPr id="5" name="Shape 2">
            <a:extLst xmlns:a="http://schemas.openxmlformats.org/drawingml/2006/main">
              <a:ext uri="{FF2B5EF4-FFF2-40B4-BE49-F238E27FC236}">
                <a16:creationId xmlns:a16="http://schemas.microsoft.com/office/drawing/2014/main" id="{05F39FB6-0879-48DF-B807-D29950EF4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0840" y="1600200"/>
            <a:ext cx="4617720" cy="109728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D9E2EC"/>
            </a:solidFill>
            <a:prstDash val="solid"/>
          </a:ln>
          <a:effectLst xmlns:a="http://schemas.openxmlformats.org/drawingml/2006/main">
            <a:outerShdw blurRad="19050" dist="50800" dir="2700000" sx="100000" sy="100000" kx="0" ky="0" algn="bl" rotWithShape="0">
              <a:srgbClr val="B8C6D1">
                <a:alpha val="16000"/>
              </a:srgbClr>
            </a:outerShdw>
          </a:effectLst>
        </p:spPr>
      </p:sp>
      <p:sp>
        <p:nvSpPr>
          <p:cNvPr id="6" name="Shape 3">
            <a:extLst xmlns:a="http://schemas.openxmlformats.org/drawingml/2006/main">
              <a:ext uri="{FF2B5EF4-FFF2-40B4-BE49-F238E27FC236}">
                <a16:creationId xmlns:a16="http://schemas.microsoft.com/office/drawing/2014/main" id="{27304D80-0427-4390-B961-54D2F259A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0840" y="1600200"/>
            <a:ext cx="73152" cy="10972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76D2"/>
          </a:solidFill>
          <a:ln xmlns:a="http://schemas.openxmlformats.org/drawingml/2006/main" w="12700">
            <a:solidFill>
              <a:srgbClr val="1976D2"/>
            </a:solidFill>
            <a:prstDash val="solid"/>
          </a:ln>
        </p:spPr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AA24B927-049E-47BA-84D1-9650D4526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6872" y="1783080"/>
            <a:ext cx="42062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102A43"/>
                </a:solidFill>
              </a:rPr>
              <a:t>Baseline: 4.517 MAE</a:t>
            </a:r>
            <a:endParaRPr sz="1500"/>
          </a:p>
        </p:txBody>
      </p:sp>
      <p:sp>
        <p:nvSpPr>
          <p:cNvPr id="8" name="Text 5">
            <a:extLst xmlns:a="http://schemas.openxmlformats.org/drawingml/2006/main">
              <a:ext uri="{FF2B5EF4-FFF2-40B4-BE49-F238E27FC236}">
                <a16:creationId xmlns:a16="http://schemas.microsoft.com/office/drawing/2014/main" id="{72D1050A-D826-45E5-A1D0-89F622584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6872" y="2167128"/>
            <a:ext cx="4178808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243B53"/>
                </a:solidFill>
              </a:rPr>
              <a:t>Mean sales during the previous four weeks.</a:t>
            </a:r>
            <a:endParaRPr sz="1150"/>
          </a:p>
        </p:txBody>
      </p:sp>
      <p:sp>
        <p:nvSpPr>
          <p:cNvPr id="9" name="Shape 6">
            <a:extLst xmlns:a="http://schemas.openxmlformats.org/drawingml/2006/main">
              <a:ext uri="{FF2B5EF4-FFF2-40B4-BE49-F238E27FC236}">
                <a16:creationId xmlns:a16="http://schemas.microsoft.com/office/drawing/2014/main" id="{421FD4D3-1CB5-467C-81F1-02EA72DE4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0840" y="2880360"/>
            <a:ext cx="4617720" cy="109728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D9E2EC"/>
            </a:solidFill>
            <a:prstDash val="solid"/>
          </a:ln>
          <a:effectLst xmlns:a="http://schemas.openxmlformats.org/drawingml/2006/main">
            <a:outerShdw blurRad="19050" dist="50800" dir="2700000" sx="100000" sy="100000" kx="0" ky="0" algn="bl" rotWithShape="0">
              <a:srgbClr val="B8C6D1">
                <a:alpha val="16000"/>
              </a:srgbClr>
            </a:outerShdw>
          </a:effectLst>
        </p:spPr>
      </p:sp>
      <p:sp>
        <p:nvSpPr>
          <p:cNvPr id="10" name="Shape 7">
            <a:extLst xmlns:a="http://schemas.openxmlformats.org/drawingml/2006/main">
              <a:ext uri="{FF2B5EF4-FFF2-40B4-BE49-F238E27FC236}">
                <a16:creationId xmlns:a16="http://schemas.microsoft.com/office/drawing/2014/main" id="{DA471C2E-21BF-432C-BA41-0BF4B86C9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0840" y="2880360"/>
            <a:ext cx="73152" cy="10972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12700">
            <a:solidFill>
              <a:srgbClr val="F59E0B"/>
            </a:solidFill>
            <a:prstDash val="solid"/>
          </a:ln>
        </p:spPr>
      </p:sp>
      <p:sp>
        <p:nvSpPr>
          <p:cNvPr id="11" name="Text 8">
            <a:extLst xmlns:a="http://schemas.openxmlformats.org/drawingml/2006/main">
              <a:ext uri="{FF2B5EF4-FFF2-40B4-BE49-F238E27FC236}">
                <a16:creationId xmlns:a16="http://schemas.microsoft.com/office/drawing/2014/main" id="{49EC19E1-3C6B-4CFB-BAE0-F1A0E71B3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6872" y="3063240"/>
            <a:ext cx="42062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102A43"/>
                </a:solidFill>
              </a:rPr>
              <a:t>Linear Regression: 4.766</a:t>
            </a:r>
            <a:endParaRPr sz="1500"/>
          </a:p>
        </p:txBody>
      </p:sp>
      <p:sp>
        <p:nvSpPr>
          <p:cNvPr id="12" name="Text 9">
            <a:extLst xmlns:a="http://schemas.openxmlformats.org/drawingml/2006/main">
              <a:ext uri="{FF2B5EF4-FFF2-40B4-BE49-F238E27FC236}">
                <a16:creationId xmlns:a16="http://schemas.microsoft.com/office/drawing/2014/main" id="{7C83A1A1-F83C-4A5E-803B-5287E5789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6872" y="3447288"/>
            <a:ext cx="4178808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243B53"/>
                </a:solidFill>
              </a:rPr>
              <a:t>The simple model missed nonlinear relationships and performed worse than the baseline.</a:t>
            </a:r>
            <a:endParaRPr sz="1150"/>
          </a:p>
        </p:txBody>
      </p:sp>
      <p:sp>
        <p:nvSpPr>
          <p:cNvPr id="13" name="Shape 10">
            <a:extLst xmlns:a="http://schemas.openxmlformats.org/drawingml/2006/main">
              <a:ext uri="{FF2B5EF4-FFF2-40B4-BE49-F238E27FC236}">
                <a16:creationId xmlns:a16="http://schemas.microsoft.com/office/drawing/2014/main" id="{4CCE3452-22FA-475E-824F-7AEF1B87E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0840" y="4160520"/>
            <a:ext cx="4617720" cy="109728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D9E2EC"/>
            </a:solidFill>
            <a:prstDash val="solid"/>
          </a:ln>
          <a:effectLst xmlns:a="http://schemas.openxmlformats.org/drawingml/2006/main">
            <a:outerShdw blurRad="19050" dist="50800" dir="2700000" sx="100000" sy="100000" kx="0" ky="0" algn="bl" rotWithShape="0">
              <a:srgbClr val="B8C6D1">
                <a:alpha val="16000"/>
              </a:srgbClr>
            </a:outerShdw>
          </a:effectLst>
        </p:spPr>
      </p:sp>
      <p:sp>
        <p:nvSpPr>
          <p:cNvPr id="14" name="Shape 11">
            <a:extLst xmlns:a="http://schemas.openxmlformats.org/drawingml/2006/main">
              <a:ext uri="{FF2B5EF4-FFF2-40B4-BE49-F238E27FC236}">
                <a16:creationId xmlns:a16="http://schemas.microsoft.com/office/drawing/2014/main" id="{A00A0F9D-44A9-458C-8F1D-6D52765A2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0840" y="4160520"/>
            <a:ext cx="73152" cy="10972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8F65"/>
          </a:solidFill>
          <a:ln xmlns:a="http://schemas.openxmlformats.org/drawingml/2006/main" w="12700">
            <a:solidFill>
              <a:srgbClr val="178F65"/>
            </a:solidFill>
            <a:prstDash val="solid"/>
          </a:ln>
        </p:spPr>
      </p:sp>
      <p:sp>
        <p:nvSpPr>
          <p:cNvPr id="15" name="Text 12">
            <a:extLst xmlns:a="http://schemas.openxmlformats.org/drawingml/2006/main">
              <a:ext uri="{FF2B5EF4-FFF2-40B4-BE49-F238E27FC236}">
                <a16:creationId xmlns:a16="http://schemas.microsoft.com/office/drawing/2014/main" id="{18835E66-4D98-4C27-92B6-76E874434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6872" y="4343400"/>
            <a:ext cx="42062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102A43"/>
                </a:solidFill>
              </a:rPr>
              <a:t>Random Forest: 4.270</a:t>
            </a:r>
            <a:endParaRPr sz="1500"/>
          </a:p>
        </p:txBody>
      </p:sp>
      <p:sp>
        <p:nvSpPr>
          <p:cNvPr id="16" name="Text 13">
            <a:extLst xmlns:a="http://schemas.openxmlformats.org/drawingml/2006/main">
              <a:ext uri="{FF2B5EF4-FFF2-40B4-BE49-F238E27FC236}">
                <a16:creationId xmlns:a16="http://schemas.microsoft.com/office/drawing/2014/main" id="{3335C9FB-3778-44F3-9402-0940EF0A4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6872" y="4727448"/>
            <a:ext cx="4178808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243B53"/>
                </a:solidFill>
              </a:rPr>
              <a:t>Best validation MAE: 5.48% improvement over the baseline.</a:t>
            </a:r>
            <a:endParaRPr sz="1150"/>
          </a:p>
        </p:txBody>
      </p:sp>
      <p:sp>
        <p:nvSpPr>
          <p:cNvPr id="17" name="Text 14">
            <a:extLst xmlns:a="http://schemas.openxmlformats.org/drawingml/2006/main">
              <a:ext uri="{FF2B5EF4-FFF2-40B4-BE49-F238E27FC236}">
                <a16:creationId xmlns:a16="http://schemas.microsoft.com/office/drawing/2014/main" id="{027C679A-650C-4209-8CCA-C9EAED740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6190488"/>
            <a:ext cx="1042416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i="1">
                <a:solidFill>
                  <a:srgbClr val="627D98"/>
                </a:solidFill>
              </a:rPr>
              <a:t>The same split, 20 features, and metric were used; parameters and artifacts for every run were saved in MLflow.</a:t>
            </a:r>
            <a:endParaRPr sz="1000"/>
          </a:p>
        </p:txBody>
      </p:sp>
      <p:sp>
        <p:nvSpPr>
          <p:cNvPr id="25" name="Slide Number Placeholder 0">
            <a:extLst xmlns:a="http://schemas.openxmlformats.org/drawingml/2006/main">
              <a:ext uri="{FF2B5EF4-FFF2-40B4-BE49-F238E27FC236}">
                <a16:creationId xmlns:a16="http://schemas.microsoft.com/office/drawing/2014/main" id="{169A3CAA-5CA9-49BF-AA44-A8F9915E4382}"/>
              </a:ext>
            </a:extLst>
          </p:cNvPr>
          <p:cNvSpPr>
            <a:spLocks xmlns:a="http://schemas.openxmlformats.org/drawingml/2006/main" noGrp="1"/>
          </p:cNvSpPr>
          <p:nvPr>
            <p:ph type="sldNum" idx="4294967295"/>
          </p:nvPr>
        </p:nvSpPr>
        <p:spPr>
          <a:xfrm xmlns:a="http://schemas.openxmlformats.org/drawingml/2006/main">
            <a:off x="11274552" y="6565392"/>
            <a:ext cx="411480" cy="1371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80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 xmlns:a="http://schemas.openxmlformats.org/drawingml/2006/main">
            <a:pPr algn="r">
              <a:buNone/>
            </a:pPr>
            <a:fld id="{F7021451-1387-4CA6-816F-3879F97B5CBC}" type="slidenum">
              <a:rPr b="0"/>
              <a:t>11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516475614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58D6CEF8-FE2C-424D-A0D7-2487F73C8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530352"/>
            <a:ext cx="292608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110">
                <a:solidFill>
                  <a:srgbClr val="1976D2"/>
                </a:solidFill>
              </a:rPr>
              <a:t>6 • PROTECTED TEST</a:t>
            </a:r>
            <a:endParaRPr sz="10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18806CA2-1589-4AA1-9C86-673E74ADA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804672"/>
            <a:ext cx="1097280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700" b="1">
                <a:solidFill>
                  <a:srgbClr val="102A43"/>
                </a:solidFill>
              </a:rPr>
              <a:t>Final result on unseen data</a:t>
            </a:r>
            <a:endParaRPr sz="270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E05DF5C1-8FC8-4BEE-AF73-67D25BC96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1600200"/>
            <a:ext cx="2331720" cy="1005840"/>
          </a:xfrm>
          <a:prstGeom xmlns:a="http://schemas.openxmlformats.org/drawingml/2006/main" prst="roundRect">
            <a:avLst>
              <a:gd name="adj" fmla="val 545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9E2EC"/>
            </a:solidFill>
            <a:prstDash val="solid"/>
          </a:ln>
        </p:spPr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3EB06B58-6445-4D5C-ACE9-A08ED7135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1728216"/>
            <a:ext cx="2148840" cy="4023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400" b="1">
                <a:solidFill>
                  <a:srgbClr val="1976D2"/>
                </a:solidFill>
              </a:rPr>
              <a:t>57 480</a:t>
            </a:r>
            <a:endParaRPr sz="2400"/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F157AAC5-ADF5-4FD7-9826-2231FE5B4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8" y="2212848"/>
            <a:ext cx="2112264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>
                <a:solidFill>
                  <a:srgbClr val="627D98"/>
                </a:solidFill>
              </a:rPr>
              <a:t>test rows</a:t>
            </a:r>
            <a:endParaRPr sz="1050"/>
          </a:p>
        </p:txBody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996ACC15-BE92-4AF5-931D-5555337AF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7560" y="1600200"/>
            <a:ext cx="2331720" cy="1005840"/>
          </a:xfrm>
          <a:prstGeom xmlns:a="http://schemas.openxmlformats.org/drawingml/2006/main" prst="roundRect">
            <a:avLst>
              <a:gd name="adj" fmla="val 545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9E2EC"/>
            </a:solidFill>
            <a:prstDash val="solid"/>
          </a:ln>
        </p:spPr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9CAEC44B-5A9C-402E-BF74-6B6368692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1728216"/>
            <a:ext cx="2148840" cy="4023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400" b="1">
                <a:solidFill>
                  <a:srgbClr val="178F65"/>
                </a:solidFill>
              </a:rPr>
              <a:t>4.4179</a:t>
            </a:r>
            <a:endParaRPr sz="2400"/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A70204EA-8F29-4C8E-9613-C4B77E8D7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7288" y="2212848"/>
            <a:ext cx="2112264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>
                <a:solidFill>
                  <a:srgbClr val="627D98"/>
                </a:solidFill>
              </a:rPr>
              <a:t>Random Forest MAE</a:t>
            </a:r>
            <a:endParaRPr sz="1050"/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047857FC-C589-49FF-AFCA-F4B645C16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1600200"/>
            <a:ext cx="2331720" cy="1005840"/>
          </a:xfrm>
          <a:prstGeom xmlns:a="http://schemas.openxmlformats.org/drawingml/2006/main" prst="roundRect">
            <a:avLst>
              <a:gd name="adj" fmla="val 545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9E2EC"/>
            </a:solidFill>
            <a:prstDash val="solid"/>
          </a:ln>
        </p:spPr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73F49ED4-5BCB-49B3-B151-65FBA3AF6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0" y="1728216"/>
            <a:ext cx="2148840" cy="4023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400" b="1">
                <a:solidFill>
                  <a:srgbClr val="F59E0B"/>
                </a:solidFill>
              </a:rPr>
              <a:t>4.7874</a:t>
            </a:r>
            <a:endParaRPr sz="2400"/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6D954EE8-7A83-481F-BAC4-4FBA0B7F4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3328" y="2212848"/>
            <a:ext cx="2112264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>
                <a:solidFill>
                  <a:srgbClr val="627D98"/>
                </a:solidFill>
              </a:rPr>
              <a:t>baseline MAE</a:t>
            </a:r>
            <a:endParaRPr sz="1050"/>
          </a:p>
        </p:txBody>
      </p:sp>
      <p:sp>
        <p:nvSpPr>
          <p:cNvPr id="13" name="Shape 11">
            <a:extLst xmlns:a="http://schemas.openxmlformats.org/drawingml/2006/main">
              <a:ext uri="{FF2B5EF4-FFF2-40B4-BE49-F238E27FC236}">
                <a16:creationId xmlns:a16="http://schemas.microsoft.com/office/drawing/2014/main" id="{41F2AD76-E3DD-4E53-B678-FB9444BA4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9640" y="1600200"/>
            <a:ext cx="2331720" cy="1005840"/>
          </a:xfrm>
          <a:prstGeom xmlns:a="http://schemas.openxmlformats.org/drawingml/2006/main" prst="roundRect">
            <a:avLst>
              <a:gd name="adj" fmla="val 545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9E2EC"/>
            </a:solidFill>
            <a:prstDash val="solid"/>
          </a:ln>
        </p:spPr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26D9D909-338D-4444-BD91-167DB61B7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1080" y="1728216"/>
            <a:ext cx="2148840" cy="4023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400" b="1">
                <a:solidFill>
                  <a:srgbClr val="178F65"/>
                </a:solidFill>
              </a:rPr>
              <a:t>7.72%</a:t>
            </a:r>
            <a:endParaRPr sz="2400"/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7038C802-B363-41CA-B3D6-37382FCC2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59368" y="2212848"/>
            <a:ext cx="2112264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>
                <a:solidFill>
                  <a:srgbClr val="627D98"/>
                </a:solidFill>
              </a:rPr>
              <a:t>MAE improvement</a:t>
            </a:r>
            <a:endParaRPr sz="1050"/>
          </a:p>
        </p:txBody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02C67062-0F2B-444B-BF03-F4461C06B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46120"/>
            <a:ext cx="10332720" cy="1325880"/>
          </a:xfrm>
          <a:prstGeom xmlns:a="http://schemas.openxmlformats.org/drawingml/2006/main" prst="roundRect">
            <a:avLst>
              <a:gd name="adj" fmla="val 4138"/>
            </a:avLst>
          </a:prstGeom>
          <a:solidFill xmlns:a="http://schemas.openxmlformats.org/drawingml/2006/main">
            <a:srgbClr val="E8F5EE"/>
          </a:solidFill>
          <a:ln xmlns:a="http://schemas.openxmlformats.org/drawingml/2006/main" w="12700">
            <a:solidFill>
              <a:srgbClr val="9AD2B8"/>
            </a:solidFill>
            <a:prstDash val="solid"/>
          </a:ln>
        </p:spPr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1E351C61-1E0B-493E-AB11-BD906224B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40" y="3529584"/>
            <a:ext cx="292608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 b="1">
                <a:solidFill>
                  <a:srgbClr val="178F65"/>
                </a:solidFill>
              </a:rPr>
              <a:t>What does MAE 4.4179 mean?</a:t>
            </a:r>
            <a:endParaRPr sz="1800"/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9F3E1997-06B5-4961-841B-87A0C93E1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1920" y="3401568"/>
            <a:ext cx="6720840" cy="594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700" b="1">
                <a:solidFill>
                  <a:srgbClr val="102A43"/>
                </a:solidFill>
              </a:rPr>
              <a:t>On average, the forecast differs from actual weekly sales by about 4.42 units.</a:t>
            </a:r>
            <a:endParaRPr sz="1700"/>
          </a:p>
        </p:txBody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DFC3B867-75CC-4332-83A2-588D325B1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40" y="4983480"/>
            <a:ext cx="9738360" cy="6217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>
                <a:solidFill>
                  <a:srgbClr val="243B53"/>
                </a:solidFill>
              </a:rPr>
              <a:t>Additional metric: RMSE = 9.1329. It penalizes large errors more strongly and shows that rare difficult weeks still matter.</a:t>
            </a:r>
            <a:endParaRPr sz="1400"/>
          </a:p>
        </p:txBody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FAC30120-4D17-458B-87B0-2E75F5BAC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6190488"/>
            <a:ext cx="1042416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i="1">
                <a:solidFill>
                  <a:srgbClr val="627D98"/>
                </a:solidFill>
              </a:rPr>
              <a:t>Honest conclusion: the model beats the baseline, but improvement does not replace error analysis.</a:t>
            </a:r>
            <a:endParaRPr sz="1000"/>
          </a:p>
        </p:txBody>
      </p:sp>
      <p:sp>
        <p:nvSpPr>
          <p:cNvPr id="25" name="Slide Number Placeholder 0">
            <a:extLst xmlns:a="http://schemas.openxmlformats.org/drawingml/2006/main">
              <a:ext uri="{FF2B5EF4-FFF2-40B4-BE49-F238E27FC236}">
                <a16:creationId xmlns:a16="http://schemas.microsoft.com/office/drawing/2014/main" id="{B2540C75-C4A7-446F-842C-A8C6B5ED5007}"/>
              </a:ext>
            </a:extLst>
          </p:cNvPr>
          <p:cNvSpPr>
            <a:spLocks xmlns:a="http://schemas.openxmlformats.org/drawingml/2006/main" noGrp="1"/>
          </p:cNvSpPr>
          <p:nvPr>
            <p:ph type="sldNum" idx="4294967295"/>
          </p:nvPr>
        </p:nvSpPr>
        <p:spPr>
          <a:xfrm xmlns:a="http://schemas.openxmlformats.org/drawingml/2006/main">
            <a:off x="11274552" y="6565392"/>
            <a:ext cx="411480" cy="1371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80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 xmlns:a="http://schemas.openxmlformats.org/drawingml/2006/main">
            <a:pPr algn="r">
              <a:buNone/>
            </a:pPr>
            <a:fld id="{F7021451-1387-4CA6-816F-3879F97B5CBC}" type="slidenum">
              <a:rPr b="0"/>
              <a:t>12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58459627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E6B6CF7A-E46E-4E90-B9D3-72BC2C7C9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530352"/>
            <a:ext cx="292608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110">
                <a:solidFill>
                  <a:srgbClr val="1976D2"/>
                </a:solidFill>
              </a:rPr>
              <a:t>7 • ERROR ANALYSIS</a:t>
            </a:r>
            <a:endParaRPr sz="10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6F8BDB23-5286-4F55-912C-FA2971E76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804672"/>
            <a:ext cx="1097280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700" b="1">
                <a:solidFill>
                  <a:srgbClr val="102A43"/>
                </a:solidFill>
              </a:rPr>
              <a:t>Where the model makes larger errors</a:t>
            </a:r>
            <a:endParaRPr sz="270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D10DD17D-D10B-4160-AC27-A3F864D59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1508760"/>
            <a:ext cx="2423160" cy="1005840"/>
          </a:xfrm>
          <a:prstGeom xmlns:a="http://schemas.openxmlformats.org/drawingml/2006/main" prst="roundRect">
            <a:avLst>
              <a:gd name="adj" fmla="val 545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9E2EC"/>
            </a:solidFill>
            <a:prstDash val="solid"/>
          </a:ln>
        </p:spPr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68FAABF6-AD81-4B56-B878-0DF887397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1636776"/>
            <a:ext cx="2240280" cy="4023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400" b="1">
                <a:solidFill>
                  <a:srgbClr val="178F65"/>
                </a:solidFill>
              </a:rPr>
              <a:t>76.08%</a:t>
            </a:r>
            <a:endParaRPr sz="2400"/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C5505746-3223-4A21-B964-8E40C0F14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8" y="2121408"/>
            <a:ext cx="2203704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>
                <a:solidFill>
                  <a:srgbClr val="627D98"/>
                </a:solidFill>
              </a:rPr>
              <a:t>errors ≤ 5 units</a:t>
            </a:r>
            <a:endParaRPr sz="1050"/>
          </a:p>
        </p:txBody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AE8515E2-A65B-4645-A606-64519781B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1508760"/>
            <a:ext cx="2423160" cy="1005840"/>
          </a:xfrm>
          <a:prstGeom xmlns:a="http://schemas.openxmlformats.org/drawingml/2006/main" prst="roundRect">
            <a:avLst>
              <a:gd name="adj" fmla="val 545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9E2EC"/>
            </a:solidFill>
            <a:prstDash val="solid"/>
          </a:ln>
        </p:spPr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A4A36059-056E-4DF4-8C43-E871CF6EB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0440" y="1636776"/>
            <a:ext cx="2240280" cy="4023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400" b="1">
                <a:solidFill>
                  <a:srgbClr val="1976D2"/>
                </a:solidFill>
              </a:rPr>
              <a:t>2.34</a:t>
            </a:r>
            <a:endParaRPr sz="2400"/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5E6C5A0B-F25A-407D-84AC-FC75CC426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38728" y="2121408"/>
            <a:ext cx="2203704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>
                <a:solidFill>
                  <a:srgbClr val="627D98"/>
                </a:solidFill>
              </a:rPr>
              <a:t>median absolute error</a:t>
            </a:r>
            <a:endParaRPr sz="1050"/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53391DDB-1563-4B16-AEDB-37F4F169B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6480" y="1508760"/>
            <a:ext cx="2423160" cy="1005840"/>
          </a:xfrm>
          <a:prstGeom xmlns:a="http://schemas.openxmlformats.org/drawingml/2006/main" prst="roundRect">
            <a:avLst>
              <a:gd name="adj" fmla="val 545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9E2EC"/>
            </a:solidFill>
            <a:prstDash val="solid"/>
          </a:ln>
        </p:spPr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A772DBCA-B016-49EB-881A-DBC4A1309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0" y="1636776"/>
            <a:ext cx="2240280" cy="4023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400" b="1">
                <a:solidFill>
                  <a:srgbClr val="D64545"/>
                </a:solidFill>
              </a:rPr>
              <a:t>12.33</a:t>
            </a:r>
            <a:endParaRPr sz="2400"/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B5592D9E-C026-4492-AD21-55BEBF14B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6208" y="2121408"/>
            <a:ext cx="2203704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>
                <a:solidFill>
                  <a:srgbClr val="627D98"/>
                </a:solidFill>
              </a:rPr>
              <a:t>MAE when demand is 21+</a:t>
            </a:r>
            <a:endParaRPr sz="1050"/>
          </a:p>
        </p:txBody>
      </p:sp>
      <p:sp>
        <p:nvSpPr>
          <p:cNvPr id="13" name="Shape 11">
            <a:extLst xmlns:a="http://schemas.openxmlformats.org/drawingml/2006/main">
              <a:ext uri="{FF2B5EF4-FFF2-40B4-BE49-F238E27FC236}">
                <a16:creationId xmlns:a16="http://schemas.microsoft.com/office/drawing/2014/main" id="{A62DFDCD-9943-4F95-8915-82B857276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3960" y="1508760"/>
            <a:ext cx="2423160" cy="1005840"/>
          </a:xfrm>
          <a:prstGeom xmlns:a="http://schemas.openxmlformats.org/drawingml/2006/main" prst="roundRect">
            <a:avLst>
              <a:gd name="adj" fmla="val 545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9E2EC"/>
            </a:solidFill>
            <a:prstDash val="solid"/>
          </a:ln>
        </p:spPr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24769C04-8273-4D4A-B89C-8CFA3B850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1636776"/>
            <a:ext cx="2240280" cy="4023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400" b="1">
                <a:solidFill>
                  <a:srgbClr val="D64545"/>
                </a:solidFill>
              </a:rPr>
              <a:t>−5.10</a:t>
            </a:r>
            <a:endParaRPr sz="2400"/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711CAA87-7BA1-4956-84F5-532E4D695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3688" y="2121408"/>
            <a:ext cx="2203704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>
                <a:solidFill>
                  <a:srgbClr val="627D98"/>
                </a:solidFill>
              </a:rPr>
              <a:t>mean underprediction for 21+</a:t>
            </a:r>
            <a:endParaRPr sz="1050"/>
          </a:p>
        </p:txBody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55216399-78DB-4446-ABFD-2FF4688DB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3063240"/>
            <a:ext cx="3337560" cy="1417320"/>
          </a:xfrm>
          <a:prstGeom xmlns:a="http://schemas.openxmlformats.org/drawingml/2006/main" prst="roundRect">
            <a:avLst>
              <a:gd name="adj" fmla="val 516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D9E2EC"/>
            </a:solidFill>
            <a:prstDash val="solid"/>
          </a:ln>
          <a:effectLst xmlns:a="http://schemas.openxmlformats.org/drawingml/2006/main">
            <a:outerShdw blurRad="19050" dist="50800" dir="2700000" sx="100000" sy="100000" kx="0" ky="0" algn="bl" rotWithShape="0">
              <a:srgbClr val="B8C6D1">
                <a:alpha val="16000"/>
              </a:srgbClr>
            </a:outerShdw>
          </a:effectLst>
        </p:spPr>
      </p:sp>
      <p:sp>
        <p:nvSpPr>
          <p:cNvPr id="17" name="Shape 15">
            <a:extLst xmlns:a="http://schemas.openxmlformats.org/drawingml/2006/main">
              <a:ext uri="{FF2B5EF4-FFF2-40B4-BE49-F238E27FC236}">
                <a16:creationId xmlns:a16="http://schemas.microsoft.com/office/drawing/2014/main" id="{D64E80FF-17DC-4517-8FC8-76DE6BDEF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3063240"/>
            <a:ext cx="73152" cy="14173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12700">
            <a:solidFill>
              <a:srgbClr val="F59E0B"/>
            </a:solidFill>
            <a:prstDash val="solid"/>
          </a:ln>
        </p:spPr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C3FF9098-5329-4B61-A12D-6C143301C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552" y="3246120"/>
            <a:ext cx="29260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102A43"/>
                </a:solidFill>
              </a:rPr>
              <a:t>Weakest store</a:t>
            </a:r>
            <a:endParaRPr sz="1500"/>
          </a:p>
        </p:txBody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8B805951-F9FD-46B3-AE6E-C57C7C867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552" y="3630168"/>
            <a:ext cx="2898648" cy="7040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243B53"/>
                </a:solidFill>
              </a:rPr>
              <a:t>WI_2 has the highest test MAE among stores.</a:t>
            </a:r>
            <a:endParaRPr sz="1150"/>
          </a:p>
        </p:txBody>
      </p:sp>
      <p:sp>
        <p:nvSpPr>
          <p:cNvPr id="20" name="Shape 18">
            <a:extLst xmlns:a="http://schemas.openxmlformats.org/drawingml/2006/main">
              <a:ext uri="{FF2B5EF4-FFF2-40B4-BE49-F238E27FC236}">
                <a16:creationId xmlns:a16="http://schemas.microsoft.com/office/drawing/2014/main" id="{3A108C85-3C38-43D6-A9CE-759B7BE9E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4840" y="3063240"/>
            <a:ext cx="3337560" cy="1417320"/>
          </a:xfrm>
          <a:prstGeom xmlns:a="http://schemas.openxmlformats.org/drawingml/2006/main" prst="roundRect">
            <a:avLst>
              <a:gd name="adj" fmla="val 516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D9E2EC"/>
            </a:solidFill>
            <a:prstDash val="solid"/>
          </a:ln>
          <a:effectLst xmlns:a="http://schemas.openxmlformats.org/drawingml/2006/main">
            <a:outerShdw blurRad="19050" dist="50800" dir="2700000" sx="100000" sy="100000" kx="0" ky="0" algn="bl" rotWithShape="0">
              <a:srgbClr val="B8C6D1">
                <a:alpha val="16000"/>
              </a:srgbClr>
            </a:outerShdw>
          </a:effectLst>
        </p:spPr>
      </p:sp>
      <p:sp>
        <p:nvSpPr>
          <p:cNvPr id="21" name="Shape 19">
            <a:extLst xmlns:a="http://schemas.openxmlformats.org/drawingml/2006/main">
              <a:ext uri="{FF2B5EF4-FFF2-40B4-BE49-F238E27FC236}">
                <a16:creationId xmlns:a16="http://schemas.microsoft.com/office/drawing/2014/main" id="{5362E9B9-F5A7-44DD-80B9-54725DB58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4840" y="3063240"/>
            <a:ext cx="73152" cy="14173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12700">
            <a:solidFill>
              <a:srgbClr val="F59E0B"/>
            </a:solidFill>
            <a:prstDash val="solid"/>
          </a:ln>
        </p:spPr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86A842FE-3FFB-4CAB-8E94-7DCA4B9A0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0872" y="3246120"/>
            <a:ext cx="29260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102A43"/>
                </a:solidFill>
              </a:rPr>
              <a:t>Weakest department</a:t>
            </a:r>
            <a:endParaRPr sz="1500"/>
          </a:p>
        </p:txBody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4CF1DDFE-D7E3-4384-8747-A513030AA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0872" y="3630168"/>
            <a:ext cx="2898648" cy="7040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243B53"/>
                </a:solidFill>
              </a:rPr>
              <a:t>FOODS_3 is the most difficult department by test MAE.</a:t>
            </a:r>
            <a:endParaRPr sz="1150"/>
          </a:p>
        </p:txBody>
      </p:sp>
      <p:sp>
        <p:nvSpPr>
          <p:cNvPr id="24" name="Shape 22">
            <a:extLst xmlns:a="http://schemas.openxmlformats.org/drawingml/2006/main">
              <a:ext uri="{FF2B5EF4-FFF2-40B4-BE49-F238E27FC236}">
                <a16:creationId xmlns:a16="http://schemas.microsoft.com/office/drawing/2014/main" id="{CD69039E-3F89-4F2F-8699-C77881C7A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8160" y="3063240"/>
            <a:ext cx="3337560" cy="1417320"/>
          </a:xfrm>
          <a:prstGeom xmlns:a="http://schemas.openxmlformats.org/drawingml/2006/main" prst="roundRect">
            <a:avLst>
              <a:gd name="adj" fmla="val 516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D9E2EC"/>
            </a:solidFill>
            <a:prstDash val="solid"/>
          </a:ln>
          <a:effectLst xmlns:a="http://schemas.openxmlformats.org/drawingml/2006/main">
            <a:outerShdw blurRad="19050" dist="50800" dir="2700000" sx="100000" sy="100000" kx="0" ky="0" algn="bl" rotWithShape="0">
              <a:srgbClr val="B8C6D1">
                <a:alpha val="16000"/>
              </a:srgbClr>
            </a:outerShdw>
          </a:effectLst>
        </p:spPr>
      </p:sp>
      <p:sp>
        <p:nvSpPr>
          <p:cNvPr id="25" name="Shape 23">
            <a:extLst xmlns:a="http://schemas.openxmlformats.org/drawingml/2006/main">
              <a:ext uri="{FF2B5EF4-FFF2-40B4-BE49-F238E27FC236}">
                <a16:creationId xmlns:a16="http://schemas.microsoft.com/office/drawing/2014/main" id="{894072B0-DEA6-4202-B93C-1CB515168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8160" y="3063240"/>
            <a:ext cx="73152" cy="14173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4545"/>
          </a:solidFill>
          <a:ln xmlns:a="http://schemas.openxmlformats.org/drawingml/2006/main" w="12700">
            <a:solidFill>
              <a:srgbClr val="D64545"/>
            </a:solidFill>
            <a:prstDash val="solid"/>
          </a:ln>
        </p:spPr>
      </p:sp>
      <p:sp>
        <p:nvSpPr>
          <p:cNvPr id="26" name="Text 24">
            <a:extLst xmlns:a="http://schemas.openxmlformats.org/drawingml/2006/main">
              <a:ext uri="{FF2B5EF4-FFF2-40B4-BE49-F238E27FC236}">
                <a16:creationId xmlns:a16="http://schemas.microsoft.com/office/drawing/2014/main" id="{33D0EE55-D823-45A7-AE60-D9CD950CD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4192" y="3246120"/>
            <a:ext cx="29260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102A43"/>
                </a:solidFill>
              </a:rPr>
              <a:t>Main risk</a:t>
            </a:r>
            <a:endParaRPr sz="1500"/>
          </a:p>
        </p:txBody>
      </p:sp>
      <p:sp>
        <p:nvSpPr>
          <p:cNvPr id="27" name="Text 25">
            <a:extLst xmlns:a="http://schemas.openxmlformats.org/drawingml/2006/main">
              <a:ext uri="{FF2B5EF4-FFF2-40B4-BE49-F238E27FC236}">
                <a16:creationId xmlns:a16="http://schemas.microsoft.com/office/drawing/2014/main" id="{04C6A82B-E3D4-4BAF-86A3-3228B6D0C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4192" y="3630168"/>
            <a:ext cx="2898648" cy="7040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243B53"/>
                </a:solidFill>
              </a:rPr>
              <a:t>During demand spikes, the model tends to underpredict — this may cause stock shortages.</a:t>
            </a:r>
            <a:endParaRPr sz="1150"/>
          </a:p>
        </p:txBody>
      </p:sp>
      <p:sp>
        <p:nvSpPr>
          <p:cNvPr id="28" name="Shape 26">
            <a:extLst xmlns:a="http://schemas.openxmlformats.org/drawingml/2006/main">
              <a:ext uri="{FF2B5EF4-FFF2-40B4-BE49-F238E27FC236}">
                <a16:creationId xmlns:a16="http://schemas.microsoft.com/office/drawing/2014/main" id="{DFD49189-BA06-462F-BC57-790A673F0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983480"/>
            <a:ext cx="9418320" cy="658368"/>
          </a:xfrm>
          <a:prstGeom xmlns:a="http://schemas.openxmlformats.org/drawingml/2006/main" prst="roundRect">
            <a:avLst>
              <a:gd name="adj" fmla="val 5556"/>
            </a:avLst>
          </a:prstGeom>
          <a:solidFill xmlns:a="http://schemas.openxmlformats.org/drawingml/2006/main">
            <a:srgbClr val="FFF7E6"/>
          </a:solidFill>
          <a:ln xmlns:a="http://schemas.openxmlformats.org/drawingml/2006/main" w="12700">
            <a:solidFill>
              <a:srgbClr val="F7C873"/>
            </a:solidFill>
            <a:prstDash val="solid"/>
          </a:ln>
        </p:spPr>
      </p:sp>
      <p:sp>
        <p:nvSpPr>
          <p:cNvPr id="29" name="Text 27">
            <a:extLst xmlns:a="http://schemas.openxmlformats.org/drawingml/2006/main">
              <a:ext uri="{FF2B5EF4-FFF2-40B4-BE49-F238E27FC236}">
                <a16:creationId xmlns:a16="http://schemas.microsoft.com/office/drawing/2014/main" id="{1D6670CC-4B24-4D6F-B51D-8B1C63AC9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5920" y="5184648"/>
            <a:ext cx="886968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700" b="1">
                <a:solidFill>
                  <a:srgbClr val="9A5B00"/>
                </a:solidFill>
              </a:rPr>
              <a:t>Decision: high-volume forecasts must receive human review.</a:t>
            </a:r>
            <a:endParaRPr sz="1700"/>
          </a:p>
        </p:txBody>
      </p:sp>
      <p:sp>
        <p:nvSpPr>
          <p:cNvPr id="30" name="Text 28">
            <a:extLst xmlns:a="http://schemas.openxmlformats.org/drawingml/2006/main">
              <a:ext uri="{FF2B5EF4-FFF2-40B4-BE49-F238E27FC236}">
                <a16:creationId xmlns:a16="http://schemas.microsoft.com/office/drawing/2014/main" id="{A823E1DE-907B-4D10-9560-16E43D49A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6190488"/>
            <a:ext cx="1042416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i="1">
                <a:solidFill>
                  <a:srgbClr val="627D98"/>
                </a:solidFill>
              </a:rPr>
              <a:t>Twenty-five concrete worst cases were saved; errors were not hidden or used to retune on test.</a:t>
            </a:r>
            <a:endParaRPr sz="1000"/>
          </a:p>
        </p:txBody>
      </p:sp>
      <p:sp>
        <p:nvSpPr>
          <p:cNvPr id="31" name="Slide Number Placeholder 0">
            <a:extLst xmlns:a="http://schemas.openxmlformats.org/drawingml/2006/main">
              <a:ext uri="{FF2B5EF4-FFF2-40B4-BE49-F238E27FC236}">
                <a16:creationId xmlns:a16="http://schemas.microsoft.com/office/drawing/2014/main" id="{8EDFF6B6-C87C-48C2-988C-99171A6DA2A0}"/>
              </a:ext>
            </a:extLst>
          </p:cNvPr>
          <p:cNvSpPr>
            <a:spLocks xmlns:a="http://schemas.openxmlformats.org/drawingml/2006/main" noGrp="1"/>
          </p:cNvSpPr>
          <p:nvPr>
            <p:ph type="sldNum" idx="4294967295"/>
          </p:nvPr>
        </p:nvSpPr>
        <p:spPr>
          <a:xfrm xmlns:a="http://schemas.openxmlformats.org/drawingml/2006/main">
            <a:off x="11274552" y="6565392"/>
            <a:ext cx="411480" cy="1371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80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 xmlns:a="http://schemas.openxmlformats.org/drawingml/2006/main">
            <a:pPr algn="r">
              <a:buNone/>
            </a:pPr>
            <a:fld id="{F7021451-1387-4CA6-816F-3879F97B5CBC}" type="slidenum">
              <a:rPr b="0"/>
              <a:t>13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237246476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22530555-FD78-4268-B58D-C60CCFB1F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530352"/>
            <a:ext cx="292608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110">
                <a:solidFill>
                  <a:srgbClr val="1976D2"/>
                </a:solidFill>
              </a:rPr>
              <a:t>8 • FEATURE IMPORTANCE</a:t>
            </a:r>
            <a:endParaRPr sz="10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8A8830C4-B3CC-42B6-B3B8-572E22FF8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804672"/>
            <a:ext cx="1097280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700" b="1">
                <a:solidFill>
                  <a:srgbClr val="102A43"/>
                </a:solidFill>
              </a:rPr>
              <a:t>What Random Forest uses</a:t>
            </a:r>
            <a:endParaRPr sz="2700"/>
          </a:p>
        </p:txBody>
      </p:sp>
      <p:graphicFrame>
        <p:nvGraphicFramePr>
          <p:cNvPr id="29" name="Chart 0"/>
          <p:cNvGraphicFramePr/>
          <p:nvPr/>
        </p:nvGraphicFramePr>
        <p:xfrm>
          <a:off xmlns:a="http://schemas.openxmlformats.org/drawingml/2006/main" x="731520" y="1508760"/>
          <a:ext xmlns:a="http://schemas.openxmlformats.org/drawingml/2006/main" cx="5669280" cy="420624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0b18497782fa4a70"/>
          </a:graphicData>
        </a:graphic>
      </p:graphicFrame>
      <p:sp>
        <p:nvSpPr>
          <p:cNvPr id="5" name="Shape 2">
            <a:extLst xmlns:a="http://schemas.openxmlformats.org/drawingml/2006/main">
              <a:ext uri="{FF2B5EF4-FFF2-40B4-BE49-F238E27FC236}">
                <a16:creationId xmlns:a16="http://schemas.microsoft.com/office/drawing/2014/main" id="{2990A1CB-9DF7-4AA5-A853-C459FABC1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2280" y="1554480"/>
            <a:ext cx="4526280" cy="118872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D9E2EC"/>
            </a:solidFill>
            <a:prstDash val="solid"/>
          </a:ln>
          <a:effectLst xmlns:a="http://schemas.openxmlformats.org/drawingml/2006/main">
            <a:outerShdw blurRad="19050" dist="50800" dir="2700000" sx="100000" sy="100000" kx="0" ky="0" algn="bl" rotWithShape="0">
              <a:srgbClr val="B8C6D1">
                <a:alpha val="16000"/>
              </a:srgbClr>
            </a:outerShdw>
          </a:effectLst>
        </p:spPr>
      </p:sp>
      <p:sp>
        <p:nvSpPr>
          <p:cNvPr id="6" name="Shape 3">
            <a:extLst xmlns:a="http://schemas.openxmlformats.org/drawingml/2006/main">
              <a:ext uri="{FF2B5EF4-FFF2-40B4-BE49-F238E27FC236}">
                <a16:creationId xmlns:a16="http://schemas.microsoft.com/office/drawing/2014/main" id="{F0489078-27B8-4CF4-8A90-E0B763B46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2280" y="1554480"/>
            <a:ext cx="73152" cy="11887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76D2"/>
          </a:solidFill>
          <a:ln xmlns:a="http://schemas.openxmlformats.org/drawingml/2006/main" w="12700">
            <a:solidFill>
              <a:srgbClr val="1976D2"/>
            </a:solidFill>
            <a:prstDash val="solid"/>
          </a:ln>
        </p:spPr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79486896-EF23-47F9-89EE-5900FD2F7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8312" y="1737360"/>
            <a:ext cx="41148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102A43"/>
                </a:solidFill>
              </a:rPr>
              <a:t>sales_lag_1</a:t>
            </a:r>
            <a:endParaRPr sz="1500"/>
          </a:p>
        </p:txBody>
      </p:sp>
      <p:sp>
        <p:nvSpPr>
          <p:cNvPr id="8" name="Text 5">
            <a:extLst xmlns:a="http://schemas.openxmlformats.org/drawingml/2006/main">
              <a:ext uri="{FF2B5EF4-FFF2-40B4-BE49-F238E27FC236}">
                <a16:creationId xmlns:a16="http://schemas.microsoft.com/office/drawing/2014/main" id="{F6B8C439-E96D-47A0-9704-C8DB3BBA8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8312" y="2121408"/>
            <a:ext cx="4087368" cy="475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243B53"/>
                </a:solidFill>
              </a:rPr>
              <a:t>Sales of the same product in the same store one week earlier.</a:t>
            </a:r>
            <a:endParaRPr sz="1150"/>
          </a:p>
        </p:txBody>
      </p:sp>
      <p:sp>
        <p:nvSpPr>
          <p:cNvPr id="9" name="Shape 6">
            <a:extLst xmlns:a="http://schemas.openxmlformats.org/drawingml/2006/main">
              <a:ext uri="{FF2B5EF4-FFF2-40B4-BE49-F238E27FC236}">
                <a16:creationId xmlns:a16="http://schemas.microsoft.com/office/drawing/2014/main" id="{413F85E2-9A55-4CF9-B788-042B83DF9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2280" y="2926080"/>
            <a:ext cx="4526280" cy="118872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D9E2EC"/>
            </a:solidFill>
            <a:prstDash val="solid"/>
          </a:ln>
          <a:effectLst xmlns:a="http://schemas.openxmlformats.org/drawingml/2006/main">
            <a:outerShdw blurRad="19050" dist="50800" dir="2700000" sx="100000" sy="100000" kx="0" ky="0" algn="bl" rotWithShape="0">
              <a:srgbClr val="B8C6D1">
                <a:alpha val="16000"/>
              </a:srgbClr>
            </a:outerShdw>
          </a:effectLst>
        </p:spPr>
      </p:sp>
      <p:sp>
        <p:nvSpPr>
          <p:cNvPr id="10" name="Shape 7">
            <a:extLst xmlns:a="http://schemas.openxmlformats.org/drawingml/2006/main">
              <a:ext uri="{FF2B5EF4-FFF2-40B4-BE49-F238E27FC236}">
                <a16:creationId xmlns:a16="http://schemas.microsoft.com/office/drawing/2014/main" id="{061BA583-F6AF-4DF1-93CE-C87E83B54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2280" y="2926080"/>
            <a:ext cx="73152" cy="11887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B1BC"/>
          </a:solidFill>
          <a:ln xmlns:a="http://schemas.openxmlformats.org/drawingml/2006/main" w="12700">
            <a:solidFill>
              <a:srgbClr val="2CB1BC"/>
            </a:solidFill>
            <a:prstDash val="solid"/>
          </a:ln>
        </p:spPr>
      </p:sp>
      <p:sp>
        <p:nvSpPr>
          <p:cNvPr id="11" name="Text 8">
            <a:extLst xmlns:a="http://schemas.openxmlformats.org/drawingml/2006/main">
              <a:ext uri="{FF2B5EF4-FFF2-40B4-BE49-F238E27FC236}">
                <a16:creationId xmlns:a16="http://schemas.microsoft.com/office/drawing/2014/main" id="{83BC14FC-9C10-40B4-BE52-89B13A268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8312" y="3108960"/>
            <a:ext cx="41148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102A43"/>
                </a:solidFill>
              </a:rPr>
              <a:t>sales_roll_mean_4</a:t>
            </a:r>
            <a:endParaRPr sz="1500"/>
          </a:p>
        </p:txBody>
      </p:sp>
      <p:sp>
        <p:nvSpPr>
          <p:cNvPr id="12" name="Text 9">
            <a:extLst xmlns:a="http://schemas.openxmlformats.org/drawingml/2006/main">
              <a:ext uri="{FF2B5EF4-FFF2-40B4-BE49-F238E27FC236}">
                <a16:creationId xmlns:a16="http://schemas.microsoft.com/office/drawing/2014/main" id="{9F6D5C59-DB1F-4C4E-B551-416E059A2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8312" y="3493008"/>
            <a:ext cx="4087368" cy="475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243B53"/>
                </a:solidFill>
              </a:rPr>
              <a:t>Average sales during the previous four weeks; the current week is excluded.</a:t>
            </a:r>
            <a:endParaRPr sz="1150"/>
          </a:p>
        </p:txBody>
      </p:sp>
      <p:sp>
        <p:nvSpPr>
          <p:cNvPr id="13" name="Shape 10">
            <a:extLst xmlns:a="http://schemas.openxmlformats.org/drawingml/2006/main">
              <a:ext uri="{FF2B5EF4-FFF2-40B4-BE49-F238E27FC236}">
                <a16:creationId xmlns:a16="http://schemas.microsoft.com/office/drawing/2014/main" id="{0E01F074-A0DA-4CE4-957E-07C3E5B11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2280" y="4297680"/>
            <a:ext cx="4526280" cy="118872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D9E2EC"/>
            </a:solidFill>
            <a:prstDash val="solid"/>
          </a:ln>
          <a:effectLst xmlns:a="http://schemas.openxmlformats.org/drawingml/2006/main">
            <a:outerShdw blurRad="19050" dist="50800" dir="2700000" sx="100000" sy="100000" kx="0" ky="0" algn="bl" rotWithShape="0">
              <a:srgbClr val="B8C6D1">
                <a:alpha val="16000"/>
              </a:srgbClr>
            </a:outerShdw>
          </a:effectLst>
        </p:spPr>
      </p:sp>
      <p:sp>
        <p:nvSpPr>
          <p:cNvPr id="14" name="Shape 11">
            <a:extLst xmlns:a="http://schemas.openxmlformats.org/drawingml/2006/main">
              <a:ext uri="{FF2B5EF4-FFF2-40B4-BE49-F238E27FC236}">
                <a16:creationId xmlns:a16="http://schemas.microsoft.com/office/drawing/2014/main" id="{D65642ED-FC45-4B64-B843-19A4F5C34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2280" y="4297680"/>
            <a:ext cx="73152" cy="11887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4545"/>
          </a:solidFill>
          <a:ln xmlns:a="http://schemas.openxmlformats.org/drawingml/2006/main" w="12700">
            <a:solidFill>
              <a:srgbClr val="D64545"/>
            </a:solidFill>
            <a:prstDash val="solid"/>
          </a:ln>
        </p:spPr>
      </p:sp>
      <p:sp>
        <p:nvSpPr>
          <p:cNvPr id="15" name="Text 12">
            <a:extLst xmlns:a="http://schemas.openxmlformats.org/drawingml/2006/main">
              <a:ext uri="{FF2B5EF4-FFF2-40B4-BE49-F238E27FC236}">
                <a16:creationId xmlns:a16="http://schemas.microsoft.com/office/drawing/2014/main" id="{9EEC2DC8-1967-42E4-8919-934E72963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8312" y="4480560"/>
            <a:ext cx="41148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102A43"/>
                </a:solidFill>
              </a:rPr>
              <a:t>Importance ≠ causality</a:t>
            </a:r>
            <a:endParaRPr sz="1500"/>
          </a:p>
        </p:txBody>
      </p:sp>
      <p:sp>
        <p:nvSpPr>
          <p:cNvPr id="16" name="Text 13">
            <a:extLst xmlns:a="http://schemas.openxmlformats.org/drawingml/2006/main">
              <a:ext uri="{FF2B5EF4-FFF2-40B4-BE49-F238E27FC236}">
                <a16:creationId xmlns:a16="http://schemas.microsoft.com/office/drawing/2014/main" id="{5BCA3B68-0E0D-4612-A5CB-369398D4A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8312" y="4864608"/>
            <a:ext cx="4087368" cy="475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243B53"/>
                </a:solidFill>
              </a:rPr>
              <a:t>The model uses these features more often, but this does not prove a causal effect.</a:t>
            </a:r>
            <a:endParaRPr sz="1150"/>
          </a:p>
        </p:txBody>
      </p:sp>
      <p:sp>
        <p:nvSpPr>
          <p:cNvPr id="17" name="Text 14">
            <a:extLst xmlns:a="http://schemas.openxmlformats.org/drawingml/2006/main">
              <a:ext uri="{FF2B5EF4-FFF2-40B4-BE49-F238E27FC236}">
                <a16:creationId xmlns:a16="http://schemas.microsoft.com/office/drawing/2014/main" id="{3412C319-FA26-4E80-A292-CB09AE22C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6190488"/>
            <a:ext cx="1042416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i="1">
                <a:solidFill>
                  <a:srgbClr val="627D98"/>
                </a:solidFill>
              </a:rPr>
              <a:t>The model's main signal is recent demand history; calendar and price add context.</a:t>
            </a:r>
            <a:endParaRPr sz="1000"/>
          </a:p>
        </p:txBody>
      </p:sp>
      <p:sp>
        <p:nvSpPr>
          <p:cNvPr id="25" name="Slide Number Placeholder 0">
            <a:extLst xmlns:a="http://schemas.openxmlformats.org/drawingml/2006/main">
              <a:ext uri="{FF2B5EF4-FFF2-40B4-BE49-F238E27FC236}">
                <a16:creationId xmlns:a16="http://schemas.microsoft.com/office/drawing/2014/main" id="{C1B6C9AC-23F5-4E82-BAD4-00651DAAE5EB}"/>
              </a:ext>
            </a:extLst>
          </p:cNvPr>
          <p:cNvSpPr>
            <a:spLocks xmlns:a="http://schemas.openxmlformats.org/drawingml/2006/main" noGrp="1"/>
          </p:cNvSpPr>
          <p:nvPr>
            <p:ph type="sldNum" idx="4294967295"/>
          </p:nvPr>
        </p:nvSpPr>
        <p:spPr>
          <a:xfrm xmlns:a="http://schemas.openxmlformats.org/drawingml/2006/main">
            <a:off x="11274552" y="6565392"/>
            <a:ext cx="411480" cy="1371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80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 xmlns:a="http://schemas.openxmlformats.org/drawingml/2006/main">
            <a:pPr algn="r">
              <a:buNone/>
            </a:pPr>
            <a:fld id="{F7021451-1387-4CA6-816F-3879F97B5CBC}" type="slidenum">
              <a:rPr b="0"/>
              <a:t>14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273462061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AF3B8B50-0B5B-40CA-B35B-584485F85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530352"/>
            <a:ext cx="292608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110">
                <a:solidFill>
                  <a:srgbClr val="1976D2"/>
                </a:solidFill>
              </a:rPr>
              <a:t>9 • END-TO-END DEMO</a:t>
            </a:r>
            <a:endParaRPr sz="10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29AAE12B-524D-42DC-84F0-FCEFBC40E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804672"/>
            <a:ext cx="1097280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700" b="1">
                <a:solidFill>
                  <a:srgbClr val="102A43"/>
                </a:solidFill>
              </a:rPr>
              <a:t>Working demonstration flow</a:t>
            </a:r>
            <a:endParaRPr sz="270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CAF1C134-67F7-41E2-836A-B3A36DF4F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1645920"/>
            <a:ext cx="1234440" cy="12344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2FB"/>
          </a:solidFill>
          <a:ln xmlns:a="http://schemas.openxmlformats.org/drawingml/2006/main" w="19050">
            <a:solidFill>
              <a:srgbClr val="1976D2"/>
            </a:solidFill>
            <a:prstDash val="solid"/>
          </a:ln>
        </p:spPr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B72145C2-993B-4DEF-9F3F-6F2EF8960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408" y="1901952"/>
            <a:ext cx="4572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000" b="1">
                <a:solidFill>
                  <a:srgbClr val="1976D2"/>
                </a:solidFill>
              </a:rPr>
              <a:t>1</a:t>
            </a:r>
            <a:endParaRPr sz="2000"/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2909022E-969A-4095-908A-C849AB69F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768" y="3035808"/>
            <a:ext cx="1572768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102A43"/>
                </a:solidFill>
              </a:rPr>
              <a:t>INPUT</a:t>
            </a:r>
            <a:endParaRPr sz="1200"/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94AB84D7-A656-49AC-96C5-1A88447F5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" y="3383280"/>
            <a:ext cx="1700784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27" tIns="127" rIns="127" bIns="127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50">
                <a:solidFill>
                  <a:srgbClr val="627D98"/>
                </a:solidFill>
              </a:rPr>
              <a:t>20 features</a:t>
            </a:r>
            <a:endParaRPr sz="950"/>
          </a:p>
        </p:txBody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D7372CBC-23E8-4C03-9791-669E1ECDF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4520" y="2267712"/>
            <a:ext cx="62179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solidFill>
              <a:srgbClr val="627D98"/>
            </a:solidFill>
            <a:prstDash val="solid"/>
            <a:headEnd type="none"/>
            <a:tailEnd type="triangle"/>
          </a:ln>
        </p:spPr>
      </p:sp>
      <p:sp>
        <p:nvSpPr>
          <p:cNvPr id="9" name="Shape 7">
            <a:extLst xmlns:a="http://schemas.openxmlformats.org/drawingml/2006/main">
              <a:ext uri="{FF2B5EF4-FFF2-40B4-BE49-F238E27FC236}">
                <a16:creationId xmlns:a16="http://schemas.microsoft.com/office/drawing/2014/main" id="{C52B86D1-1344-47E4-A988-B8127252C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2032" y="1645920"/>
            <a:ext cx="1234440" cy="12344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2FB"/>
          </a:solidFill>
          <a:ln xmlns:a="http://schemas.openxmlformats.org/drawingml/2006/main" w="19050">
            <a:solidFill>
              <a:srgbClr val="1976D2"/>
            </a:solidFill>
            <a:prstDash val="solid"/>
          </a:ln>
        </p:spPr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5B51E840-EEA0-4F89-A5E1-C5E409335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6080" y="1901952"/>
            <a:ext cx="4572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000" b="1">
                <a:solidFill>
                  <a:srgbClr val="1976D2"/>
                </a:solidFill>
              </a:rPr>
              <a:t>2</a:t>
            </a:r>
            <a:endParaRPr sz="2000"/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688ABAC2-ADAD-474E-A139-9CAA76066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7440" y="3035808"/>
            <a:ext cx="1572768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102A43"/>
                </a:solidFill>
              </a:rPr>
              <a:t>VALIDATE</a:t>
            </a:r>
            <a:endParaRPr sz="1200"/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E3E70334-5BA8-4740-B527-AF2971E83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13432" y="3383280"/>
            <a:ext cx="1700784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27" tIns="127" rIns="127" bIns="127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50">
                <a:solidFill>
                  <a:srgbClr val="627D98"/>
                </a:solidFill>
              </a:rPr>
              <a:t>errors and ranges</a:t>
            </a:r>
            <a:endParaRPr sz="950"/>
          </a:p>
        </p:txBody>
      </p:sp>
      <p:sp>
        <p:nvSpPr>
          <p:cNvPr id="13" name="Shape 11">
            <a:extLst xmlns:a="http://schemas.openxmlformats.org/drawingml/2006/main">
              <a:ext uri="{FF2B5EF4-FFF2-40B4-BE49-F238E27FC236}">
                <a16:creationId xmlns:a16="http://schemas.microsoft.com/office/drawing/2014/main" id="{9CC47777-BCCF-4435-8DE0-F5174F52B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2192" y="2267712"/>
            <a:ext cx="62179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solidFill>
              <a:srgbClr val="627D98"/>
            </a:solidFill>
            <a:prstDash val="solid"/>
            <a:headEnd type="none"/>
            <a:tailEnd type="triangle"/>
          </a:ln>
        </p:spPr>
      </p:sp>
      <p:sp>
        <p:nvSpPr>
          <p:cNvPr id="14" name="Shape 12">
            <a:extLst xmlns:a="http://schemas.openxmlformats.org/drawingml/2006/main">
              <a:ext uri="{FF2B5EF4-FFF2-40B4-BE49-F238E27FC236}">
                <a16:creationId xmlns:a16="http://schemas.microsoft.com/office/drawing/2014/main" id="{26B1F03B-13FB-41BF-B4D4-9CF87CAF1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9704" y="1645920"/>
            <a:ext cx="1234440" cy="12344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2FB"/>
          </a:solidFill>
          <a:ln xmlns:a="http://schemas.openxmlformats.org/drawingml/2006/main" w="19050">
            <a:solidFill>
              <a:srgbClr val="1976D2"/>
            </a:solidFill>
            <a:prstDash val="solid"/>
          </a:ln>
        </p:spPr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FE56357A-DACC-4661-AE13-64251B282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3752" y="1901952"/>
            <a:ext cx="4572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000" b="1">
                <a:solidFill>
                  <a:srgbClr val="1976D2"/>
                </a:solidFill>
              </a:rPr>
              <a:t>3</a:t>
            </a:r>
            <a:endParaRPr sz="2000"/>
          </a:p>
        </p:txBody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AA8EA223-A8E2-4787-8739-DB576E7DD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5112" y="3035808"/>
            <a:ext cx="1572768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102A43"/>
                </a:solidFill>
              </a:rPr>
              <a:t>PREPROCESS</a:t>
            </a:r>
            <a:endParaRPr sz="1200"/>
          </a:p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E5F95CE7-755A-4684-83D1-EC7BBAC33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1104" y="3383280"/>
            <a:ext cx="1700784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27" tIns="127" rIns="127" bIns="127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50">
                <a:solidFill>
                  <a:srgbClr val="627D98"/>
                </a:solidFill>
              </a:rPr>
              <a:t>exact feature order</a:t>
            </a:r>
            <a:endParaRPr sz="950"/>
          </a:p>
        </p:txBody>
      </p:sp>
      <p:sp>
        <p:nvSpPr>
          <p:cNvPr id="18" name="Shape 16">
            <a:extLst xmlns:a="http://schemas.openxmlformats.org/drawingml/2006/main">
              <a:ext uri="{FF2B5EF4-FFF2-40B4-BE49-F238E27FC236}">
                <a16:creationId xmlns:a16="http://schemas.microsoft.com/office/drawing/2014/main" id="{73FEA9AB-48B0-446B-AF69-F630B11DE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9864" y="2267712"/>
            <a:ext cx="62179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solidFill>
              <a:srgbClr val="627D98"/>
            </a:solidFill>
            <a:prstDash val="solid"/>
            <a:headEnd type="none"/>
            <a:tailEnd type="triangle"/>
          </a:ln>
        </p:spPr>
      </p:sp>
      <p:sp>
        <p:nvSpPr>
          <p:cNvPr id="19" name="Shape 17">
            <a:extLst xmlns:a="http://schemas.openxmlformats.org/drawingml/2006/main">
              <a:ext uri="{FF2B5EF4-FFF2-40B4-BE49-F238E27FC236}">
                <a16:creationId xmlns:a16="http://schemas.microsoft.com/office/drawing/2014/main" id="{011975F9-ECAE-452E-AE0A-E0041973F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7376" y="1645920"/>
            <a:ext cx="1234440" cy="12344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2FB"/>
          </a:solidFill>
          <a:ln xmlns:a="http://schemas.openxmlformats.org/drawingml/2006/main" w="19050">
            <a:solidFill>
              <a:srgbClr val="1976D2"/>
            </a:solidFill>
            <a:prstDash val="solid"/>
          </a:ln>
        </p:spPr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8D11331D-A2D4-4A86-B213-FB45F192F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21424" y="1901952"/>
            <a:ext cx="4572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000" b="1">
                <a:solidFill>
                  <a:srgbClr val="1976D2"/>
                </a:solidFill>
              </a:rPr>
              <a:t>4</a:t>
            </a:r>
            <a:endParaRPr sz="2000"/>
          </a:p>
        </p:txBody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CEE54167-85B4-4676-A6DE-95F00EA03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2784" y="3035808"/>
            <a:ext cx="1572768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102A43"/>
                </a:solidFill>
              </a:rPr>
              <a:t>LOAD MODEL</a:t>
            </a:r>
            <a:endParaRPr sz="1200"/>
          </a:p>
        </p:txBody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3592BD9A-74F2-4ADA-874A-925D3E45D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8776" y="3383280"/>
            <a:ext cx="1700784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27" tIns="127" rIns="127" bIns="127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50">
                <a:solidFill>
                  <a:srgbClr val="627D98"/>
                </a:solidFill>
              </a:rPr>
              <a:t>model.skops</a:t>
            </a:r>
            <a:endParaRPr sz="950"/>
          </a:p>
        </p:txBody>
      </p:sp>
      <p:sp>
        <p:nvSpPr>
          <p:cNvPr id="23" name="Shape 21">
            <a:extLst xmlns:a="http://schemas.openxmlformats.org/drawingml/2006/main">
              <a:ext uri="{FF2B5EF4-FFF2-40B4-BE49-F238E27FC236}">
                <a16:creationId xmlns:a16="http://schemas.microsoft.com/office/drawing/2014/main" id="{1927831F-72F2-42E6-8849-9C11D05ED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7536" y="2267712"/>
            <a:ext cx="62179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solidFill>
              <a:srgbClr val="627D98"/>
            </a:solidFill>
            <a:prstDash val="solid"/>
            <a:headEnd type="none"/>
            <a:tailEnd type="triangle"/>
          </a:ln>
        </p:spPr>
      </p:sp>
      <p:sp>
        <p:nvSpPr>
          <p:cNvPr id="24" name="Shape 22">
            <a:extLst xmlns:a="http://schemas.openxmlformats.org/drawingml/2006/main">
              <a:ext uri="{FF2B5EF4-FFF2-40B4-BE49-F238E27FC236}">
                <a16:creationId xmlns:a16="http://schemas.microsoft.com/office/drawing/2014/main" id="{A800F615-F1CC-443E-ACC4-F307225B4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5048" y="1645920"/>
            <a:ext cx="1234440" cy="12344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2FB"/>
          </a:solidFill>
          <a:ln xmlns:a="http://schemas.openxmlformats.org/drawingml/2006/main" w="19050">
            <a:solidFill>
              <a:srgbClr val="1976D2"/>
            </a:solidFill>
            <a:prstDash val="solid"/>
          </a:ln>
        </p:spPr>
      </p:sp>
      <p:sp>
        <p:nvSpPr>
          <p:cNvPr id="25" name="Text 23">
            <a:extLst xmlns:a="http://schemas.openxmlformats.org/drawingml/2006/main">
              <a:ext uri="{FF2B5EF4-FFF2-40B4-BE49-F238E27FC236}">
                <a16:creationId xmlns:a16="http://schemas.microsoft.com/office/drawing/2014/main" id="{E7F47F54-4190-40A0-8A50-3D48BC9D8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9096" y="1901952"/>
            <a:ext cx="4572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000" b="1">
                <a:solidFill>
                  <a:srgbClr val="1976D2"/>
                </a:solidFill>
              </a:rPr>
              <a:t>5</a:t>
            </a:r>
            <a:endParaRPr sz="2000"/>
          </a:p>
        </p:txBody>
      </p:sp>
      <p:sp>
        <p:nvSpPr>
          <p:cNvPr id="26" name="Text 24">
            <a:extLst xmlns:a="http://schemas.openxmlformats.org/drawingml/2006/main">
              <a:ext uri="{FF2B5EF4-FFF2-40B4-BE49-F238E27FC236}">
                <a16:creationId xmlns:a16="http://schemas.microsoft.com/office/drawing/2014/main" id="{0726B8CE-CF91-4F45-A098-EEB2BCC69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0456" y="3035808"/>
            <a:ext cx="1572768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102A43"/>
                </a:solidFill>
              </a:rPr>
              <a:t>PREDICT</a:t>
            </a:r>
            <a:endParaRPr sz="1200"/>
          </a:p>
        </p:txBody>
      </p:sp>
      <p:sp>
        <p:nvSpPr>
          <p:cNvPr id="27" name="Text 25">
            <a:extLst xmlns:a="http://schemas.openxmlformats.org/drawingml/2006/main">
              <a:ext uri="{FF2B5EF4-FFF2-40B4-BE49-F238E27FC236}">
                <a16:creationId xmlns:a16="http://schemas.microsoft.com/office/drawing/2014/main" id="{C9A2A18B-E9C8-4794-99B8-CA24261F0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6448" y="3383280"/>
            <a:ext cx="1700784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27" tIns="127" rIns="127" bIns="127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50">
                <a:solidFill>
                  <a:srgbClr val="627D98"/>
                </a:solidFill>
              </a:rPr>
              <a:t>weekly forecast</a:t>
            </a:r>
            <a:endParaRPr sz="950"/>
          </a:p>
        </p:txBody>
      </p:sp>
      <p:sp>
        <p:nvSpPr>
          <p:cNvPr id="28" name="Shape 26">
            <a:extLst xmlns:a="http://schemas.openxmlformats.org/drawingml/2006/main">
              <a:ext uri="{FF2B5EF4-FFF2-40B4-BE49-F238E27FC236}">
                <a16:creationId xmlns:a16="http://schemas.microsoft.com/office/drawing/2014/main" id="{C21EC8EE-2BAF-418B-8BFC-026A4838E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5208" y="2267712"/>
            <a:ext cx="62179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solidFill>
              <a:srgbClr val="627D98"/>
            </a:solidFill>
            <a:prstDash val="solid"/>
            <a:headEnd type="none"/>
            <a:tailEnd type="triangle"/>
          </a:ln>
        </p:spPr>
      </p:sp>
      <p:sp>
        <p:nvSpPr>
          <p:cNvPr id="29" name="Shape 27">
            <a:extLst xmlns:a="http://schemas.openxmlformats.org/drawingml/2006/main">
              <a:ext uri="{FF2B5EF4-FFF2-40B4-BE49-F238E27FC236}">
                <a16:creationId xmlns:a16="http://schemas.microsoft.com/office/drawing/2014/main" id="{EA78FD60-F5C7-43B4-A5D1-E2C6E55AD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2720" y="1645920"/>
            <a:ext cx="1234440" cy="12344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7E6"/>
          </a:solidFill>
          <a:ln xmlns:a="http://schemas.openxmlformats.org/drawingml/2006/main" w="19050">
            <a:solidFill>
              <a:srgbClr val="F59E0B"/>
            </a:solidFill>
            <a:prstDash val="solid"/>
          </a:ln>
        </p:spPr>
      </p:sp>
      <p:sp>
        <p:nvSpPr>
          <p:cNvPr id="30" name="Text 28">
            <a:extLst xmlns:a="http://schemas.openxmlformats.org/drawingml/2006/main">
              <a:ext uri="{FF2B5EF4-FFF2-40B4-BE49-F238E27FC236}">
                <a16:creationId xmlns:a16="http://schemas.microsoft.com/office/drawing/2014/main" id="{90E287A6-F18E-4C89-AE4C-46E453392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6768" y="1901952"/>
            <a:ext cx="4572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000" b="1">
                <a:solidFill>
                  <a:srgbClr val="F59E0B"/>
                </a:solidFill>
              </a:rPr>
              <a:t>6</a:t>
            </a:r>
            <a:endParaRPr sz="2000"/>
          </a:p>
        </p:txBody>
      </p:sp>
      <p:sp>
        <p:nvSpPr>
          <p:cNvPr id="31" name="Text 29">
            <a:extLst xmlns:a="http://schemas.openxmlformats.org/drawingml/2006/main">
              <a:ext uri="{FF2B5EF4-FFF2-40B4-BE49-F238E27FC236}">
                <a16:creationId xmlns:a16="http://schemas.microsoft.com/office/drawing/2014/main" id="{81DBB45D-7778-4748-99C5-1B860E516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8128" y="3035808"/>
            <a:ext cx="1572768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102A43"/>
                </a:solidFill>
              </a:rPr>
              <a:t>EXPLAIN</a:t>
            </a:r>
            <a:endParaRPr sz="1200"/>
          </a:p>
        </p:txBody>
      </p:sp>
      <p:sp>
        <p:nvSpPr>
          <p:cNvPr id="32" name="Text 30">
            <a:extLst xmlns:a="http://schemas.openxmlformats.org/drawingml/2006/main">
              <a:ext uri="{FF2B5EF4-FFF2-40B4-BE49-F238E27FC236}">
                <a16:creationId xmlns:a16="http://schemas.microsoft.com/office/drawing/2014/main" id="{B26E379D-4711-4A17-814C-EC89F4D1E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04120" y="3383280"/>
            <a:ext cx="1700784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27" tIns="127" rIns="127" bIns="127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50">
                <a:solidFill>
                  <a:srgbClr val="627D98"/>
                </a:solidFill>
              </a:rPr>
              <a:t>meaning and limits</a:t>
            </a:r>
            <a:endParaRPr sz="950"/>
          </a:p>
        </p:txBody>
      </p:sp>
      <p:sp>
        <p:nvSpPr>
          <p:cNvPr id="33" name="Shape 31">
            <a:extLst xmlns:a="http://schemas.openxmlformats.org/drawingml/2006/main">
              <a:ext uri="{FF2B5EF4-FFF2-40B4-BE49-F238E27FC236}">
                <a16:creationId xmlns:a16="http://schemas.microsoft.com/office/drawing/2014/main" id="{7BA2C1FB-DB2E-4F65-B6A1-28D715A51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4251960"/>
            <a:ext cx="3337560" cy="1051560"/>
          </a:xfrm>
          <a:prstGeom xmlns:a="http://schemas.openxmlformats.org/drawingml/2006/main" prst="roundRect">
            <a:avLst>
              <a:gd name="adj" fmla="val 695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D9E2EC"/>
            </a:solidFill>
            <a:prstDash val="solid"/>
          </a:ln>
          <a:effectLst xmlns:a="http://schemas.openxmlformats.org/drawingml/2006/main">
            <a:outerShdw blurRad="19050" dist="50800" dir="2700000" sx="100000" sy="100000" kx="0" ky="0" algn="bl" rotWithShape="0">
              <a:srgbClr val="B8C6D1">
                <a:alpha val="16000"/>
              </a:srgbClr>
            </a:outerShdw>
          </a:effectLst>
        </p:spPr>
      </p:sp>
      <p:sp>
        <p:nvSpPr>
          <p:cNvPr id="34" name="Shape 32">
            <a:extLst xmlns:a="http://schemas.openxmlformats.org/drawingml/2006/main">
              <a:ext uri="{FF2B5EF4-FFF2-40B4-BE49-F238E27FC236}">
                <a16:creationId xmlns:a16="http://schemas.microsoft.com/office/drawing/2014/main" id="{93D5ADA1-6AE0-4CD4-8812-B56049F4F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4251960"/>
            <a:ext cx="73152" cy="10515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76D2"/>
          </a:solidFill>
          <a:ln xmlns:a="http://schemas.openxmlformats.org/drawingml/2006/main" w="12700">
            <a:solidFill>
              <a:srgbClr val="1976D2"/>
            </a:solidFill>
            <a:prstDash val="solid"/>
          </a:ln>
        </p:spPr>
      </p:sp>
      <p:sp>
        <p:nvSpPr>
          <p:cNvPr id="35" name="Text 33">
            <a:extLst xmlns:a="http://schemas.openxmlformats.org/drawingml/2006/main">
              <a:ext uri="{FF2B5EF4-FFF2-40B4-BE49-F238E27FC236}">
                <a16:creationId xmlns:a16="http://schemas.microsoft.com/office/drawing/2014/main" id="{4A21A10B-5AA8-4F0C-B705-F8B9A2E4F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552" y="4434840"/>
            <a:ext cx="29260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102A43"/>
                </a:solidFill>
              </a:rPr>
              <a:t>Primary route</a:t>
            </a:r>
            <a:endParaRPr sz="1500"/>
          </a:p>
        </p:txBody>
      </p:sp>
      <p:sp>
        <p:nvSpPr>
          <p:cNvPr id="36" name="Text 34">
            <a:extLst xmlns:a="http://schemas.openxmlformats.org/drawingml/2006/main">
              <a:ext uri="{FF2B5EF4-FFF2-40B4-BE49-F238E27FC236}">
                <a16:creationId xmlns:a16="http://schemas.microsoft.com/office/drawing/2014/main" id="{7CD052C7-2163-4A3C-9F4E-7295FBA8A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552" y="4818888"/>
            <a:ext cx="2898648" cy="3383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243B53"/>
                </a:solidFill>
              </a:rPr>
              <a:t>Colab: open demo.ipynb and select Run all.</a:t>
            </a:r>
            <a:endParaRPr sz="1150"/>
          </a:p>
        </p:txBody>
      </p:sp>
      <p:sp>
        <p:nvSpPr>
          <p:cNvPr id="37" name="Shape 35">
            <a:extLst xmlns:a="http://schemas.openxmlformats.org/drawingml/2006/main">
              <a:ext uri="{FF2B5EF4-FFF2-40B4-BE49-F238E27FC236}">
                <a16:creationId xmlns:a16="http://schemas.microsoft.com/office/drawing/2014/main" id="{3B36BC5F-B06E-439E-BEA1-7571E1A43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4840" y="4251960"/>
            <a:ext cx="3337560" cy="1051560"/>
          </a:xfrm>
          <a:prstGeom xmlns:a="http://schemas.openxmlformats.org/drawingml/2006/main" prst="roundRect">
            <a:avLst>
              <a:gd name="adj" fmla="val 695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D9E2EC"/>
            </a:solidFill>
            <a:prstDash val="solid"/>
          </a:ln>
          <a:effectLst xmlns:a="http://schemas.openxmlformats.org/drawingml/2006/main">
            <a:outerShdw blurRad="19050" dist="50800" dir="2700000" sx="100000" sy="100000" kx="0" ky="0" algn="bl" rotWithShape="0">
              <a:srgbClr val="B8C6D1">
                <a:alpha val="16000"/>
              </a:srgbClr>
            </a:outerShdw>
          </a:effectLst>
        </p:spPr>
      </p:sp>
      <p:sp>
        <p:nvSpPr>
          <p:cNvPr id="38" name="Shape 36">
            <a:extLst xmlns:a="http://schemas.openxmlformats.org/drawingml/2006/main">
              <a:ext uri="{FF2B5EF4-FFF2-40B4-BE49-F238E27FC236}">
                <a16:creationId xmlns:a16="http://schemas.microsoft.com/office/drawing/2014/main" id="{9C2B3CCD-A560-42F6-A5FE-5F3A1FF27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4840" y="4251960"/>
            <a:ext cx="73152" cy="10515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B1BC"/>
          </a:solidFill>
          <a:ln xmlns:a="http://schemas.openxmlformats.org/drawingml/2006/main" w="12700">
            <a:solidFill>
              <a:srgbClr val="2CB1BC"/>
            </a:solidFill>
            <a:prstDash val="solid"/>
          </a:ln>
        </p:spPr>
      </p:sp>
      <p:sp>
        <p:nvSpPr>
          <p:cNvPr id="39" name="Text 37">
            <a:extLst xmlns:a="http://schemas.openxmlformats.org/drawingml/2006/main">
              <a:ext uri="{FF2B5EF4-FFF2-40B4-BE49-F238E27FC236}">
                <a16:creationId xmlns:a16="http://schemas.microsoft.com/office/drawing/2014/main" id="{276D6254-8641-4905-8CEF-704795479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0872" y="4434840"/>
            <a:ext cx="29260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102A43"/>
                </a:solidFill>
              </a:rPr>
              <a:t>Local route</a:t>
            </a:r>
            <a:endParaRPr sz="1500"/>
          </a:p>
        </p:txBody>
      </p:sp>
      <p:sp>
        <p:nvSpPr>
          <p:cNvPr id="40" name="Text 38">
            <a:extLst xmlns:a="http://schemas.openxmlformats.org/drawingml/2006/main">
              <a:ext uri="{FF2B5EF4-FFF2-40B4-BE49-F238E27FC236}">
                <a16:creationId xmlns:a16="http://schemas.microsoft.com/office/drawing/2014/main" id="{B0C67F37-E1DC-473D-9771-0D3F4F038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0872" y="4818888"/>
            <a:ext cx="2898648" cy="3383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243B53"/>
                </a:solidFill>
              </a:rPr>
              <a:t>Flask UI: python -m src.app</a:t>
            </a:r>
            <a:endParaRPr sz="1150"/>
          </a:p>
        </p:txBody>
      </p:sp>
      <p:sp>
        <p:nvSpPr>
          <p:cNvPr id="41" name="Shape 39">
            <a:extLst xmlns:a="http://schemas.openxmlformats.org/drawingml/2006/main">
              <a:ext uri="{FF2B5EF4-FFF2-40B4-BE49-F238E27FC236}">
                <a16:creationId xmlns:a16="http://schemas.microsoft.com/office/drawing/2014/main" id="{5F929254-C8C4-44E8-A86D-9104A54DC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8160" y="4251960"/>
            <a:ext cx="3337560" cy="1051560"/>
          </a:xfrm>
          <a:prstGeom xmlns:a="http://schemas.openxmlformats.org/drawingml/2006/main" prst="roundRect">
            <a:avLst>
              <a:gd name="adj" fmla="val 695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D9E2EC"/>
            </a:solidFill>
            <a:prstDash val="solid"/>
          </a:ln>
          <a:effectLst xmlns:a="http://schemas.openxmlformats.org/drawingml/2006/main">
            <a:outerShdw blurRad="19050" dist="50800" dir="2700000" sx="100000" sy="100000" kx="0" ky="0" algn="bl" rotWithShape="0">
              <a:srgbClr val="B8C6D1">
                <a:alpha val="16000"/>
              </a:srgbClr>
            </a:outerShdw>
          </a:effectLst>
        </p:spPr>
      </p:sp>
      <p:sp>
        <p:nvSpPr>
          <p:cNvPr id="42" name="Shape 40">
            <a:extLst xmlns:a="http://schemas.openxmlformats.org/drawingml/2006/main">
              <a:ext uri="{FF2B5EF4-FFF2-40B4-BE49-F238E27FC236}">
                <a16:creationId xmlns:a16="http://schemas.microsoft.com/office/drawing/2014/main" id="{0BFCCBD3-500F-464F-9603-D43A36A0B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8160" y="4251960"/>
            <a:ext cx="73152" cy="10515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8F65"/>
          </a:solidFill>
          <a:ln xmlns:a="http://schemas.openxmlformats.org/drawingml/2006/main" w="12700">
            <a:solidFill>
              <a:srgbClr val="178F65"/>
            </a:solidFill>
            <a:prstDash val="solid"/>
          </a:ln>
        </p:spPr>
      </p:sp>
      <p:sp>
        <p:nvSpPr>
          <p:cNvPr id="43" name="Text 41">
            <a:extLst xmlns:a="http://schemas.openxmlformats.org/drawingml/2006/main">
              <a:ext uri="{FF2B5EF4-FFF2-40B4-BE49-F238E27FC236}">
                <a16:creationId xmlns:a16="http://schemas.microsoft.com/office/drawing/2014/main" id="{F8A72DC8-904C-493C-9DDF-074D4020D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4192" y="4434840"/>
            <a:ext cx="29260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102A43"/>
                </a:solidFill>
              </a:rPr>
              <a:t>Verification</a:t>
            </a:r>
            <a:endParaRPr sz="1500"/>
          </a:p>
        </p:txBody>
      </p:sp>
      <p:sp>
        <p:nvSpPr>
          <p:cNvPr id="44" name="Text 42">
            <a:extLst xmlns:a="http://schemas.openxmlformats.org/drawingml/2006/main">
              <a:ext uri="{FF2B5EF4-FFF2-40B4-BE49-F238E27FC236}">
                <a16:creationId xmlns:a16="http://schemas.microsoft.com/office/drawing/2014/main" id="{B7375BB0-4D39-440F-BC83-2297E7103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4192" y="4818888"/>
            <a:ext cx="2898648" cy="3383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243B53"/>
                </a:solidFill>
              </a:rPr>
              <a:t>26 tests + valid and invalid input.</a:t>
            </a:r>
            <a:endParaRPr sz="1150"/>
          </a:p>
        </p:txBody>
      </p:sp>
      <p:sp>
        <p:nvSpPr>
          <p:cNvPr id="45" name="Text 43">
            <a:extLst xmlns:a="http://schemas.openxmlformats.org/drawingml/2006/main">
              <a:ext uri="{FF2B5EF4-FFF2-40B4-BE49-F238E27FC236}">
                <a16:creationId xmlns:a16="http://schemas.microsoft.com/office/drawing/2014/main" id="{9226E71D-8B15-4B19-B987-BD30571D8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6190488"/>
            <a:ext cx="1042416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i="1">
                <a:solidFill>
                  <a:srgbClr val="627D98"/>
                </a:solidFill>
              </a:rPr>
              <a:t>Example output: 10.4885 units; each request loads the model without retraining.</a:t>
            </a:r>
            <a:endParaRPr sz="1000"/>
          </a:p>
        </p:txBody>
      </p:sp>
      <p:sp>
        <p:nvSpPr>
          <p:cNvPr id="46" name="Slide Number Placeholder 0">
            <a:extLst xmlns:a="http://schemas.openxmlformats.org/drawingml/2006/main">
              <a:ext uri="{FF2B5EF4-FFF2-40B4-BE49-F238E27FC236}">
                <a16:creationId xmlns:a16="http://schemas.microsoft.com/office/drawing/2014/main" id="{594BEDE2-2178-4677-B506-E17EC89CF227}"/>
              </a:ext>
            </a:extLst>
          </p:cNvPr>
          <p:cNvSpPr>
            <a:spLocks xmlns:a="http://schemas.openxmlformats.org/drawingml/2006/main" noGrp="1"/>
          </p:cNvSpPr>
          <p:nvPr>
            <p:ph type="sldNum" idx="4294967295"/>
          </p:nvPr>
        </p:nvSpPr>
        <p:spPr>
          <a:xfrm xmlns:a="http://schemas.openxmlformats.org/drawingml/2006/main">
            <a:off x="11274552" y="6565392"/>
            <a:ext cx="411480" cy="1371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80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 xmlns:a="http://schemas.openxmlformats.org/drawingml/2006/main">
            <a:pPr algn="r">
              <a:buNone/>
            </a:pPr>
            <a:fld id="{F7021451-1387-4CA6-816F-3879F97B5CBC}" type="slidenum">
              <a:rPr b="0"/>
              <a:t>15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108241662"/>
      </p:ext>
    </p:extLst>
  </p:cSld>
</p:sld>
</file>

<file path=ppt/slides/slide1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E1B2A1AE-5831-4116-9546-D0DB9097A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530352"/>
            <a:ext cx="292608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110">
                <a:solidFill>
                  <a:srgbClr val="1976D2"/>
                </a:solidFill>
              </a:rPr>
              <a:t>10 • RESPONSIBLE USE</a:t>
            </a:r>
            <a:endParaRPr sz="10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C448B580-3D63-4864-99F1-61463DD2F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804672"/>
            <a:ext cx="1097280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700" b="1">
                <a:solidFill>
                  <a:srgbClr val="102A43"/>
                </a:solidFill>
              </a:rPr>
              <a:t>Reproducibility and limits of use</a:t>
            </a:r>
            <a:endParaRPr sz="270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BF2F6F9D-AF90-4891-883D-D4F06A647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08760"/>
            <a:ext cx="3429000" cy="192024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D9E2EC"/>
            </a:solidFill>
            <a:prstDash val="solid"/>
          </a:ln>
          <a:effectLst xmlns:a="http://schemas.openxmlformats.org/drawingml/2006/main">
            <a:outerShdw blurRad="19050" dist="50800" dir="2700000" sx="100000" sy="100000" kx="0" ky="0" algn="bl" rotWithShape="0">
              <a:srgbClr val="B8C6D1">
                <a:alpha val="16000"/>
              </a:srgbClr>
            </a:outerShdw>
          </a:effectLst>
        </p:spPr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1A595DE0-2C97-45C1-9ADA-19B84FFB2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08760"/>
            <a:ext cx="73152" cy="19202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8F65"/>
          </a:solidFill>
          <a:ln xmlns:a="http://schemas.openxmlformats.org/drawingml/2006/main" w="12700">
            <a:solidFill>
              <a:srgbClr val="178F65"/>
            </a:solidFill>
            <a:prstDash val="solid"/>
          </a:ln>
        </p:spPr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6D545D98-3E1B-4E17-9D18-3F18E6632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832" y="1691640"/>
            <a:ext cx="30175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102A43"/>
                </a:solidFill>
              </a:rPr>
              <a:t>What was verified</a:t>
            </a:r>
            <a:endParaRPr sz="1500"/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66399F15-AE57-498D-B577-874198FCF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832" y="2075688"/>
            <a:ext cx="2990088" cy="12070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243B53"/>
                </a:solidFill>
              </a:rPr>
              <a:t>Clean GitHub clone</a:t>
            </a:r>
            <a:endParaRPr sz="1150"/>
          </a:p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243B53"/>
                </a:solidFill>
              </a:rPr>
              <a:t>Fresh Python 3.10 environment</a:t>
            </a:r>
            <a:endParaRPr sz="1150"/>
          </a:p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243B53"/>
                </a:solidFill>
              </a:rPr>
              <a:t>Requirements installation</a:t>
            </a:r>
            <a:endParaRPr sz="1150"/>
          </a:p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243B53"/>
                </a:solidFill>
              </a:rPr>
              <a:t>26 tests PASS</a:t>
            </a:r>
            <a:endParaRPr sz="1150"/>
          </a:p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243B53"/>
                </a:solidFill>
              </a:rPr>
              <a:t>Same forecast: 10.4885</a:t>
            </a:r>
            <a:endParaRPr sz="1150"/>
          </a:p>
        </p:txBody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8F64F6D1-D96B-44ED-87F5-E7C913E57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9120" y="1508760"/>
            <a:ext cx="3429000" cy="192024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D9E2EC"/>
            </a:solidFill>
            <a:prstDash val="solid"/>
          </a:ln>
          <a:effectLst xmlns:a="http://schemas.openxmlformats.org/drawingml/2006/main">
            <a:outerShdw blurRad="19050" dist="50800" dir="2700000" sx="100000" sy="100000" kx="0" ky="0" algn="bl" rotWithShape="0">
              <a:srgbClr val="B8C6D1">
                <a:alpha val="16000"/>
              </a:srgbClr>
            </a:outerShdw>
          </a:effectLst>
        </p:spPr>
      </p:sp>
      <p:sp>
        <p:nvSpPr>
          <p:cNvPr id="9" name="Shape 7">
            <a:extLst xmlns:a="http://schemas.openxmlformats.org/drawingml/2006/main">
              <a:ext uri="{FF2B5EF4-FFF2-40B4-BE49-F238E27FC236}">
                <a16:creationId xmlns:a16="http://schemas.microsoft.com/office/drawing/2014/main" id="{B1854AE3-7AEC-4162-92F9-F0A820A93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9120" y="1508760"/>
            <a:ext cx="73152" cy="19202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4545"/>
          </a:solidFill>
          <a:ln xmlns:a="http://schemas.openxmlformats.org/drawingml/2006/main" w="12700">
            <a:solidFill>
              <a:srgbClr val="D64545"/>
            </a:solidFill>
            <a:prstDash val="solid"/>
          </a:ln>
        </p:spPr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A95BFEA1-97DE-401A-9CB6-E561C8C68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5152" y="1691640"/>
            <a:ext cx="30175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102A43"/>
                </a:solidFill>
              </a:rPr>
              <a:t>Where not to use it</a:t>
            </a:r>
            <a:endParaRPr sz="1500"/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72ECC377-9660-4869-8172-D420A6143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5152" y="2075688"/>
            <a:ext cx="2990088" cy="12070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243B53"/>
                </a:solidFill>
              </a:rPr>
              <a:t>Automatic purchasing without review</a:t>
            </a:r>
            <a:endParaRPr sz="1150"/>
          </a:p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243B53"/>
                </a:solidFill>
              </a:rPr>
              <a:t>Another retailer without retraining</a:t>
            </a:r>
            <a:endParaRPr sz="1150"/>
          </a:p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243B53"/>
                </a:solidFill>
              </a:rPr>
              <a:t>Uzbekistan without local data</a:t>
            </a:r>
            <a:endParaRPr sz="1150"/>
          </a:p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243B53"/>
                </a:solidFill>
              </a:rPr>
              <a:t>Today's market without a new test</a:t>
            </a:r>
            <a:endParaRPr sz="1150"/>
          </a:p>
        </p:txBody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35CDD541-502C-4735-87AF-DA0692EAB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2440" y="1508760"/>
            <a:ext cx="3429000" cy="192024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D9E2EC"/>
            </a:solidFill>
            <a:prstDash val="solid"/>
          </a:ln>
          <a:effectLst xmlns:a="http://schemas.openxmlformats.org/drawingml/2006/main">
            <a:outerShdw blurRad="19050" dist="50800" dir="2700000" sx="100000" sy="100000" kx="0" ky="0" algn="bl" rotWithShape="0">
              <a:srgbClr val="B8C6D1">
                <a:alpha val="16000"/>
              </a:srgbClr>
            </a:outerShdw>
          </a:effectLst>
        </p:spPr>
      </p:sp>
      <p:sp>
        <p:nvSpPr>
          <p:cNvPr id="13" name="Shape 11">
            <a:extLst xmlns:a="http://schemas.openxmlformats.org/drawingml/2006/main">
              <a:ext uri="{FF2B5EF4-FFF2-40B4-BE49-F238E27FC236}">
                <a16:creationId xmlns:a16="http://schemas.microsoft.com/office/drawing/2014/main" id="{1FC2C26C-EA1F-49D2-8C42-ABD390EAB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2440" y="1508760"/>
            <a:ext cx="73152" cy="19202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76D2"/>
          </a:solidFill>
          <a:ln xmlns:a="http://schemas.openxmlformats.org/drawingml/2006/main" w="12700">
            <a:solidFill>
              <a:srgbClr val="1976D2"/>
            </a:solidFill>
            <a:prstDash val="solid"/>
          </a:ln>
        </p:spPr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8833B38C-E0DC-4419-B59A-CA30254E7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8472" y="1691640"/>
            <a:ext cx="30175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102A43"/>
                </a:solidFill>
              </a:rPr>
              <a:t>What to improve next</a:t>
            </a:r>
            <a:endParaRPr sz="1500"/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3D3BACDC-625E-4268-9DF2-E002C88AE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8472" y="2075688"/>
            <a:ext cx="2990088" cy="12070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243B53"/>
                </a:solidFill>
              </a:rPr>
              <a:t>Local data</a:t>
            </a:r>
            <a:endParaRPr sz="1150"/>
          </a:p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243B53"/>
                </a:solidFill>
              </a:rPr>
              <a:t>Promotions and inventory levels</a:t>
            </a:r>
            <a:endParaRPr sz="1150"/>
          </a:p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243B53"/>
                </a:solidFill>
              </a:rPr>
              <a:t>Prediction intervals</a:t>
            </a:r>
            <a:endParaRPr sz="1150"/>
          </a:p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243B53"/>
                </a:solidFill>
              </a:rPr>
              <a:t>Drift monitoring and retraining</a:t>
            </a:r>
            <a:endParaRPr sz="1150"/>
          </a:p>
        </p:txBody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83E21828-34BF-49C7-8D94-7D13A1179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069080"/>
            <a:ext cx="9875520" cy="1143000"/>
          </a:xfrm>
          <a:prstGeom xmlns:a="http://schemas.openxmlformats.org/drawingml/2006/main" prst="roundRect">
            <a:avLst>
              <a:gd name="adj" fmla="val 4800"/>
            </a:avLst>
          </a:prstGeom>
          <a:solidFill xmlns:a="http://schemas.openxmlformats.org/drawingml/2006/main">
            <a:srgbClr val="102A43"/>
          </a:solidFill>
          <a:ln xmlns:a="http://schemas.openxmlformats.org/drawingml/2006/main" w="12700">
            <a:solidFill>
              <a:srgbClr val="102A43"/>
            </a:solidFill>
            <a:prstDash val="solid"/>
          </a:ln>
        </p:spPr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52820C8F-9BC7-40A6-88C1-9CF6BA733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3040" y="4361688"/>
            <a:ext cx="91440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 b="1">
                <a:solidFill>
                  <a:srgbClr val="F59E0B"/>
                </a:solidFill>
              </a:rPr>
              <a:t>Result</a:t>
            </a:r>
            <a:endParaRPr sz="1800"/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D54E3691-EE78-4D21-BD51-B07BA326C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1720" y="4251960"/>
            <a:ext cx="8138160" cy="5120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93241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 b="1">
                <a:solidFill>
                  <a:srgbClr val="FFFFFF"/>
                </a:solidFill>
              </a:rPr>
              <a:t>Random Forest provides a useful improvement, but remains a decision-support tool with human review.</a:t>
            </a:r>
            <a:endParaRPr sz="1800"/>
          </a:p>
        </p:txBody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1762B264-4A4E-493D-B889-06668EB51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6190488"/>
            <a:ext cx="1042416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i="1">
                <a:solidFill>
                  <a:srgbClr val="627D98"/>
                </a:solidFill>
              </a:rPr>
              <a:t>The project can be explained through evidence: data → decisions → metrics → errors → limitations.</a:t>
            </a:r>
            <a:endParaRPr sz="1000"/>
          </a:p>
        </p:txBody>
      </p:sp>
      <p:sp>
        <p:nvSpPr>
          <p:cNvPr id="25" name="Slide Number Placeholder 0">
            <a:extLst xmlns:a="http://schemas.openxmlformats.org/drawingml/2006/main">
              <a:ext uri="{FF2B5EF4-FFF2-40B4-BE49-F238E27FC236}">
                <a16:creationId xmlns:a16="http://schemas.microsoft.com/office/drawing/2014/main" id="{C10E0CB0-9773-4939-81A5-656A2DA94111}"/>
              </a:ext>
            </a:extLst>
          </p:cNvPr>
          <p:cNvSpPr>
            <a:spLocks xmlns:a="http://schemas.openxmlformats.org/drawingml/2006/main" noGrp="1"/>
          </p:cNvSpPr>
          <p:nvPr>
            <p:ph type="sldNum" idx="4294967295"/>
          </p:nvPr>
        </p:nvSpPr>
        <p:spPr>
          <a:xfrm xmlns:a="http://schemas.openxmlformats.org/drawingml/2006/main">
            <a:off x="11274552" y="6565392"/>
            <a:ext cx="411480" cy="1371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80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 xmlns:a="http://schemas.openxmlformats.org/drawingml/2006/main">
            <a:pPr algn="r">
              <a:buNone/>
            </a:pPr>
            <a:fld id="{F7021451-1387-4CA6-816F-3879F97B5CBC}" type="slidenum">
              <a:rPr b="0"/>
              <a:t>16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107809348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102A4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8AC83042-9057-4FF3-9E09-6F496EAE6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43"/>
          </a:solidFill>
          <a:ln xmlns:a="http://schemas.openxmlformats.org/drawingml/2006/main" w="12700">
            <a:solidFill>
              <a:srgbClr val="102A43"/>
            </a:solidFill>
            <a:prstDash val="solid"/>
          </a:ln>
        </p:spPr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312B6EC6-4FE1-49F1-B816-6492EC843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960120"/>
            <a:ext cx="4572000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4200" b="1">
                <a:solidFill>
                  <a:srgbClr val="FFFFFF"/>
                </a:solidFill>
              </a:rPr>
              <a:t>Thank you</a:t>
            </a:r>
            <a:endParaRPr sz="420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FA002C79-9441-4681-9069-F7A3C0574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528" y="1783080"/>
            <a:ext cx="420624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800" b="1">
                <a:solidFill>
                  <a:srgbClr val="F59E0B"/>
                </a:solidFill>
              </a:rPr>
              <a:t>Questions?</a:t>
            </a:r>
            <a:endParaRPr sz="2800"/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9E9C51FB-BDF6-46F2-99FA-99F8689C5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2743200"/>
            <a:ext cx="5669280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000">
                <a:solidFill>
                  <a:srgbClr val="C7DDFC"/>
                </a:solidFill>
              </a:rPr>
              <a:t>Decision  →  Evidence  →  Limitation</a:t>
            </a:r>
            <a:endParaRPr sz="2000"/>
          </a:p>
        </p:txBody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A89309F0-8674-4AB6-BC8F-77DBB0AF2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3720" y="960120"/>
            <a:ext cx="4251960" cy="1143000"/>
          </a:xfrm>
          <a:prstGeom xmlns:a="http://schemas.openxmlformats.org/drawingml/2006/main" prst="roundRect">
            <a:avLst>
              <a:gd name="adj" fmla="val 64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D9E2EC"/>
            </a:solidFill>
            <a:prstDash val="solid"/>
          </a:ln>
          <a:effectLst xmlns:a="http://schemas.openxmlformats.org/drawingml/2006/main">
            <a:outerShdw blurRad="19050" dist="50800" dir="2700000" sx="100000" sy="100000" kx="0" ky="0" algn="bl" rotWithShape="0">
              <a:srgbClr val="B8C6D1">
                <a:alpha val="16000"/>
              </a:srgbClr>
            </a:outerShdw>
          </a:effectLst>
        </p:spPr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C220D957-E912-475F-8EB2-CD07C179E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3720" y="960120"/>
            <a:ext cx="73152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8F65"/>
          </a:solidFill>
          <a:ln xmlns:a="http://schemas.openxmlformats.org/drawingml/2006/main" w="12700">
            <a:solidFill>
              <a:srgbClr val="178F65"/>
            </a:solidFill>
            <a:prstDash val="solid"/>
          </a:ln>
        </p:spPr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35782145-4D20-49D7-9C22-7669C8762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9752" y="1143000"/>
            <a:ext cx="38404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102A43"/>
                </a:solidFill>
              </a:rPr>
              <a:t>Main result</a:t>
            </a:r>
            <a:endParaRPr sz="1500"/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3D5E0979-4C6D-44FF-B99B-290AED00D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9752" y="1527048"/>
            <a:ext cx="3813048" cy="4297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243B53"/>
                </a:solidFill>
              </a:rPr>
              <a:t>Test MAE 4.4179 • improvement 7.72%</a:t>
            </a:r>
            <a:endParaRPr sz="1150"/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79443802-E535-4337-A9F3-25F7ACD6B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3720" y="2377440"/>
            <a:ext cx="4251960" cy="1143000"/>
          </a:xfrm>
          <a:prstGeom xmlns:a="http://schemas.openxmlformats.org/drawingml/2006/main" prst="roundRect">
            <a:avLst>
              <a:gd name="adj" fmla="val 64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D9E2EC"/>
            </a:solidFill>
            <a:prstDash val="solid"/>
          </a:ln>
          <a:effectLst xmlns:a="http://schemas.openxmlformats.org/drawingml/2006/main">
            <a:outerShdw blurRad="19050" dist="50800" dir="2700000" sx="100000" sy="100000" kx="0" ky="0" algn="bl" rotWithShape="0">
              <a:srgbClr val="B8C6D1">
                <a:alpha val="16000"/>
              </a:srgbClr>
            </a:outerShdw>
          </a:effectLst>
        </p:spPr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DC030E89-28C9-41DC-89FB-2E8ADA364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3720" y="2377440"/>
            <a:ext cx="73152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4545"/>
          </a:solidFill>
          <a:ln xmlns:a="http://schemas.openxmlformats.org/drawingml/2006/main" w="12700">
            <a:solidFill>
              <a:srgbClr val="D64545"/>
            </a:solidFill>
            <a:prstDash val="solid"/>
          </a:ln>
        </p:spPr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82FDE94A-4003-40B4-82ED-F58598FE5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9752" y="2560320"/>
            <a:ext cx="38404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102A43"/>
                </a:solidFill>
              </a:rPr>
              <a:t>Main risk</a:t>
            </a:r>
            <a:endParaRPr sz="1500"/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0FE3FEA6-732D-461C-9ECF-01AD976C2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9752" y="2944368"/>
            <a:ext cx="3813048" cy="4297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243B53"/>
                </a:solidFill>
              </a:rPr>
              <a:t>High demand is harder: MAE 12.33</a:t>
            </a:r>
            <a:endParaRPr sz="1150"/>
          </a:p>
        </p:txBody>
      </p:sp>
      <p:sp>
        <p:nvSpPr>
          <p:cNvPr id="14" name="Shape 12">
            <a:extLst xmlns:a="http://schemas.openxmlformats.org/drawingml/2006/main">
              <a:ext uri="{FF2B5EF4-FFF2-40B4-BE49-F238E27FC236}">
                <a16:creationId xmlns:a16="http://schemas.microsoft.com/office/drawing/2014/main" id="{5C10484D-F300-4F16-9446-B647FD8E6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3720" y="3794760"/>
            <a:ext cx="4251960" cy="1143000"/>
          </a:xfrm>
          <a:prstGeom xmlns:a="http://schemas.openxmlformats.org/drawingml/2006/main" prst="roundRect">
            <a:avLst>
              <a:gd name="adj" fmla="val 64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D9E2EC"/>
            </a:solidFill>
            <a:prstDash val="solid"/>
          </a:ln>
          <a:effectLst xmlns:a="http://schemas.openxmlformats.org/drawingml/2006/main">
            <a:outerShdw blurRad="19050" dist="50800" dir="2700000" sx="100000" sy="100000" kx="0" ky="0" algn="bl" rotWithShape="0">
              <a:srgbClr val="B8C6D1">
                <a:alpha val="16000"/>
              </a:srgbClr>
            </a:outerShdw>
          </a:effectLst>
        </p:spPr>
      </p:sp>
      <p:sp>
        <p:nvSpPr>
          <p:cNvPr id="15" name="Shape 13">
            <a:extLst xmlns:a="http://schemas.openxmlformats.org/drawingml/2006/main">
              <a:ext uri="{FF2B5EF4-FFF2-40B4-BE49-F238E27FC236}">
                <a16:creationId xmlns:a16="http://schemas.microsoft.com/office/drawing/2014/main" id="{CF0423B1-38D0-4F4F-A890-1AF0F3BFA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3720" y="3794760"/>
            <a:ext cx="73152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12700">
            <a:solidFill>
              <a:srgbClr val="F59E0B"/>
            </a:solidFill>
            <a:prstDash val="solid"/>
          </a:ln>
        </p:spPr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146A08DD-B866-48E5-9F4E-0FCB43BA1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9752" y="3977640"/>
            <a:ext cx="38404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102A43"/>
                </a:solidFill>
              </a:rPr>
              <a:t>Main conclusion</a:t>
            </a:r>
            <a:endParaRPr sz="1500"/>
          </a:p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EE943FCF-13E4-41BF-B590-51BFACBC6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9752" y="4361688"/>
            <a:ext cx="3813048" cy="4297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243B53"/>
                </a:solidFill>
              </a:rPr>
              <a:t>Use with human review</a:t>
            </a:r>
            <a:endParaRPr sz="1150"/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C70078DD-7B99-4EBD-8759-1BD0322C3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5166360"/>
            <a:ext cx="548640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>
                <a:solidFill>
                  <a:srgbClr val="FFFFFF"/>
                </a:solidFill>
              </a:rPr>
              <a:t>GitHub: retail-demand-forecasting</a:t>
            </a:r>
            <a:endParaRPr sz="1500"/>
          </a:p>
          <a:p xmlns:a="http://schemas.openxmlformats.org/drawingml/2006/main">
            <a:pPr marL="0" indent="0">
              <a:buNone/>
            </a:pPr>
            <a:r>
              <a:rPr sz="1500">
                <a:solidFill>
                  <a:srgbClr val="FFFFFF"/>
                </a:solidFill>
              </a:rPr>
              <a:t>Demo: demo.ipynb / Flask UI</a:t>
            </a:r>
            <a:endParaRPr sz="1500"/>
          </a:p>
        </p:txBody>
      </p:sp>
      <p:sp>
        <p:nvSpPr>
          <p:cNvPr id="25" name="Slide Number Placeholder 0">
            <a:extLst xmlns:a="http://schemas.openxmlformats.org/drawingml/2006/main">
              <a:ext uri="{FF2B5EF4-FFF2-40B4-BE49-F238E27FC236}">
                <a16:creationId xmlns:a16="http://schemas.microsoft.com/office/drawing/2014/main" id="{2CD5E376-AF88-4CCB-A9AC-20319275E46A}"/>
              </a:ext>
            </a:extLst>
          </p:cNvPr>
          <p:cNvSpPr>
            <a:spLocks xmlns:a="http://schemas.openxmlformats.org/drawingml/2006/main" noGrp="1"/>
          </p:cNvSpPr>
          <p:nvPr>
            <p:ph type="sldNum" idx="4294967295"/>
          </p:nvPr>
        </p:nvSpPr>
        <p:spPr>
          <a:xfrm xmlns:a="http://schemas.openxmlformats.org/drawingml/2006/main">
            <a:off x="11274552" y="6565392"/>
            <a:ext cx="411480" cy="1371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80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 xmlns:a="http://schemas.openxmlformats.org/drawingml/2006/main">
            <a:pPr algn="r">
              <a:buNone/>
            </a:pPr>
            <a:fld id="{F7021451-1387-4CA6-816F-3879F97B5CBC}" type="slidenum">
              <a:rPr b="0"/>
              <a:t>17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607760524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2026-08-16T15:10:14.6210000Z</dcterms:created>
  <dcterms:modified xsi:type="dcterms:W3CDTF">2026-08-16T15:10:14.6210000Z</dcterms:modified>
</coreProperties>
</file>