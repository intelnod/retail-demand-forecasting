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2cc63e60fc4c41" /><Relationship Type="http://schemas.openxmlformats.org/officeDocument/2006/relationships/extended-properties" Target="/docProps/app.xml" Id="R5b6d782593904401" /><Relationship Type="http://schemas.openxmlformats.org/officeDocument/2006/relationships/officeDocument" Target="/ppt/presentation.xml" Id="R7763aa90fb6c4a65" /></Relationships>
</file>

<file path=ppt/presentation.xml><?xml version="1.0" encoding="utf-8"?>
<p:presentation xmlns:p="http://schemas.openxmlformats.org/presentationml/2006/main">
  <p:sldMasterIdLst>
    <p:sldMasterId xmlns:r="http://schemas.openxmlformats.org/officeDocument/2006/relationships" id="2147483648" r:id="R3fb07bf186b14581"/>
  </p:sldMasterIdLst>
  <p:notesMasterIdLst>
    <p:notesMasterId xmlns:r="http://schemas.openxmlformats.org/officeDocument/2006/relationships" r:id="Rc9b699bf9788426c"/>
  </p:notesMasterIdLst>
  <p:sldIdLst>
    <p:sldId xmlns:r="http://schemas.openxmlformats.org/officeDocument/2006/relationships" id="256" r:id="R54a2a471d9dc40ef"/>
    <p:sldId xmlns:r="http://schemas.openxmlformats.org/officeDocument/2006/relationships" id="257" r:id="R27f4818577e84b99"/>
    <p:sldId xmlns:r="http://schemas.openxmlformats.org/officeDocument/2006/relationships" id="258" r:id="R096ed3a9ae0e4157"/>
    <p:sldId xmlns:r="http://schemas.openxmlformats.org/officeDocument/2006/relationships" id="259" r:id="R1463411e4169430d"/>
    <p:sldId xmlns:r="http://schemas.openxmlformats.org/officeDocument/2006/relationships" id="260" r:id="R9d810716149a4351"/>
    <p:sldId xmlns:r="http://schemas.openxmlformats.org/officeDocument/2006/relationships" id="261" r:id="R99a8305613614cbf"/>
    <p:sldId xmlns:r="http://schemas.openxmlformats.org/officeDocument/2006/relationships" id="262" r:id="Re1957f3243ee41fb"/>
    <p:sldId xmlns:r="http://schemas.openxmlformats.org/officeDocument/2006/relationships" id="263" r:id="R3a56acc46ff142f4"/>
    <p:sldId xmlns:r="http://schemas.openxmlformats.org/officeDocument/2006/relationships" id="264" r:id="R646b5dc3d7404276"/>
    <p:sldId xmlns:r="http://schemas.openxmlformats.org/officeDocument/2006/relationships" id="265" r:id="Rf88c4b96383941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be8152b8c04ae1" /><Relationship Type="http://schemas.openxmlformats.org/officeDocument/2006/relationships/slideMaster" Target="/ppt/slideMasters/slideMaster1.xml" Id="R3fb07bf186b14581" /><Relationship Type="http://schemas.openxmlformats.org/officeDocument/2006/relationships/notesMaster" Target="/ppt/notesMasters/notesMaster1.xml" Id="Rc9b699bf9788426c" /><Relationship Type="http://schemas.openxmlformats.org/officeDocument/2006/relationships/presProps" Target="/ppt/presProps.xml" Id="Rb143e73ec5b54251" /><Relationship Type="http://schemas.openxmlformats.org/officeDocument/2006/relationships/tableStyles" Target="/ppt/tableStyles.xml" Id="R8a188345315d4ff0" /><Relationship Type="http://schemas.openxmlformats.org/officeDocument/2006/relationships/slide" Target="/ppt/slides/slide1.xml" Id="R54a2a471d9dc40ef" /><Relationship Type="http://schemas.openxmlformats.org/officeDocument/2006/relationships/slide" Target="/ppt/slides/slide2.xml" Id="R27f4818577e84b99" /><Relationship Type="http://schemas.openxmlformats.org/officeDocument/2006/relationships/slide" Target="/ppt/slides/slide3.xml" Id="R096ed3a9ae0e4157" /><Relationship Type="http://schemas.openxmlformats.org/officeDocument/2006/relationships/slide" Target="/ppt/slides/slide4.xml" Id="R1463411e4169430d" /><Relationship Type="http://schemas.openxmlformats.org/officeDocument/2006/relationships/slide" Target="/ppt/slides/slide5.xml" Id="R9d810716149a4351" /><Relationship Type="http://schemas.openxmlformats.org/officeDocument/2006/relationships/slide" Target="/ppt/slides/slide6.xml" Id="R99a8305613614cbf" /><Relationship Type="http://schemas.openxmlformats.org/officeDocument/2006/relationships/slide" Target="/ppt/slides/slide7.xml" Id="Re1957f3243ee41fb" /><Relationship Type="http://schemas.openxmlformats.org/officeDocument/2006/relationships/slide" Target="/ppt/slides/slide8.xml" Id="R3a56acc46ff142f4" /><Relationship Type="http://schemas.openxmlformats.org/officeDocument/2006/relationships/slide" Target="/ppt/slides/slide9.xml" Id="R646b5dc3d7404276" /><Relationship Type="http://schemas.openxmlformats.org/officeDocument/2006/relationships/slide" Target="/ppt/slides/slide10.xml" Id="Rf88c4b96383941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f4887c6c6b47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b3275260e54217" /><Relationship Type="http://schemas.openxmlformats.org/officeDocument/2006/relationships/notesMaster" Target="/ppt/notesMasters/notesMaster1.xml" Id="R83c41a9be9314f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88587f3e32436f" /><Relationship Type="http://schemas.openxmlformats.org/officeDocument/2006/relationships/notesMaster" Target="/ppt/notesMasters/notesMaster1.xml" Id="Rdfc9c0b561294b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93cfa6c3e2401e" /><Relationship Type="http://schemas.openxmlformats.org/officeDocument/2006/relationships/notesMaster" Target="/ppt/notesMasters/notesMaster1.xml" Id="R43559215dc0f42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568c40b8e6416a" /><Relationship Type="http://schemas.openxmlformats.org/officeDocument/2006/relationships/notesMaster" Target="/ppt/notesMasters/notesMaster1.xml" Id="R18d38570652141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0ee28791e84552" /><Relationship Type="http://schemas.openxmlformats.org/officeDocument/2006/relationships/notesMaster" Target="/ppt/notesMasters/notesMaster1.xml" Id="Re70a835d34324d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1d60a8e7544944" /><Relationship Type="http://schemas.openxmlformats.org/officeDocument/2006/relationships/notesMaster" Target="/ppt/notesMasters/notesMaster1.xml" Id="R77e3f9a0c4ea4f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2dc8c715d94fce" /><Relationship Type="http://schemas.openxmlformats.org/officeDocument/2006/relationships/notesMaster" Target="/ppt/notesMasters/notesMaster1.xml" Id="R726a47b57d144a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020ad352ce4cd6" /><Relationship Type="http://schemas.openxmlformats.org/officeDocument/2006/relationships/notesMaster" Target="/ppt/notesMasters/notesMaster1.xml" Id="R1dff955e10b040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c152ff752d43eb" /><Relationship Type="http://schemas.openxmlformats.org/officeDocument/2006/relationships/notesMaster" Target="/ppt/notesMasters/notesMaster1.xml" Id="Ra9f588d176ae40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b70765550334df6" /><Relationship Type="http://schemas.openxmlformats.org/officeDocument/2006/relationships/notesMaster" Target="/ppt/notesMasters/notesMaster1.xml" Id="Rb582782aa30c42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in one sentence: next-week product-store demand for a retail planner. State that the output supports inventory decisions.</a:t>
            </a:r>
          </a:p>
          <a:p xmlns:a="http://schemas.openxmlformats.org/drawingml/2006/main">
            <a:r>
              <a:t/>
            </a:r>
          </a:p>
          <a:p xmlns:a="http://schemas.openxmlformats.org/drawingml/2006/main">
            <a:r>
              <a:t>[Sources]</a:t>
            </a:r>
          </a:p>
          <a:p xmlns:a="http://schemas.openxmlformats.org/drawingml/2006/main">
            <a:r>
              <a:t>Project brief: https://github.com/intelNod/retail-demand-forecasting/blob/main/PROJECT_BRIEF.md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this is a regression problem and identify the stakeholder. Emphasize that the workflow uses the complete FOODS category, not a tiny sample.</a:t>
            </a:r>
          </a:p>
          <a:p xmlns:a="http://schemas.openxmlformats.org/drawingml/2006/main">
            <a:r>
              <a:t/>
            </a:r>
          </a:p>
          <a:p xmlns:a="http://schemas.openxmlformats.org/drawingml/2006/main">
            <a:r>
              <a:t>[Sources]</a:t>
            </a:r>
          </a:p>
          <a:p xmlns:a="http://schemas.openxmlformats.org/drawingml/2006/main">
            <a:r>
              <a:t>M5 competition: https://www.kaggle.com/competitions/m5-forecasting-accuracy/overview/abstract</a:t>
            </a:r>
          </a:p>
          <a:p xmlns:a="http://schemas.openxmlformats.org/drawingml/2006/main">
            <a:r>
              <a:t>Project cleaning summary: https://github.com/intelNod/retail-demand-forecasting/blob/main/reports/cleaning_summary.csv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audit to delivery. Mention that raw files are read-only, cleaning writes new files, and each notebook saves reports that can be reviewed without rerunning everything.</a:t>
            </a:r>
          </a:p>
          <a:p xmlns:a="http://schemas.openxmlformats.org/drawingml/2006/main">
            <a:r>
              <a:t/>
            </a:r>
          </a:p>
          <a:p xmlns:a="http://schemas.openxmlformats.org/drawingml/2006/main">
            <a:r>
              <a:t>[Sources]</a:t>
            </a:r>
          </a:p>
          <a:p xmlns:a="http://schemas.openxmlformats.org/drawingml/2006/main">
            <a:r>
              <a:t>Repository workflow: https://github.com/intelNod/retail-demand-forecasting#run-the-audit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time blocks. The model never sees future targets when creating lags. Selection uses validation only, and the test set is opened once after the Random Forest configuration is frozen.</a:t>
            </a:r>
          </a:p>
          <a:p xmlns:a="http://schemas.openxmlformats.org/drawingml/2006/main">
            <a:r>
              <a:t/>
            </a:r>
          </a:p>
          <a:p xmlns:a="http://schemas.openxmlformats.org/drawingml/2006/main">
            <a:r>
              <a:t>[Sources]</a:t>
            </a:r>
          </a:p>
          <a:p xmlns:a="http://schemas.openxmlformats.org/drawingml/2006/main">
            <a:r>
              <a:t>Feature split evidence: https://github.com/intelNod/retail-demand-forecasting/blob/main/reports/feature_split_summary.csv</a:t>
            </a:r>
          </a:p>
          <a:p xmlns:a="http://schemas.openxmlformats.org/drawingml/2006/main">
            <a:r>
              <a:t>Leakage checks: https://github.com/intelNod/retail-demand-forecasting/blob/main/reports/leakage_checks.csv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three validation MAEs. Linear Regression is useful negative evidence. Random Forest is selected because it beats the baseline on the same validation rows, not because it looks more advanced.</a:t>
            </a:r>
          </a:p>
          <a:p xmlns:a="http://schemas.openxmlformats.org/drawingml/2006/main">
            <a:r>
              <a:t/>
            </a:r>
          </a:p>
          <a:p xmlns:a="http://schemas.openxmlformats.org/drawingml/2006/main">
            <a:r>
              <a:t>[Sources]</a:t>
            </a:r>
          </a:p>
          <a:p xmlns:a="http://schemas.openxmlformats.org/drawingml/2006/main">
            <a:r>
              <a:t>Validation model metrics: https://github.com/intelNod/retail-demand-forecasting/blob/main/reports/random_forest_metrics_validation.csv</a:t>
            </a:r>
          </a:p>
          <a:p xmlns:a="http://schemas.openxmlformats.org/drawingml/2006/main">
            <a:r>
              <a:t>Linear Regression metrics: https://github.com/intelNod/retail-demand-forecasting/blob/main/reports/linear_regression_metrics_validation.csv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test result and comparison plainly. MAE means the average absolute error is about 4.42 units per product-store week. RMSE is also reported because it penalizes large misses more strongly.</a:t>
            </a:r>
          </a:p>
          <a:p xmlns:a="http://schemas.openxmlformats.org/drawingml/2006/main">
            <a:r>
              <a:t/>
            </a:r>
          </a:p>
          <a:p xmlns:a="http://schemas.openxmlformats.org/drawingml/2006/main">
            <a:r>
              <a:t>[Sources]</a:t>
            </a:r>
          </a:p>
          <a:p xmlns:a="http://schemas.openxmlformats.org/drawingml/2006/main">
            <a:r>
              <a:t>Final test metrics: https://github.com/intelNod/retail-demand-forecasting/blob/main/reports/final_test_metrics.csv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stop at the overall MAE. Explain that the error tail matters operationally. The model tends to underpredict high-demand weeks, so planners should review high-volume forecasts and the weakest slices.</a:t>
            </a:r>
          </a:p>
          <a:p xmlns:a="http://schemas.openxmlformats.org/drawingml/2006/main">
            <a:r>
              <a:t/>
            </a:r>
          </a:p>
          <a:p xmlns:a="http://schemas.openxmlformats.org/drawingml/2006/main">
            <a:r>
              <a:t>[Sources]</a:t>
            </a:r>
          </a:p>
          <a:p xmlns:a="http://schemas.openxmlformats.org/drawingml/2006/main">
            <a:r>
              <a:t>Demand-band errors: https://github.com/intelNod/retail-demand-forecasting/blob/main/reports/error_analysis_demand_bands.csv</a:t>
            </a:r>
          </a:p>
          <a:p xmlns:a="http://schemas.openxmlformats.org/drawingml/2006/main">
            <a:r>
              <a:t>Error summary: https://github.com/intelNod/retail-demand-forecasting/blob/main/reports/error_analysis_summary.csv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every surface calls the same validated prediction layer. Open Colab or the local UI, enter the example, show 10.4885, then remove one required field to show the clear validation error.</a:t>
            </a:r>
          </a:p>
          <a:p xmlns:a="http://schemas.openxmlformats.org/drawingml/2006/main">
            <a:r>
              <a:t/>
            </a:r>
          </a:p>
          <a:p xmlns:a="http://schemas.openxmlformats.org/drawingml/2006/main">
            <a:r>
              <a:t>[Sources]</a:t>
            </a:r>
          </a:p>
          <a:p xmlns:a="http://schemas.openxmlformats.org/drawingml/2006/main">
            <a:r>
              <a:t>API documentation: https://github.com/intelNod/retail-demand-forecasting/blob/main/API.md</a:t>
            </a:r>
          </a:p>
          <a:p xmlns:a="http://schemas.openxmlformats.org/drawingml/2006/main">
            <a:r>
              <a:t>Clean demo: https://github.com/intelNod/retail-demand-forecasting/blob/main/demo.ipynb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transferability honestly. The data is old US Walmart data, not Uzbekistan. Local use requires local holidays and programs, retraining, a chronological test, and a comparison against a local baseline.</a:t>
            </a:r>
          </a:p>
          <a:p xmlns:a="http://schemas.openxmlformats.org/drawingml/2006/main">
            <a:r>
              <a:t/>
            </a:r>
          </a:p>
          <a:p xmlns:a="http://schemas.openxmlformats.org/drawingml/2006/main">
            <a:r>
              <a:t>[Sources]</a:t>
            </a:r>
          </a:p>
          <a:p xmlns:a="http://schemas.openxmlformats.org/drawingml/2006/main">
            <a:r>
              <a:t>Responsible use: https://github.com/intelNod/retail-demand-forecasting/blob/main/RESPONSIBLE_AI.md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question: the selected model improves the simple weekly forecast and is reproducible, but error analysis defines where human judgment remains necessary. Invite questions.</a:t>
            </a:r>
          </a:p>
          <a:p xmlns:a="http://schemas.openxmlformats.org/drawingml/2006/main">
            <a:r>
              <a:t/>
            </a:r>
          </a:p>
          <a:p xmlns:a="http://schemas.openxmlformats.org/drawingml/2006/main">
            <a:r>
              <a:t>[Sources]</a:t>
            </a:r>
          </a:p>
          <a:p xmlns:a="http://schemas.openxmlformats.org/drawingml/2006/main">
            <a:r>
              <a:t>Project repository: https://github.com/intelNod/retail-demand-forecasting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fa7934357341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124faaac274cad" /><Relationship Type="http://schemas.openxmlformats.org/officeDocument/2006/relationships/slideLayout" Target="/ppt/slideLayouts/slideLayout1.xml" Id="R83400458629e40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400458629e40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e869a99adb41ad" /><Relationship Type="http://schemas.openxmlformats.org/officeDocument/2006/relationships/notesSlide" Target="/ppt/notesSlides/notesSlide1.xml" Id="R217cd7d35d5643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449a4c50a24211" /><Relationship Type="http://schemas.openxmlformats.org/officeDocument/2006/relationships/notesSlide" Target="/ppt/notesSlides/notesSlide2.xml" Id="R992f32756e644b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357b5e9d3043d4" /><Relationship Type="http://schemas.openxmlformats.org/officeDocument/2006/relationships/notesSlide" Target="/ppt/notesSlides/notesSlide3.xml" Id="Re3978f253cfc4f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6ef5eba42f4b28" /><Relationship Type="http://schemas.openxmlformats.org/officeDocument/2006/relationships/notesSlide" Target="/ppt/notesSlides/notesSlide4.xml" Id="R45d927021ae74d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417efaa7264cea" /><Relationship Type="http://schemas.openxmlformats.org/officeDocument/2006/relationships/chart" Target="/ppt/slides/charts/chart1.xml" Id="Rcb2c106972604731" /><Relationship Type="http://schemas.openxmlformats.org/officeDocument/2006/relationships/notesSlide" Target="/ppt/notesSlides/notesSlide5.xml" Id="R1e5bf994c6d84c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15d51443294eed" /><Relationship Type="http://schemas.openxmlformats.org/officeDocument/2006/relationships/notesSlide" Target="/ppt/notesSlides/notesSlide6.xml" Id="R4b775349bb564c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9949a5fb6c4a20" /><Relationship Type="http://schemas.openxmlformats.org/officeDocument/2006/relationships/chart" Target="/ppt/slides/charts/chart2.xml" Id="R2929923b4e64458a" /><Relationship Type="http://schemas.openxmlformats.org/officeDocument/2006/relationships/notesSlide" Target="/ppt/notesSlides/notesSlide7.xml" Id="Ra388e6657bca47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1f05330c254192" /><Relationship Type="http://schemas.openxmlformats.org/officeDocument/2006/relationships/notesSlide" Target="/ppt/notesSlides/notesSlide8.xml" Id="Rdb4dd9330a4645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9ada69a4d541b2" /><Relationship Type="http://schemas.openxmlformats.org/officeDocument/2006/relationships/notesSlide" Target="/ppt/notesSlides/notesSlide9.xml" Id="Rb5f5ca1292144f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79f57a2af474339" /><Relationship Type="http://schemas.openxmlformats.org/officeDocument/2006/relationships/notesSlide" Target="/ppt/notesSlides/notesSlide10.xml" Id="Re56644ebef0a4691" /></Relationships>
</file>

<file path=ppt/slides/charts/chart1.xml><?xml version="1.0" encoding="utf-8"?>
<c:chartSpace xmlns:c="http://schemas.openxmlformats.org/drawingml/2006/chart">
  <c:lang val="en-US"/>
  <c:chart>
    <c:plotArea>
      <c:barChart>
        <c:barDir val="bar"/>
        <c:grouping val="clustered"/>
        <c:varyColors val="0"/>
        <c:ser>
          <c:idx val="0"/>
          <c:order val="0"/>
          <c:tx>
            <c:v>Validation MAE</c:v>
          </c:tx>
          <c:spPr>
            <a:solidFill xmlns:a="http://schemas.openxmlformats.org/drawingml/2006/main">
              <a:srgbClr val="3D8DFF"/>
            </a:solidFill>
          </c:spPr>
          <c:cat>
            <c:strLit>
              <c:ptCount val="3"/>
              <c:pt idx="0">
                <c:v>Linear Regression</c:v>
              </c:pt>
              <c:pt idx="1">
                <c:v>4-week baseline</c:v>
              </c:pt>
              <c:pt idx="2">
                <c:v>Random Forest</c:v>
              </c:pt>
            </c:strLit>
          </c:cat>
          <c:val>
            <c:numLit>
              <c:formatCode>General</c:formatCode>
              <c:ptCount val="3"/>
              <c:pt idx="0">
                <c:v>4.766</c:v>
              </c:pt>
              <c:pt idx="1">
                <c:v>4.517</c:v>
              </c:pt>
              <c:pt idx="2">
                <c:v>4.27</c:v>
              </c:pt>
            </c:numLit>
          </c:val>
        </c:ser>
        <c:dLbls>
          <c:txPr>
            <a:bodyPr xmlns:a="http://schemas.openxmlformats.org/drawingml/2006/main" anchorCtr="1"/>
            <a:lstStyle xmlns:a="http://schemas.openxmlformats.org/drawingml/2006/main"/>
            <a:p xmlns:a="http://schemas.openxmlformats.org/drawingml/2006/main">
              <a:pPr>
                <a:defRPr sz="1275" b="1">
                  <a:solidFill>
                    <a:srgbClr val="000000"/>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t>MAE (units, lower is better)</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F6670"/>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350">
                <a:solidFill>
                  <a:srgbClr val="000000"/>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Test MAE</c:v>
          </c:tx>
          <c:spPr>
            <a:solidFill xmlns:a="http://schemas.openxmlformats.org/drawingml/2006/main">
              <a:srgbClr val="6DCBF4"/>
            </a:solidFill>
          </c:spPr>
          <c:dPt>
            <c:idx val="3"/>
            <c:invertIfNegative val="0"/>
            <c:spPr>
              <a:solidFill xmlns:a="http://schemas.openxmlformats.org/drawingml/2006/main">
                <a:srgbClr val="3D8DFF"/>
              </a:solidFill>
            </c:spPr>
          </c:dPt>
          <c:cat>
            <c:strLit>
              <c:ptCount val="4"/>
              <c:pt idx="0">
                <c:v>Zero</c:v>
              </c:pt>
              <c:pt idx="1">
                <c:v>1–5</c:v>
              </c:pt>
              <c:pt idx="2">
                <c:v>6–20</c:v>
              </c:pt>
              <c:pt idx="3">
                <c:v>21+</c:v>
              </c:pt>
            </c:strLit>
          </c:cat>
          <c:val>
            <c:numLit>
              <c:formatCode>General</c:formatCode>
              <c:ptCount val="4"/>
              <c:pt idx="0">
                <c:v>2.739</c:v>
              </c:pt>
              <c:pt idx="1">
                <c:v>2.014</c:v>
              </c:pt>
              <c:pt idx="2">
                <c:v>3.5</c:v>
              </c:pt>
              <c:pt idx="3">
                <c:v>12.331</c:v>
              </c:pt>
            </c:numLit>
          </c:val>
        </c:ser>
        <c:dLbls>
          <c:txPr>
            <a:bodyPr xmlns:a="http://schemas.openxmlformats.org/drawingml/2006/main" anchorCtr="1"/>
            <a:lstStyle xmlns:a="http://schemas.openxmlformats.org/drawingml/2006/main"/>
            <a:p xmlns:a="http://schemas.openxmlformats.org/drawingml/2006/main">
              <a:pPr>
                <a:defRPr sz="1200" b="1">
                  <a:solidFill>
                    <a:srgbClr val="000000"/>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Actual weekly demand band</a:t>
                </a:r>
              </a:p>
            </c:rich>
          </c:tx>
          <c:overlay val="0"/>
        </c:title>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75">
                <a:solidFill>
                  <a:srgbClr val="000000"/>
                </a:solidFill>
              </a:defRPr>
            </a:pPr>
          </a:p>
        </c:txPr>
        <c:crossAx val="48672768"/>
      </c:catAx>
      <c:valAx>
        <c:axId val="48672768"/>
        <c:scaling>
          <c:orientation val="minMax"/>
          <c:max val="14"/>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t>MAE (units)</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F6670"/>
                </a:solidFill>
              </a:defRPr>
            </a:pPr>
          </a:p>
        </c:txPr>
        <c:crossAx val="48650112"/>
        <c:crossBetween val="between"/>
        <c:majorUnit val="2"/>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ext-42-42">
            <a:extLst xmlns:a="http://schemas.openxmlformats.org/drawingml/2006/main">
              <a:ext uri="{FF2B5EF4-FFF2-40B4-BE49-F238E27FC236}">
                <a16:creationId xmlns:a16="http://schemas.microsoft.com/office/drawing/2014/main" id="{C8059DEF-C9D4-4135-856C-3D6ACF253AB1}"/>
              </a:ext>
            </a:extLst>
          </p:cNvPr>
          <p:cNvSpPr>
            <a:spLocks xmlns:a="http://schemas.openxmlformats.org/drawingml/2006/main" noGrp="1"/>
          </p:cNvSpPr>
          <p:nvPr/>
        </p:nvSpPr>
        <p:spPr>
          <a:xfrm xmlns:a="http://schemas.openxmlformats.org/drawingml/2006/main">
            <a:off x="400050" y="400050"/>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5F6670"/>
                </a:solidFill>
                <a:latin typeface="Arial"/>
                <a:ea typeface="Arial"/>
                <a:cs typeface="Arial"/>
              </a:defRPr>
            </a:pPr>
            <a:r>
              <a:rPr sz="1725" b="1">
                <a:solidFill>
                  <a:srgbClr val="5F6670"/>
                </a:solidFill>
                <a:latin typeface="Arial"/>
                <a:ea typeface="Arial"/>
                <a:cs typeface="Arial"/>
              </a:rPr>
              <a:t>AI/ML FUNDAMENTALS · RET-01</a:t>
            </a:r>
          </a:p>
        </p:txBody>
      </p:sp>
      <p:sp>
        <p:nvSpPr>
          <p:cNvPr id="2" name="text-42-178">
            <a:extLst xmlns:a="http://schemas.openxmlformats.org/drawingml/2006/main">
              <a:ext uri="{FF2B5EF4-FFF2-40B4-BE49-F238E27FC236}">
                <a16:creationId xmlns:a16="http://schemas.microsoft.com/office/drawing/2014/main" id="{B08C9A11-9C7C-425A-BBE0-B1341486F06D}"/>
              </a:ext>
            </a:extLst>
          </p:cNvPr>
          <p:cNvSpPr>
            <a:spLocks xmlns:a="http://schemas.openxmlformats.org/drawingml/2006/main" noGrp="1"/>
          </p:cNvSpPr>
          <p:nvPr/>
        </p:nvSpPr>
        <p:spPr>
          <a:xfrm xmlns:a="http://schemas.openxmlformats.org/drawingml/2006/main">
            <a:off x="400050" y="1695450"/>
            <a:ext cx="962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850" b="1">
                <a:solidFill>
                  <a:srgbClr val="000000"/>
                </a:solidFill>
                <a:latin typeface="Arial"/>
                <a:ea typeface="Arial"/>
                <a:cs typeface="Arial"/>
              </a:defRPr>
            </a:pPr>
            <a:r>
              <a:rPr sz="5850" b="1">
                <a:solidFill>
                  <a:srgbClr val="000000"/>
                </a:solidFill>
                <a:latin typeface="Arial"/>
                <a:ea typeface="Arial"/>
                <a:cs typeface="Arial"/>
              </a:rPr>
              <a:t>Retail demand</a:t>
            </a:r>
          </a:p>
          <a:p xmlns:a="http://schemas.openxmlformats.org/drawingml/2006/main">
            <a:pPr algn="l">
              <a:defRPr sz="5850" b="1">
                <a:solidFill>
                  <a:srgbClr val="000000"/>
                </a:solidFill>
                <a:latin typeface="Arial"/>
                <a:ea typeface="Arial"/>
                <a:cs typeface="Arial"/>
              </a:defRPr>
            </a:pPr>
            <a:r>
              <a:rPr sz="5850" b="1">
                <a:solidFill>
                  <a:srgbClr val="000000"/>
                </a:solidFill>
                <a:latin typeface="Arial"/>
                <a:ea typeface="Arial"/>
                <a:cs typeface="Arial"/>
              </a:rPr>
              <a:t>forecasting</a:t>
            </a:r>
          </a:p>
        </p:txBody>
      </p:sp>
      <p:sp>
        <p:nvSpPr>
          <p:cNvPr id="3" name="text-42-505">
            <a:extLst xmlns:a="http://schemas.openxmlformats.org/drawingml/2006/main">
              <a:ext uri="{FF2B5EF4-FFF2-40B4-BE49-F238E27FC236}">
                <a16:creationId xmlns:a16="http://schemas.microsoft.com/office/drawing/2014/main" id="{0EA308EC-1096-4ACF-943A-BB4A44B4F1AD}"/>
              </a:ext>
            </a:extLst>
          </p:cNvPr>
          <p:cNvSpPr>
            <a:spLocks xmlns:a="http://schemas.openxmlformats.org/drawingml/2006/main" noGrp="1"/>
          </p:cNvSpPr>
          <p:nvPr/>
        </p:nvSpPr>
        <p:spPr>
          <a:xfrm xmlns:a="http://schemas.openxmlformats.org/drawingml/2006/main">
            <a:off x="400050" y="4810125"/>
            <a:ext cx="6191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Nosirov Nodir · Tulpar</a:t>
            </a:r>
          </a:p>
          <a:p xmlns:a="http://schemas.openxmlformats.org/drawingml/2006/main">
            <a:pPr algn="l">
              <a:defRPr sz="2175" b="0">
                <a:solidFill>
                  <a:srgbClr val="000000"/>
                </a:solidFill>
                <a:latin typeface="Arial"/>
                <a:ea typeface="Arial"/>
                <a:cs typeface="Arial"/>
              </a:defRPr>
            </a:pPr>
            <a:r>
              <a:rPr sz="2175" b="0">
                <a:solidFill>
                  <a:srgbClr val="000000"/>
                </a:solidFill>
                <a:latin typeface="Arial"/>
                <a:ea typeface="Arial"/>
                <a:cs typeface="Arial"/>
              </a:rPr>
              <a:t>One-week-ahead FOODS demand</a:t>
            </a:r>
          </a:p>
        </p:txBody>
      </p:sp>
    </p:spTree>
    <p:extLst>
      <p:ext uri="{BB962C8B-B14F-4D97-AF65-F5344CB8AC3E}">
        <p14:creationId xmlns:p14="http://schemas.microsoft.com/office/powerpoint/2010/main" val="139378853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EF9B2EC0-15A1-493F-8D80-993014CC9987}"/>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The task connects retail decisions to a large real dataset</a:t>
            </a:r>
          </a:p>
        </p:txBody>
      </p:sp>
      <p:sp>
        <p:nvSpPr>
          <p:cNvPr id="2" name="slide-number">
            <a:extLst xmlns:a="http://schemas.openxmlformats.org/drawingml/2006/main">
              <a:ext uri="{FF2B5EF4-FFF2-40B4-BE49-F238E27FC236}">
                <a16:creationId xmlns:a16="http://schemas.microsoft.com/office/drawing/2014/main" id="{0B4CDB7A-EE88-4D33-B5FC-41234A0C6CF2}"/>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2</a:t>
            </a:r>
          </a:p>
        </p:txBody>
      </p:sp>
      <p:sp>
        <p:nvSpPr>
          <p:cNvPr id="3" name="text-42-235">
            <a:extLst xmlns:a="http://schemas.openxmlformats.org/drawingml/2006/main">
              <a:ext uri="{FF2B5EF4-FFF2-40B4-BE49-F238E27FC236}">
                <a16:creationId xmlns:a16="http://schemas.microsoft.com/office/drawing/2014/main" id="{B5E6A8DF-3372-49E7-A1EC-D148A11CA1FD}"/>
              </a:ext>
            </a:extLst>
          </p:cNvPr>
          <p:cNvSpPr>
            <a:spLocks xmlns:a="http://schemas.openxmlformats.org/drawingml/2006/main" noGrp="1"/>
          </p:cNvSpPr>
          <p:nvPr/>
        </p:nvSpPr>
        <p:spPr>
          <a:xfrm xmlns:a="http://schemas.openxmlformats.org/drawingml/2006/main">
            <a:off x="400050" y="223837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Inventory planning</a:t>
            </a:r>
          </a:p>
        </p:txBody>
      </p:sp>
      <p:sp>
        <p:nvSpPr>
          <p:cNvPr id="4" name="text-42-335">
            <a:extLst xmlns:a="http://schemas.openxmlformats.org/drawingml/2006/main">
              <a:ext uri="{FF2B5EF4-FFF2-40B4-BE49-F238E27FC236}">
                <a16:creationId xmlns:a16="http://schemas.microsoft.com/office/drawing/2014/main" id="{A8ABB154-22F7-404F-8B3F-7555EFA6BD88}"/>
              </a:ext>
            </a:extLst>
          </p:cNvPr>
          <p:cNvSpPr>
            <a:spLocks xmlns:a="http://schemas.openxmlformats.org/drawingml/2006/main" noGrp="1"/>
          </p:cNvSpPr>
          <p:nvPr/>
        </p:nvSpPr>
        <p:spPr>
          <a:xfrm xmlns:a="http://schemas.openxmlformats.org/drawingml/2006/main">
            <a:off x="400050" y="31908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Business question</a:t>
            </a:r>
          </a:p>
        </p:txBody>
      </p:sp>
      <p:sp>
        <p:nvSpPr>
          <p:cNvPr id="5" name="text-42-395">
            <a:extLst xmlns:a="http://schemas.openxmlformats.org/drawingml/2006/main">
              <a:ext uri="{FF2B5EF4-FFF2-40B4-BE49-F238E27FC236}">
                <a16:creationId xmlns:a16="http://schemas.microsoft.com/office/drawing/2014/main" id="{4CF98AED-8C25-43EF-9AAC-D9EDFCA4F50E}"/>
              </a:ext>
            </a:extLst>
          </p:cNvPr>
          <p:cNvSpPr>
            <a:spLocks xmlns:a="http://schemas.openxmlformats.org/drawingml/2006/main" noGrp="1"/>
          </p:cNvSpPr>
          <p:nvPr/>
        </p:nvSpPr>
        <p:spPr>
          <a:xfrm xmlns:a="http://schemas.openxmlformats.org/drawingml/2006/main">
            <a:off x="400050" y="3762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How many units of one product may a store need next week?</a:t>
            </a:r>
          </a:p>
        </p:txBody>
      </p:sp>
      <p:sp>
        <p:nvSpPr>
          <p:cNvPr id="6" name="text-453-235">
            <a:extLst xmlns:a="http://schemas.openxmlformats.org/drawingml/2006/main">
              <a:ext uri="{FF2B5EF4-FFF2-40B4-BE49-F238E27FC236}">
                <a16:creationId xmlns:a16="http://schemas.microsoft.com/office/drawing/2014/main" id="{AD44D882-1BF8-427B-9E33-43D7E255C96E}"/>
              </a:ext>
            </a:extLst>
          </p:cNvPr>
          <p:cNvSpPr>
            <a:spLocks xmlns:a="http://schemas.openxmlformats.org/drawingml/2006/main" noGrp="1"/>
          </p:cNvSpPr>
          <p:nvPr/>
        </p:nvSpPr>
        <p:spPr>
          <a:xfrm xmlns:a="http://schemas.openxmlformats.org/drawingml/2006/main">
            <a:off x="4314825" y="223837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27.9M daily values</a:t>
            </a:r>
          </a:p>
        </p:txBody>
      </p:sp>
      <p:sp>
        <p:nvSpPr>
          <p:cNvPr id="7" name="text-453-335">
            <a:extLst xmlns:a="http://schemas.openxmlformats.org/drawingml/2006/main">
              <a:ext uri="{FF2B5EF4-FFF2-40B4-BE49-F238E27FC236}">
                <a16:creationId xmlns:a16="http://schemas.microsoft.com/office/drawing/2014/main" id="{E7D14437-4E38-472A-B20C-7E8272F7EDB8}"/>
              </a:ext>
            </a:extLst>
          </p:cNvPr>
          <p:cNvSpPr>
            <a:spLocks xmlns:a="http://schemas.openxmlformats.org/drawingml/2006/main" noGrp="1"/>
          </p:cNvSpPr>
          <p:nvPr/>
        </p:nvSpPr>
        <p:spPr>
          <a:xfrm xmlns:a="http://schemas.openxmlformats.org/drawingml/2006/main">
            <a:off x="4314825" y="31908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Data</a:t>
            </a:r>
          </a:p>
        </p:txBody>
      </p:sp>
      <p:sp>
        <p:nvSpPr>
          <p:cNvPr id="8" name="text-453-395">
            <a:extLst xmlns:a="http://schemas.openxmlformats.org/drawingml/2006/main">
              <a:ext uri="{FF2B5EF4-FFF2-40B4-BE49-F238E27FC236}">
                <a16:creationId xmlns:a16="http://schemas.microsoft.com/office/drawing/2014/main" id="{E093A157-2167-4DB2-A64D-9717D6DBC439}"/>
              </a:ext>
            </a:extLst>
          </p:cNvPr>
          <p:cNvSpPr>
            <a:spLocks xmlns:a="http://schemas.openxmlformats.org/drawingml/2006/main" noGrp="1"/>
          </p:cNvSpPr>
          <p:nvPr/>
        </p:nvSpPr>
        <p:spPr>
          <a:xfrm xmlns:a="http://schemas.openxmlformats.org/drawingml/2006/main">
            <a:off x="4314825" y="3762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M5 sales, prices, dates, events, holidays and SNAP indicators.</a:t>
            </a:r>
          </a:p>
        </p:txBody>
      </p:sp>
      <p:sp>
        <p:nvSpPr>
          <p:cNvPr id="9" name="text-864-235">
            <a:extLst xmlns:a="http://schemas.openxmlformats.org/drawingml/2006/main">
              <a:ext uri="{FF2B5EF4-FFF2-40B4-BE49-F238E27FC236}">
                <a16:creationId xmlns:a16="http://schemas.microsoft.com/office/drawing/2014/main" id="{B35F7029-5AD7-4FBC-8E62-D5EC68946501}"/>
              </a:ext>
            </a:extLst>
          </p:cNvPr>
          <p:cNvSpPr>
            <a:spLocks xmlns:a="http://schemas.openxmlformats.org/drawingml/2006/main" noGrp="1"/>
          </p:cNvSpPr>
          <p:nvPr/>
        </p:nvSpPr>
        <p:spPr>
          <a:xfrm xmlns:a="http://schemas.openxmlformats.org/drawingml/2006/main">
            <a:off x="8229600" y="223837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14,370 series</a:t>
            </a:r>
          </a:p>
        </p:txBody>
      </p:sp>
      <p:sp>
        <p:nvSpPr>
          <p:cNvPr id="10" name="text-864-335">
            <a:extLst xmlns:a="http://schemas.openxmlformats.org/drawingml/2006/main">
              <a:ext uri="{FF2B5EF4-FFF2-40B4-BE49-F238E27FC236}">
                <a16:creationId xmlns:a16="http://schemas.microsoft.com/office/drawing/2014/main" id="{71557814-E1A7-4F22-8871-20569854C070}"/>
              </a:ext>
            </a:extLst>
          </p:cNvPr>
          <p:cNvSpPr>
            <a:spLocks xmlns:a="http://schemas.openxmlformats.org/drawingml/2006/main" noGrp="1"/>
          </p:cNvSpPr>
          <p:nvPr/>
        </p:nvSpPr>
        <p:spPr>
          <a:xfrm xmlns:a="http://schemas.openxmlformats.org/drawingml/2006/main">
            <a:off x="8229600" y="3190875"/>
            <a:ext cx="3333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Prediction unit</a:t>
            </a:r>
          </a:p>
        </p:txBody>
      </p:sp>
      <p:sp>
        <p:nvSpPr>
          <p:cNvPr id="11" name="text-864-395">
            <a:extLst xmlns:a="http://schemas.openxmlformats.org/drawingml/2006/main">
              <a:ext uri="{FF2B5EF4-FFF2-40B4-BE49-F238E27FC236}">
                <a16:creationId xmlns:a16="http://schemas.microsoft.com/office/drawing/2014/main" id="{8C03AAE1-F88B-486D-B411-7DEABF53F974}"/>
              </a:ext>
            </a:extLst>
          </p:cNvPr>
          <p:cNvSpPr>
            <a:spLocks xmlns:a="http://schemas.openxmlformats.org/drawingml/2006/main" noGrp="1"/>
          </p:cNvSpPr>
          <p:nvPr/>
        </p:nvSpPr>
        <p:spPr>
          <a:xfrm xmlns:a="http://schemas.openxmlformats.org/drawingml/2006/main">
            <a:off x="8229600" y="3762375"/>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One FOODS product × one store × one week.</a:t>
            </a:r>
          </a:p>
        </p:txBody>
      </p:sp>
    </p:spTree>
    <p:extLst>
      <p:ext uri="{BB962C8B-B14F-4D97-AF65-F5344CB8AC3E}">
        <p14:creationId xmlns:p14="http://schemas.microsoft.com/office/powerpoint/2010/main" val="152604289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3A722C19-91CB-40C8-A798-DBCE56EFD23C}"/>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The workflow keeps source data unchanged and every step auditable</a:t>
            </a:r>
          </a:p>
        </p:txBody>
      </p:sp>
      <p:sp>
        <p:nvSpPr>
          <p:cNvPr id="2" name="slide-number">
            <a:extLst xmlns:a="http://schemas.openxmlformats.org/drawingml/2006/main">
              <a:ext uri="{FF2B5EF4-FFF2-40B4-BE49-F238E27FC236}">
                <a16:creationId xmlns:a16="http://schemas.microsoft.com/office/drawing/2014/main" id="{B036AF71-F109-45C6-8CA6-B5DC69C269B4}"/>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3</a:t>
            </a:r>
          </a:p>
        </p:txBody>
      </p:sp>
      <p:cxnSp>
        <p:nvCxnSpPr>
          <p:cNvPr id="21" name=""/>
          <p:cNvCxnSpPr/>
          <p:nvPr/>
        </p:nvCxnSpPr>
        <p:spPr>
          <a:xfrm xmlns:a="http://schemas.openxmlformats.org/drawingml/2006/main">
            <a:off x="457200" y="3238500"/>
            <a:ext cx="10953750" cy="0"/>
          </a:xfrm>
          <a:prstGeom xmlns:a="http://schemas.openxmlformats.org/drawingml/2006/main" prst="straightConnector1">
            <a:avLst/>
          </a:prstGeom>
          <a:ln xmlns:a="http://schemas.openxmlformats.org/drawingml/2006/main" w="19050">
            <a:solidFill>
              <a:srgbClr val="000000"/>
            </a:solidFill>
            <a:prstDash val="solid"/>
          </a:ln>
        </p:spPr>
      </p:cxnSp>
      <p:sp>
        <p:nvSpPr>
          <p:cNvPr id="4" name="">
            <a:extLst xmlns:a="http://schemas.openxmlformats.org/drawingml/2006/main">
              <a:ext uri="{FF2B5EF4-FFF2-40B4-BE49-F238E27FC236}">
                <a16:creationId xmlns:a16="http://schemas.microsoft.com/office/drawing/2014/main" id="{E1C292FD-13A4-460B-9563-6624373630BD}"/>
              </a:ext>
            </a:extLst>
          </p:cNvPr>
          <p:cNvSpPr>
            <a:spLocks xmlns:a="http://schemas.openxmlformats.org/drawingml/2006/main" noGrp="1"/>
          </p:cNvSpPr>
          <p:nvPr/>
        </p:nvSpPr>
        <p:spPr>
          <a:xfrm xmlns:a="http://schemas.openxmlformats.org/drawingml/2006/main">
            <a:off x="666750" y="31527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5" name="text-66-275">
            <a:extLst xmlns:a="http://schemas.openxmlformats.org/drawingml/2006/main">
              <a:ext uri="{FF2B5EF4-FFF2-40B4-BE49-F238E27FC236}">
                <a16:creationId xmlns:a16="http://schemas.microsoft.com/office/drawing/2014/main" id="{E00D3224-4907-4BE4-9671-D8E885A87AE6}"/>
              </a:ext>
            </a:extLst>
          </p:cNvPr>
          <p:cNvSpPr>
            <a:spLocks xmlns:a="http://schemas.openxmlformats.org/drawingml/2006/main" noGrp="1"/>
          </p:cNvSpPr>
          <p:nvPr/>
        </p:nvSpPr>
        <p:spPr>
          <a:xfrm xmlns:a="http://schemas.openxmlformats.org/drawingml/2006/main">
            <a:off x="628650" y="2619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Audit</a:t>
            </a:r>
          </a:p>
        </p:txBody>
      </p:sp>
      <p:sp>
        <p:nvSpPr>
          <p:cNvPr id="6" name="text-66-382">
            <a:extLst xmlns:a="http://schemas.openxmlformats.org/drawingml/2006/main">
              <a:ext uri="{FF2B5EF4-FFF2-40B4-BE49-F238E27FC236}">
                <a16:creationId xmlns:a16="http://schemas.microsoft.com/office/drawing/2014/main" id="{776D9DCD-6109-46F5-AB25-6498F4C60BD7}"/>
              </a:ext>
            </a:extLst>
          </p:cNvPr>
          <p:cNvSpPr>
            <a:spLocks xmlns:a="http://schemas.openxmlformats.org/drawingml/2006/main" noGrp="1"/>
          </p:cNvSpPr>
          <p:nvPr/>
        </p:nvSpPr>
        <p:spPr>
          <a:xfrm xmlns:a="http://schemas.openxmlformats.org/drawingml/2006/main">
            <a:off x="628650" y="36385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schemas · nulls</a:t>
            </a:r>
          </a:p>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duplicates · ranges</a:t>
            </a:r>
          </a:p>
        </p:txBody>
      </p:sp>
      <p:sp>
        <p:nvSpPr>
          <p:cNvPr id="7" name="">
            <a:extLst xmlns:a="http://schemas.openxmlformats.org/drawingml/2006/main">
              <a:ext uri="{FF2B5EF4-FFF2-40B4-BE49-F238E27FC236}">
                <a16:creationId xmlns:a16="http://schemas.microsoft.com/office/drawing/2014/main" id="{233C42B2-6063-4665-B777-9436AEA7E40F}"/>
              </a:ext>
            </a:extLst>
          </p:cNvPr>
          <p:cNvSpPr>
            <a:spLocks xmlns:a="http://schemas.openxmlformats.org/drawingml/2006/main" noGrp="1"/>
          </p:cNvSpPr>
          <p:nvPr/>
        </p:nvSpPr>
        <p:spPr>
          <a:xfrm xmlns:a="http://schemas.openxmlformats.org/drawingml/2006/main">
            <a:off x="2857500" y="31527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8" name="text-296-275">
            <a:extLst xmlns:a="http://schemas.openxmlformats.org/drawingml/2006/main">
              <a:ext uri="{FF2B5EF4-FFF2-40B4-BE49-F238E27FC236}">
                <a16:creationId xmlns:a16="http://schemas.microsoft.com/office/drawing/2014/main" id="{14B72E9D-1985-48D2-916F-C77B47B8B640}"/>
              </a:ext>
            </a:extLst>
          </p:cNvPr>
          <p:cNvSpPr>
            <a:spLocks xmlns:a="http://schemas.openxmlformats.org/drawingml/2006/main" noGrp="1"/>
          </p:cNvSpPr>
          <p:nvPr/>
        </p:nvSpPr>
        <p:spPr>
          <a:xfrm xmlns:a="http://schemas.openxmlformats.org/drawingml/2006/main">
            <a:off x="2819400" y="2619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Clean</a:t>
            </a:r>
          </a:p>
        </p:txBody>
      </p:sp>
      <p:sp>
        <p:nvSpPr>
          <p:cNvPr id="9" name="text-296-382">
            <a:extLst xmlns:a="http://schemas.openxmlformats.org/drawingml/2006/main">
              <a:ext uri="{FF2B5EF4-FFF2-40B4-BE49-F238E27FC236}">
                <a16:creationId xmlns:a16="http://schemas.microsoft.com/office/drawing/2014/main" id="{7EAF2482-5A38-410A-B75A-9D0E210DF326}"/>
              </a:ext>
            </a:extLst>
          </p:cNvPr>
          <p:cNvSpPr>
            <a:spLocks xmlns:a="http://schemas.openxmlformats.org/drawingml/2006/main" noGrp="1"/>
          </p:cNvSpPr>
          <p:nvPr/>
        </p:nvSpPr>
        <p:spPr>
          <a:xfrm xmlns:a="http://schemas.openxmlformats.org/drawingml/2006/main">
            <a:off x="2819400" y="36385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weekly FOODS</a:t>
            </a:r>
          </a:p>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record every exclusion</a:t>
            </a:r>
          </a:p>
        </p:txBody>
      </p:sp>
      <p:sp>
        <p:nvSpPr>
          <p:cNvPr id="10" name="">
            <a:extLst xmlns:a="http://schemas.openxmlformats.org/drawingml/2006/main">
              <a:ext uri="{FF2B5EF4-FFF2-40B4-BE49-F238E27FC236}">
                <a16:creationId xmlns:a16="http://schemas.microsoft.com/office/drawing/2014/main" id="{C0A429E2-1B60-470C-8F6C-7C7BCEE80B15}"/>
              </a:ext>
            </a:extLst>
          </p:cNvPr>
          <p:cNvSpPr>
            <a:spLocks xmlns:a="http://schemas.openxmlformats.org/drawingml/2006/main" noGrp="1"/>
          </p:cNvSpPr>
          <p:nvPr/>
        </p:nvSpPr>
        <p:spPr>
          <a:xfrm xmlns:a="http://schemas.openxmlformats.org/drawingml/2006/main">
            <a:off x="5048250" y="31527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1" name="text-526-275">
            <a:extLst xmlns:a="http://schemas.openxmlformats.org/drawingml/2006/main">
              <a:ext uri="{FF2B5EF4-FFF2-40B4-BE49-F238E27FC236}">
                <a16:creationId xmlns:a16="http://schemas.microsoft.com/office/drawing/2014/main" id="{9A30BD12-0AC3-4728-948F-7BD4BC65EC5A}"/>
              </a:ext>
            </a:extLst>
          </p:cNvPr>
          <p:cNvSpPr>
            <a:spLocks xmlns:a="http://schemas.openxmlformats.org/drawingml/2006/main" noGrp="1"/>
          </p:cNvSpPr>
          <p:nvPr/>
        </p:nvSpPr>
        <p:spPr>
          <a:xfrm xmlns:a="http://schemas.openxmlformats.org/drawingml/2006/main">
            <a:off x="5010150" y="2619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Explore</a:t>
            </a:r>
          </a:p>
        </p:txBody>
      </p:sp>
      <p:sp>
        <p:nvSpPr>
          <p:cNvPr id="12" name="text-526-382">
            <a:extLst xmlns:a="http://schemas.openxmlformats.org/drawingml/2006/main">
              <a:ext uri="{FF2B5EF4-FFF2-40B4-BE49-F238E27FC236}">
                <a16:creationId xmlns:a16="http://schemas.microsoft.com/office/drawing/2014/main" id="{3ABE5DD6-3FA4-4088-B61A-53125B7D59C1}"/>
              </a:ext>
            </a:extLst>
          </p:cNvPr>
          <p:cNvSpPr>
            <a:spLocks xmlns:a="http://schemas.openxmlformats.org/drawingml/2006/main" noGrp="1"/>
          </p:cNvSpPr>
          <p:nvPr/>
        </p:nvSpPr>
        <p:spPr>
          <a:xfrm xmlns:a="http://schemas.openxmlformats.org/drawingml/2006/main">
            <a:off x="5010150" y="36385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train-only EDA</a:t>
            </a:r>
          </a:p>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outliers retained</a:t>
            </a:r>
          </a:p>
        </p:txBody>
      </p:sp>
      <p:sp>
        <p:nvSpPr>
          <p:cNvPr id="13" name="">
            <a:extLst xmlns:a="http://schemas.openxmlformats.org/drawingml/2006/main">
              <a:ext uri="{FF2B5EF4-FFF2-40B4-BE49-F238E27FC236}">
                <a16:creationId xmlns:a16="http://schemas.microsoft.com/office/drawing/2014/main" id="{94D97375-3562-452A-9159-94439C025957}"/>
              </a:ext>
            </a:extLst>
          </p:cNvPr>
          <p:cNvSpPr>
            <a:spLocks xmlns:a="http://schemas.openxmlformats.org/drawingml/2006/main" noGrp="1"/>
          </p:cNvSpPr>
          <p:nvPr/>
        </p:nvSpPr>
        <p:spPr>
          <a:xfrm xmlns:a="http://schemas.openxmlformats.org/drawingml/2006/main">
            <a:off x="7239000" y="3152775"/>
            <a:ext cx="171450" cy="17145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4" name="text-756-275">
            <a:extLst xmlns:a="http://schemas.openxmlformats.org/drawingml/2006/main">
              <a:ext uri="{FF2B5EF4-FFF2-40B4-BE49-F238E27FC236}">
                <a16:creationId xmlns:a16="http://schemas.microsoft.com/office/drawing/2014/main" id="{6B878B49-0012-46C7-AB7E-8D059C7767A2}"/>
              </a:ext>
            </a:extLst>
          </p:cNvPr>
          <p:cNvSpPr>
            <a:spLocks xmlns:a="http://schemas.openxmlformats.org/drawingml/2006/main" noGrp="1"/>
          </p:cNvSpPr>
          <p:nvPr/>
        </p:nvSpPr>
        <p:spPr>
          <a:xfrm xmlns:a="http://schemas.openxmlformats.org/drawingml/2006/main">
            <a:off x="7200900" y="2619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Model</a:t>
            </a:r>
          </a:p>
        </p:txBody>
      </p:sp>
      <p:sp>
        <p:nvSpPr>
          <p:cNvPr id="15" name="text-756-382">
            <a:extLst xmlns:a="http://schemas.openxmlformats.org/drawingml/2006/main">
              <a:ext uri="{FF2B5EF4-FFF2-40B4-BE49-F238E27FC236}">
                <a16:creationId xmlns:a16="http://schemas.microsoft.com/office/drawing/2014/main" id="{569D9873-9C14-4E66-8693-5F556428F97C}"/>
              </a:ext>
            </a:extLst>
          </p:cNvPr>
          <p:cNvSpPr>
            <a:spLocks xmlns:a="http://schemas.openxmlformats.org/drawingml/2006/main" noGrp="1"/>
          </p:cNvSpPr>
          <p:nvPr/>
        </p:nvSpPr>
        <p:spPr>
          <a:xfrm xmlns:a="http://schemas.openxmlformats.org/drawingml/2006/main">
            <a:off x="7200900" y="36385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baseline · MLflow</a:t>
            </a:r>
          </a:p>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validation selection</a:t>
            </a:r>
          </a:p>
        </p:txBody>
      </p:sp>
      <p:sp>
        <p:nvSpPr>
          <p:cNvPr id="16" name="">
            <a:extLst xmlns:a="http://schemas.openxmlformats.org/drawingml/2006/main">
              <a:ext uri="{FF2B5EF4-FFF2-40B4-BE49-F238E27FC236}">
                <a16:creationId xmlns:a16="http://schemas.microsoft.com/office/drawing/2014/main" id="{76CB30DF-91A6-4806-8F75-98A6F85C8CC4}"/>
              </a:ext>
            </a:extLst>
          </p:cNvPr>
          <p:cNvSpPr>
            <a:spLocks xmlns:a="http://schemas.openxmlformats.org/drawingml/2006/main" noGrp="1"/>
          </p:cNvSpPr>
          <p:nvPr/>
        </p:nvSpPr>
        <p:spPr>
          <a:xfrm xmlns:a="http://schemas.openxmlformats.org/drawingml/2006/main">
            <a:off x="9429750" y="3152775"/>
            <a:ext cx="171450" cy="1714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7" name="text-986-275">
            <a:extLst xmlns:a="http://schemas.openxmlformats.org/drawingml/2006/main">
              <a:ext uri="{FF2B5EF4-FFF2-40B4-BE49-F238E27FC236}">
                <a16:creationId xmlns:a16="http://schemas.microsoft.com/office/drawing/2014/main" id="{86F082C3-B8F9-4D87-9A56-0C8C50BCBE5A}"/>
              </a:ext>
            </a:extLst>
          </p:cNvPr>
          <p:cNvSpPr>
            <a:spLocks xmlns:a="http://schemas.openxmlformats.org/drawingml/2006/main" noGrp="1"/>
          </p:cNvSpPr>
          <p:nvPr/>
        </p:nvSpPr>
        <p:spPr>
          <a:xfrm xmlns:a="http://schemas.openxmlformats.org/drawingml/2006/main">
            <a:off x="9391650" y="26193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Deliver</a:t>
            </a:r>
          </a:p>
        </p:txBody>
      </p:sp>
      <p:sp>
        <p:nvSpPr>
          <p:cNvPr id="18" name="text-986-382">
            <a:extLst xmlns:a="http://schemas.openxmlformats.org/drawingml/2006/main">
              <a:ext uri="{FF2B5EF4-FFF2-40B4-BE49-F238E27FC236}">
                <a16:creationId xmlns:a16="http://schemas.microsoft.com/office/drawing/2014/main" id="{2653222D-AC8C-4BD5-BFF8-FE776795E4D8}"/>
              </a:ext>
            </a:extLst>
          </p:cNvPr>
          <p:cNvSpPr>
            <a:spLocks xmlns:a="http://schemas.openxmlformats.org/drawingml/2006/main" noGrp="1"/>
          </p:cNvSpPr>
          <p:nvPr/>
        </p:nvSpPr>
        <p:spPr>
          <a:xfrm xmlns:a="http://schemas.openxmlformats.org/drawingml/2006/main">
            <a:off x="9391650" y="3638550"/>
            <a:ext cx="180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test once · API</a:t>
            </a:r>
          </a:p>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UI · clean demo</a:t>
            </a:r>
          </a:p>
        </p:txBody>
      </p:sp>
    </p:spTree>
    <p:extLst>
      <p:ext uri="{BB962C8B-B14F-4D97-AF65-F5344CB8AC3E}">
        <p14:creationId xmlns:p14="http://schemas.microsoft.com/office/powerpoint/2010/main" val="15175205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053E3CA3-0219-4617-993D-68BF585F5C59}"/>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Chronological splits prevent future information from leaking backward</a:t>
            </a:r>
          </a:p>
        </p:txBody>
      </p:sp>
      <p:sp>
        <p:nvSpPr>
          <p:cNvPr id="2" name="slide-number">
            <a:extLst xmlns:a="http://schemas.openxmlformats.org/drawingml/2006/main">
              <a:ext uri="{FF2B5EF4-FFF2-40B4-BE49-F238E27FC236}">
                <a16:creationId xmlns:a16="http://schemas.microsoft.com/office/drawing/2014/main" id="{F9D0B414-9351-4F33-B3AB-2220AA5B03A7}"/>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9C57F3FD-05EC-41C6-89AB-E319490F841A}"/>
              </a:ext>
            </a:extLst>
          </p:cNvPr>
          <p:cNvSpPr>
            <a:spLocks xmlns:a="http://schemas.openxmlformats.org/drawingml/2006/main" noGrp="1"/>
          </p:cNvSpPr>
          <p:nvPr/>
        </p:nvSpPr>
        <p:spPr>
          <a:xfrm xmlns:a="http://schemas.openxmlformats.org/drawingml/2006/main">
            <a:off x="400050" y="2238375"/>
            <a:ext cx="6858000" cy="15716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4" name="text-62-260">
            <a:extLst xmlns:a="http://schemas.openxmlformats.org/drawingml/2006/main">
              <a:ext uri="{FF2B5EF4-FFF2-40B4-BE49-F238E27FC236}">
                <a16:creationId xmlns:a16="http://schemas.microsoft.com/office/drawing/2014/main" id="{1097FABB-FDD9-471B-A3B7-37860BF2DC5F}"/>
              </a:ext>
            </a:extLst>
          </p:cNvPr>
          <p:cNvSpPr>
            <a:spLocks xmlns:a="http://schemas.openxmlformats.org/drawingml/2006/main" noGrp="1"/>
          </p:cNvSpPr>
          <p:nvPr/>
        </p:nvSpPr>
        <p:spPr>
          <a:xfrm xmlns:a="http://schemas.openxmlformats.org/drawingml/2006/main">
            <a:off x="590550" y="2476500"/>
            <a:ext cx="647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TRAIN</a:t>
            </a:r>
          </a:p>
        </p:txBody>
      </p:sp>
      <p:sp>
        <p:nvSpPr>
          <p:cNvPr id="5" name="text-62-307">
            <a:extLst xmlns:a="http://schemas.openxmlformats.org/drawingml/2006/main">
              <a:ext uri="{FF2B5EF4-FFF2-40B4-BE49-F238E27FC236}">
                <a16:creationId xmlns:a16="http://schemas.microsoft.com/office/drawing/2014/main" id="{A3F13547-D7C9-4877-B169-373EF49C984A}"/>
              </a:ext>
            </a:extLst>
          </p:cNvPr>
          <p:cNvSpPr>
            <a:spLocks xmlns:a="http://schemas.openxmlformats.org/drawingml/2006/main" noGrp="1"/>
          </p:cNvSpPr>
          <p:nvPr/>
        </p:nvSpPr>
        <p:spPr>
          <a:xfrm xmlns:a="http://schemas.openxmlformats.org/drawingml/2006/main">
            <a:off x="590550" y="292417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2,888,944 rows</a:t>
            </a:r>
          </a:p>
        </p:txBody>
      </p:sp>
      <p:sp>
        <p:nvSpPr>
          <p:cNvPr id="6" name="text-62-350">
            <a:extLst xmlns:a="http://schemas.openxmlformats.org/drawingml/2006/main">
              <a:ext uri="{FF2B5EF4-FFF2-40B4-BE49-F238E27FC236}">
                <a16:creationId xmlns:a16="http://schemas.microsoft.com/office/drawing/2014/main" id="{D1737098-C56F-4813-BC04-0BB485C46D4A}"/>
              </a:ext>
            </a:extLst>
          </p:cNvPr>
          <p:cNvSpPr>
            <a:spLocks xmlns:a="http://schemas.openxmlformats.org/drawingml/2006/main" noGrp="1"/>
          </p:cNvSpPr>
          <p:nvPr/>
        </p:nvSpPr>
        <p:spPr>
          <a:xfrm xmlns:a="http://schemas.openxmlformats.org/drawingml/2006/main">
            <a:off x="590550" y="33337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fit features and models</a:t>
            </a:r>
          </a:p>
        </p:txBody>
      </p:sp>
      <p:sp>
        <p:nvSpPr>
          <p:cNvPr id="7" name="">
            <a:extLst xmlns:a="http://schemas.openxmlformats.org/drawingml/2006/main">
              <a:ext uri="{FF2B5EF4-FFF2-40B4-BE49-F238E27FC236}">
                <a16:creationId xmlns:a16="http://schemas.microsoft.com/office/drawing/2014/main" id="{BE6FE5E2-8AD0-499E-A9EA-302F9612EB94}"/>
              </a:ext>
            </a:extLst>
          </p:cNvPr>
          <p:cNvSpPr>
            <a:spLocks xmlns:a="http://schemas.openxmlformats.org/drawingml/2006/main" noGrp="1"/>
          </p:cNvSpPr>
          <p:nvPr/>
        </p:nvSpPr>
        <p:spPr>
          <a:xfrm xmlns:a="http://schemas.openxmlformats.org/drawingml/2006/main">
            <a:off x="7258050" y="2238375"/>
            <a:ext cx="2190750" cy="1571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8" name="text-782-260">
            <a:extLst xmlns:a="http://schemas.openxmlformats.org/drawingml/2006/main">
              <a:ext uri="{FF2B5EF4-FFF2-40B4-BE49-F238E27FC236}">
                <a16:creationId xmlns:a16="http://schemas.microsoft.com/office/drawing/2014/main" id="{9EEA507B-0ACD-4B6D-AD71-89BEB333C3B2}"/>
              </a:ext>
            </a:extLst>
          </p:cNvPr>
          <p:cNvSpPr>
            <a:spLocks xmlns:a="http://schemas.openxmlformats.org/drawingml/2006/main" noGrp="1"/>
          </p:cNvSpPr>
          <p:nvPr/>
        </p:nvSpPr>
        <p:spPr>
          <a:xfrm xmlns:a="http://schemas.openxmlformats.org/drawingml/2006/main">
            <a:off x="7448550" y="247650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VALIDATE</a:t>
            </a:r>
          </a:p>
        </p:txBody>
      </p:sp>
      <p:sp>
        <p:nvSpPr>
          <p:cNvPr id="9" name="text-782-307">
            <a:extLst xmlns:a="http://schemas.openxmlformats.org/drawingml/2006/main">
              <a:ext uri="{FF2B5EF4-FFF2-40B4-BE49-F238E27FC236}">
                <a16:creationId xmlns:a16="http://schemas.microsoft.com/office/drawing/2014/main" id="{9EF8C4B1-6FAB-4D4F-9104-EA73D5FF648B}"/>
              </a:ext>
            </a:extLst>
          </p:cNvPr>
          <p:cNvSpPr>
            <a:spLocks xmlns:a="http://schemas.openxmlformats.org/drawingml/2006/main" noGrp="1"/>
          </p:cNvSpPr>
          <p:nvPr/>
        </p:nvSpPr>
        <p:spPr>
          <a:xfrm xmlns:a="http://schemas.openxmlformats.org/drawingml/2006/main">
            <a:off x="7448550" y="29241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57,478 rows</a:t>
            </a:r>
          </a:p>
        </p:txBody>
      </p:sp>
      <p:sp>
        <p:nvSpPr>
          <p:cNvPr id="10" name="text-782-350">
            <a:extLst xmlns:a="http://schemas.openxmlformats.org/drawingml/2006/main">
              <a:ext uri="{FF2B5EF4-FFF2-40B4-BE49-F238E27FC236}">
                <a16:creationId xmlns:a16="http://schemas.microsoft.com/office/drawing/2014/main" id="{6947E907-A9C3-4650-B8E4-91D5D4C686E2}"/>
              </a:ext>
            </a:extLst>
          </p:cNvPr>
          <p:cNvSpPr>
            <a:spLocks xmlns:a="http://schemas.openxmlformats.org/drawingml/2006/main" noGrp="1"/>
          </p:cNvSpPr>
          <p:nvPr/>
        </p:nvSpPr>
        <p:spPr>
          <a:xfrm xmlns:a="http://schemas.openxmlformats.org/drawingml/2006/main">
            <a:off x="7448550" y="3333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compare methods</a:t>
            </a:r>
          </a:p>
        </p:txBody>
      </p:sp>
      <p:sp>
        <p:nvSpPr>
          <p:cNvPr id="11" name="">
            <a:extLst xmlns:a="http://schemas.openxmlformats.org/drawingml/2006/main">
              <a:ext uri="{FF2B5EF4-FFF2-40B4-BE49-F238E27FC236}">
                <a16:creationId xmlns:a16="http://schemas.microsoft.com/office/drawing/2014/main" id="{09E7DC75-7DBB-454C-B072-64B7EBEB622F}"/>
              </a:ext>
            </a:extLst>
          </p:cNvPr>
          <p:cNvSpPr>
            <a:spLocks xmlns:a="http://schemas.openxmlformats.org/drawingml/2006/main" noGrp="1"/>
          </p:cNvSpPr>
          <p:nvPr/>
        </p:nvSpPr>
        <p:spPr>
          <a:xfrm xmlns:a="http://schemas.openxmlformats.org/drawingml/2006/main">
            <a:off x="9448800" y="2238375"/>
            <a:ext cx="2343150" cy="157162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text-1012-260">
            <a:extLst xmlns:a="http://schemas.openxmlformats.org/drawingml/2006/main">
              <a:ext uri="{FF2B5EF4-FFF2-40B4-BE49-F238E27FC236}">
                <a16:creationId xmlns:a16="http://schemas.microsoft.com/office/drawing/2014/main" id="{5387DF73-134F-4E08-B01E-AFEBD289C7B9}"/>
              </a:ext>
            </a:extLst>
          </p:cNvPr>
          <p:cNvSpPr>
            <a:spLocks xmlns:a="http://schemas.openxmlformats.org/drawingml/2006/main" noGrp="1"/>
          </p:cNvSpPr>
          <p:nvPr/>
        </p:nvSpPr>
        <p:spPr>
          <a:xfrm xmlns:a="http://schemas.openxmlformats.org/drawingml/2006/main">
            <a:off x="9639300" y="2476500"/>
            <a:ext cx="19621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latin typeface="Arial"/>
                <a:ea typeface="Arial"/>
                <a:cs typeface="Arial"/>
              </a:defRPr>
            </a:pPr>
            <a:r>
              <a:rPr sz="1725" b="1">
                <a:solidFill>
                  <a:srgbClr val="000000"/>
                </a:solidFill>
                <a:latin typeface="Arial"/>
                <a:ea typeface="Arial"/>
                <a:cs typeface="Arial"/>
              </a:rPr>
              <a:t>TEST</a:t>
            </a:r>
          </a:p>
        </p:txBody>
      </p:sp>
      <p:sp>
        <p:nvSpPr>
          <p:cNvPr id="13" name="text-1012-307">
            <a:extLst xmlns:a="http://schemas.openxmlformats.org/drawingml/2006/main">
              <a:ext uri="{FF2B5EF4-FFF2-40B4-BE49-F238E27FC236}">
                <a16:creationId xmlns:a16="http://schemas.microsoft.com/office/drawing/2014/main" id="{AF15EB1A-25BC-4CF6-A424-E9841525D4C2}"/>
              </a:ext>
            </a:extLst>
          </p:cNvPr>
          <p:cNvSpPr>
            <a:spLocks xmlns:a="http://schemas.openxmlformats.org/drawingml/2006/main" noGrp="1"/>
          </p:cNvSpPr>
          <p:nvPr/>
        </p:nvSpPr>
        <p:spPr>
          <a:xfrm xmlns:a="http://schemas.openxmlformats.org/drawingml/2006/main">
            <a:off x="9639300" y="292417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57,480 rows</a:t>
            </a:r>
          </a:p>
        </p:txBody>
      </p:sp>
      <p:sp>
        <p:nvSpPr>
          <p:cNvPr id="14" name="text-1012-350">
            <a:extLst xmlns:a="http://schemas.openxmlformats.org/drawingml/2006/main">
              <a:ext uri="{FF2B5EF4-FFF2-40B4-BE49-F238E27FC236}">
                <a16:creationId xmlns:a16="http://schemas.microsoft.com/office/drawing/2014/main" id="{47357868-AA33-4958-954F-A13EB786B9CE}"/>
              </a:ext>
            </a:extLst>
          </p:cNvPr>
          <p:cNvSpPr>
            <a:spLocks xmlns:a="http://schemas.openxmlformats.org/drawingml/2006/main" noGrp="1"/>
          </p:cNvSpPr>
          <p:nvPr/>
        </p:nvSpPr>
        <p:spPr>
          <a:xfrm xmlns:a="http://schemas.openxmlformats.org/drawingml/2006/main">
            <a:off x="9639300" y="33337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000000"/>
                </a:solidFill>
                <a:latin typeface="Arial"/>
                <a:ea typeface="Arial"/>
                <a:cs typeface="Arial"/>
              </a:defRPr>
            </a:pPr>
            <a:r>
              <a:rPr sz="1350" b="0">
                <a:solidFill>
                  <a:srgbClr val="000000"/>
                </a:solidFill>
                <a:latin typeface="Arial"/>
                <a:ea typeface="Arial"/>
                <a:cs typeface="Arial"/>
              </a:rPr>
              <a:t>open once at end</a:t>
            </a:r>
          </a:p>
        </p:txBody>
      </p:sp>
      <p:sp>
        <p:nvSpPr>
          <p:cNvPr id="15" name="text-42-455">
            <a:extLst xmlns:a="http://schemas.openxmlformats.org/drawingml/2006/main">
              <a:ext uri="{FF2B5EF4-FFF2-40B4-BE49-F238E27FC236}">
                <a16:creationId xmlns:a16="http://schemas.microsoft.com/office/drawing/2014/main" id="{482B23DE-4D39-4722-9346-A742871A74E9}"/>
              </a:ext>
            </a:extLst>
          </p:cNvPr>
          <p:cNvSpPr>
            <a:spLocks xmlns:a="http://schemas.openxmlformats.org/drawingml/2006/main" noGrp="1"/>
          </p:cNvSpPr>
          <p:nvPr/>
        </p:nvSpPr>
        <p:spPr>
          <a:xfrm xmlns:a="http://schemas.openxmlformats.org/drawingml/2006/main">
            <a:off x="400050" y="433387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000000"/>
                </a:solidFill>
                <a:latin typeface="Arial"/>
                <a:ea typeface="Arial"/>
                <a:cs typeface="Arial"/>
              </a:defRPr>
            </a:pPr>
            <a:r>
              <a:rPr sz="2175" b="1">
                <a:solidFill>
                  <a:srgbClr val="000000"/>
                </a:solidFill>
                <a:latin typeface="Arial"/>
                <a:ea typeface="Arial"/>
                <a:cs typeface="Arial"/>
              </a:rPr>
              <a:t>All sales lags and rolling statistics use past weeks only</a:t>
            </a:r>
          </a:p>
        </p:txBody>
      </p:sp>
      <p:sp>
        <p:nvSpPr>
          <p:cNvPr id="16" name="text-42-525">
            <a:extLst xmlns:a="http://schemas.openxmlformats.org/drawingml/2006/main">
              <a:ext uri="{FF2B5EF4-FFF2-40B4-BE49-F238E27FC236}">
                <a16:creationId xmlns:a16="http://schemas.microsoft.com/office/drawing/2014/main" id="{41660290-7021-4031-B299-D446C438C1E0}"/>
              </a:ext>
            </a:extLst>
          </p:cNvPr>
          <p:cNvSpPr>
            <a:spLocks xmlns:a="http://schemas.openxmlformats.org/drawingml/2006/main" noGrp="1"/>
          </p:cNvSpPr>
          <p:nvPr/>
        </p:nvSpPr>
        <p:spPr>
          <a:xfrm xmlns:a="http://schemas.openxmlformats.org/drawingml/2006/main">
            <a:off x="400050" y="5000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17" name="text-76-525">
            <a:extLst xmlns:a="http://schemas.openxmlformats.org/drawingml/2006/main">
              <a:ext uri="{FF2B5EF4-FFF2-40B4-BE49-F238E27FC236}">
                <a16:creationId xmlns:a16="http://schemas.microsoft.com/office/drawing/2014/main" id="{128009E7-6202-49FA-B3B9-C7804D5021C1}"/>
              </a:ext>
            </a:extLst>
          </p:cNvPr>
          <p:cNvSpPr>
            <a:spLocks xmlns:a="http://schemas.openxmlformats.org/drawingml/2006/main" noGrp="1"/>
          </p:cNvSpPr>
          <p:nvPr/>
        </p:nvSpPr>
        <p:spPr>
          <a:xfrm xmlns:a="http://schemas.openxmlformats.org/drawingml/2006/main">
            <a:off x="723900" y="5000625"/>
            <a:ext cx="10153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8-week warm-up before a row becomes model-ready</a:t>
            </a:r>
          </a:p>
        </p:txBody>
      </p:sp>
      <p:sp>
        <p:nvSpPr>
          <p:cNvPr id="18" name="text-42-565">
            <a:extLst xmlns:a="http://schemas.openxmlformats.org/drawingml/2006/main">
              <a:ext uri="{FF2B5EF4-FFF2-40B4-BE49-F238E27FC236}">
                <a16:creationId xmlns:a16="http://schemas.microsoft.com/office/drawing/2014/main" id="{D192A653-A6B9-4BE5-AC6D-F666B27B300E}"/>
              </a:ext>
            </a:extLst>
          </p:cNvPr>
          <p:cNvSpPr>
            <a:spLocks xmlns:a="http://schemas.openxmlformats.org/drawingml/2006/main" noGrp="1"/>
          </p:cNvSpPr>
          <p:nvPr/>
        </p:nvSpPr>
        <p:spPr>
          <a:xfrm xmlns:a="http://schemas.openxmlformats.org/drawingml/2006/main">
            <a:off x="400050" y="5381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19" name="text-76-565">
            <a:extLst xmlns:a="http://schemas.openxmlformats.org/drawingml/2006/main">
              <a:ext uri="{FF2B5EF4-FFF2-40B4-BE49-F238E27FC236}">
                <a16:creationId xmlns:a16="http://schemas.microsoft.com/office/drawing/2014/main" id="{9903BE29-0C0E-4330-9EF4-008FF8B687B3}"/>
              </a:ext>
            </a:extLst>
          </p:cNvPr>
          <p:cNvSpPr>
            <a:spLocks xmlns:a="http://schemas.openxmlformats.org/drawingml/2006/main" noGrp="1"/>
          </p:cNvSpPr>
          <p:nvPr/>
        </p:nvSpPr>
        <p:spPr>
          <a:xfrm xmlns:a="http://schemas.openxmlformats.org/drawingml/2006/main">
            <a:off x="723900" y="5381625"/>
            <a:ext cx="10153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No current target or current sales-outlier flag in the features</a:t>
            </a:r>
          </a:p>
        </p:txBody>
      </p:sp>
      <p:sp>
        <p:nvSpPr>
          <p:cNvPr id="20" name="text-42-605">
            <a:extLst xmlns:a="http://schemas.openxmlformats.org/drawingml/2006/main">
              <a:ext uri="{FF2B5EF4-FFF2-40B4-BE49-F238E27FC236}">
                <a16:creationId xmlns:a16="http://schemas.microsoft.com/office/drawing/2014/main" id="{C09D3DDC-43CD-49AE-97CF-E06D880B4CA9}"/>
              </a:ext>
            </a:extLst>
          </p:cNvPr>
          <p:cNvSpPr>
            <a:spLocks xmlns:a="http://schemas.openxmlformats.org/drawingml/2006/main" noGrp="1"/>
          </p:cNvSpPr>
          <p:nvPr/>
        </p:nvSpPr>
        <p:spPr>
          <a:xfrm xmlns:a="http://schemas.openxmlformats.org/drawingml/2006/main">
            <a:off x="400050" y="57626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21" name="text-76-605">
            <a:extLst xmlns:a="http://schemas.openxmlformats.org/drawingml/2006/main">
              <a:ext uri="{FF2B5EF4-FFF2-40B4-BE49-F238E27FC236}">
                <a16:creationId xmlns:a16="http://schemas.microsoft.com/office/drawing/2014/main" id="{29F98F49-BA2B-438E-BDA2-F1BD9A78D0FF}"/>
              </a:ext>
            </a:extLst>
          </p:cNvPr>
          <p:cNvSpPr>
            <a:spLocks xmlns:a="http://schemas.openxmlformats.org/drawingml/2006/main" noGrp="1"/>
          </p:cNvSpPr>
          <p:nvPr/>
        </p:nvSpPr>
        <p:spPr>
          <a:xfrm xmlns:a="http://schemas.openxmlformats.org/drawingml/2006/main">
            <a:off x="723900" y="5762625"/>
            <a:ext cx="10153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No tuning after the final test result</a:t>
            </a:r>
          </a:p>
        </p:txBody>
      </p:sp>
    </p:spTree>
    <p:extLst>
      <p:ext uri="{BB962C8B-B14F-4D97-AF65-F5344CB8AC3E}">
        <p14:creationId xmlns:p14="http://schemas.microsoft.com/office/powerpoint/2010/main" val="14823331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4B64B0E-23B9-47FE-897E-C9427FA147BE}"/>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Validation selected Random Forest before the test was opened</a:t>
            </a:r>
          </a:p>
        </p:txBody>
      </p:sp>
      <p:sp>
        <p:nvSpPr>
          <p:cNvPr id="2" name="slide-number">
            <a:extLst xmlns:a="http://schemas.openxmlformats.org/drawingml/2006/main">
              <a:ext uri="{FF2B5EF4-FFF2-40B4-BE49-F238E27FC236}">
                <a16:creationId xmlns:a16="http://schemas.microsoft.com/office/drawing/2014/main" id="{FFFC75E4-54D0-448B-95D9-D05D33959D7E}"/>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5</a:t>
            </a:r>
          </a:p>
        </p:txBody>
      </p:sp>
      <p:graphicFrame>
        <p:nvGraphicFramePr>
          <p:cNvPr id="15" name="Chart"/>
          <p:cNvGraphicFramePr/>
          <p:nvPr/>
        </p:nvGraphicFramePr>
        <p:xfrm>
          <a:off xmlns:a="http://schemas.openxmlformats.org/drawingml/2006/main" x="400050" y="1524000"/>
          <a:ext xmlns:a="http://schemas.openxmlformats.org/drawingml/2006/main" cx="7239000" cy="4191000"/>
        </p:xfrm>
        <a:graphic xmlns:a="http://schemas.openxmlformats.org/drawingml/2006/main">
          <a:graphicData uri="http://schemas.openxmlformats.org/drawingml/2006/chart">
            <c:chart xmlns:r="http://schemas.openxmlformats.org/officeDocument/2006/relationships" xmlns:c="http://schemas.openxmlformats.org/drawingml/2006/chart" r:id="Rcb2c106972604731"/>
          </a:graphicData>
        </a:graphic>
      </p:graphicFrame>
      <p:sp>
        <p:nvSpPr>
          <p:cNvPr id="4" name="text-860-205">
            <a:extLst xmlns:a="http://schemas.openxmlformats.org/drawingml/2006/main">
              <a:ext uri="{FF2B5EF4-FFF2-40B4-BE49-F238E27FC236}">
                <a16:creationId xmlns:a16="http://schemas.microsoft.com/office/drawing/2014/main" id="{7B7DB621-A84E-4231-9A9D-3C4137F723DF}"/>
              </a:ext>
            </a:extLst>
          </p:cNvPr>
          <p:cNvSpPr>
            <a:spLocks xmlns:a="http://schemas.openxmlformats.org/drawingml/2006/main" noGrp="1"/>
          </p:cNvSpPr>
          <p:nvPr/>
        </p:nvSpPr>
        <p:spPr>
          <a:xfrm xmlns:a="http://schemas.openxmlformats.org/drawingml/2006/main">
            <a:off x="8191500" y="195262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000000"/>
                </a:solidFill>
                <a:latin typeface="Arial"/>
                <a:ea typeface="Arial"/>
                <a:cs typeface="Arial"/>
              </a:defRPr>
            </a:pPr>
            <a:r>
              <a:rPr sz="1950" b="1">
                <a:solidFill>
                  <a:srgbClr val="000000"/>
                </a:solidFill>
                <a:latin typeface="Arial"/>
                <a:ea typeface="Arial"/>
                <a:cs typeface="Arial"/>
              </a:rPr>
              <a:t>Why it won</a:t>
            </a:r>
          </a:p>
        </p:txBody>
      </p:sp>
      <p:sp>
        <p:nvSpPr>
          <p:cNvPr id="5" name="text-860-270">
            <a:extLst xmlns:a="http://schemas.openxmlformats.org/drawingml/2006/main">
              <a:ext uri="{FF2B5EF4-FFF2-40B4-BE49-F238E27FC236}">
                <a16:creationId xmlns:a16="http://schemas.microsoft.com/office/drawing/2014/main" id="{513E7F13-11E9-4838-8CD4-8CA44AA13EE1}"/>
              </a:ext>
            </a:extLst>
          </p:cNvPr>
          <p:cNvSpPr>
            <a:spLocks xmlns:a="http://schemas.openxmlformats.org/drawingml/2006/main" noGrp="1"/>
          </p:cNvSpPr>
          <p:nvPr/>
        </p:nvSpPr>
        <p:spPr>
          <a:xfrm xmlns:a="http://schemas.openxmlformats.org/drawingml/2006/main">
            <a:off x="8191500" y="2571750"/>
            <a:ext cx="266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6" name="text-894-270">
            <a:extLst xmlns:a="http://schemas.openxmlformats.org/drawingml/2006/main">
              <a:ext uri="{FF2B5EF4-FFF2-40B4-BE49-F238E27FC236}">
                <a16:creationId xmlns:a16="http://schemas.microsoft.com/office/drawing/2014/main" id="{AC9B5541-E410-4449-B7AD-3D46E5A3B1DC}"/>
              </a:ext>
            </a:extLst>
          </p:cNvPr>
          <p:cNvSpPr>
            <a:spLocks xmlns:a="http://schemas.openxmlformats.org/drawingml/2006/main" noGrp="1"/>
          </p:cNvSpPr>
          <p:nvPr/>
        </p:nvSpPr>
        <p:spPr>
          <a:xfrm xmlns:a="http://schemas.openxmlformats.org/drawingml/2006/main">
            <a:off x="8515350" y="257175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5.48% lower MAE than baseline</a:t>
            </a:r>
          </a:p>
        </p:txBody>
      </p:sp>
      <p:sp>
        <p:nvSpPr>
          <p:cNvPr id="7" name="text-860-328">
            <a:extLst xmlns:a="http://schemas.openxmlformats.org/drawingml/2006/main">
              <a:ext uri="{FF2B5EF4-FFF2-40B4-BE49-F238E27FC236}">
                <a16:creationId xmlns:a16="http://schemas.microsoft.com/office/drawing/2014/main" id="{904D0886-01F8-47AA-BBA7-59403B06C1B2}"/>
              </a:ext>
            </a:extLst>
          </p:cNvPr>
          <p:cNvSpPr>
            <a:spLocks xmlns:a="http://schemas.openxmlformats.org/drawingml/2006/main" noGrp="1"/>
          </p:cNvSpPr>
          <p:nvPr/>
        </p:nvSpPr>
        <p:spPr>
          <a:xfrm xmlns:a="http://schemas.openxmlformats.org/drawingml/2006/main">
            <a:off x="8191500" y="3124200"/>
            <a:ext cx="266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8" name="text-894-328">
            <a:extLst xmlns:a="http://schemas.openxmlformats.org/drawingml/2006/main">
              <a:ext uri="{FF2B5EF4-FFF2-40B4-BE49-F238E27FC236}">
                <a16:creationId xmlns:a16="http://schemas.microsoft.com/office/drawing/2014/main" id="{259B6B5E-52D1-4A9E-90CF-591E28F0F9D4}"/>
              </a:ext>
            </a:extLst>
          </p:cNvPr>
          <p:cNvSpPr>
            <a:spLocks xmlns:a="http://schemas.openxmlformats.org/drawingml/2006/main" noGrp="1"/>
          </p:cNvSpPr>
          <p:nvPr/>
        </p:nvSpPr>
        <p:spPr>
          <a:xfrm xmlns:a="http://schemas.openxmlformats.org/drawingml/2006/main">
            <a:off x="8515350" y="312420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same leakage-safe features</a:t>
            </a:r>
          </a:p>
        </p:txBody>
      </p:sp>
      <p:sp>
        <p:nvSpPr>
          <p:cNvPr id="9" name="text-860-386">
            <a:extLst xmlns:a="http://schemas.openxmlformats.org/drawingml/2006/main">
              <a:ext uri="{FF2B5EF4-FFF2-40B4-BE49-F238E27FC236}">
                <a16:creationId xmlns:a16="http://schemas.microsoft.com/office/drawing/2014/main" id="{E6DFA9BA-7740-4F5D-9C54-94483CF87817}"/>
              </a:ext>
            </a:extLst>
          </p:cNvPr>
          <p:cNvSpPr>
            <a:spLocks xmlns:a="http://schemas.openxmlformats.org/drawingml/2006/main" noGrp="1"/>
          </p:cNvSpPr>
          <p:nvPr/>
        </p:nvSpPr>
        <p:spPr>
          <a:xfrm xmlns:a="http://schemas.openxmlformats.org/drawingml/2006/main">
            <a:off x="8191500" y="3676650"/>
            <a:ext cx="266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10" name="text-894-386">
            <a:extLst xmlns:a="http://schemas.openxmlformats.org/drawingml/2006/main">
              <a:ext uri="{FF2B5EF4-FFF2-40B4-BE49-F238E27FC236}">
                <a16:creationId xmlns:a16="http://schemas.microsoft.com/office/drawing/2014/main" id="{CC68E07C-A954-4585-BF64-78AA127B5037}"/>
              </a:ext>
            </a:extLst>
          </p:cNvPr>
          <p:cNvSpPr>
            <a:spLocks xmlns:a="http://schemas.openxmlformats.org/drawingml/2006/main" noGrp="1"/>
          </p:cNvSpPr>
          <p:nvPr/>
        </p:nvSpPr>
        <p:spPr>
          <a:xfrm xmlns:a="http://schemas.openxmlformats.org/drawingml/2006/main">
            <a:off x="8515350" y="367665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fixed 40-tree configuration</a:t>
            </a:r>
          </a:p>
        </p:txBody>
      </p:sp>
      <p:sp>
        <p:nvSpPr>
          <p:cNvPr id="11" name="text-860-444">
            <a:extLst xmlns:a="http://schemas.openxmlformats.org/drawingml/2006/main">
              <a:ext uri="{FF2B5EF4-FFF2-40B4-BE49-F238E27FC236}">
                <a16:creationId xmlns:a16="http://schemas.microsoft.com/office/drawing/2014/main" id="{45D3DDBA-0AB2-419B-ABE2-7DE3FD5016D9}"/>
              </a:ext>
            </a:extLst>
          </p:cNvPr>
          <p:cNvSpPr>
            <a:spLocks xmlns:a="http://schemas.openxmlformats.org/drawingml/2006/main" noGrp="1"/>
          </p:cNvSpPr>
          <p:nvPr/>
        </p:nvSpPr>
        <p:spPr>
          <a:xfrm xmlns:a="http://schemas.openxmlformats.org/drawingml/2006/main">
            <a:off x="8191500" y="4229100"/>
            <a:ext cx="266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a:t>
            </a:r>
          </a:p>
        </p:txBody>
      </p:sp>
      <p:sp>
        <p:nvSpPr>
          <p:cNvPr id="12" name="text-894-444">
            <a:extLst xmlns:a="http://schemas.openxmlformats.org/drawingml/2006/main">
              <a:ext uri="{FF2B5EF4-FFF2-40B4-BE49-F238E27FC236}">
                <a16:creationId xmlns:a16="http://schemas.microsoft.com/office/drawing/2014/main" id="{0A8FDED0-F279-4FD6-9488-2DC6D59E08E7}"/>
              </a:ext>
            </a:extLst>
          </p:cNvPr>
          <p:cNvSpPr>
            <a:spLocks xmlns:a="http://schemas.openxmlformats.org/drawingml/2006/main" noGrp="1"/>
          </p:cNvSpPr>
          <p:nvPr/>
        </p:nvSpPr>
        <p:spPr>
          <a:xfrm xmlns:a="http://schemas.openxmlformats.org/drawingml/2006/main">
            <a:off x="8515350" y="422910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000000"/>
                </a:solidFill>
                <a:latin typeface="Arial"/>
                <a:ea typeface="Arial"/>
                <a:cs typeface="Arial"/>
              </a:defRPr>
            </a:pPr>
            <a:r>
              <a:rPr sz="1575" b="0">
                <a:solidFill>
                  <a:srgbClr val="000000"/>
                </a:solidFill>
                <a:latin typeface="Arial"/>
                <a:ea typeface="Arial"/>
                <a:cs typeface="Arial"/>
              </a:rPr>
              <a:t>saved and reloaded with MLflow</a:t>
            </a:r>
          </a:p>
        </p:txBody>
      </p:sp>
    </p:spTree>
    <p:extLst>
      <p:ext uri="{BB962C8B-B14F-4D97-AF65-F5344CB8AC3E}">
        <p14:creationId xmlns:p14="http://schemas.microsoft.com/office/powerpoint/2010/main" val="19778433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74C7E426-4F74-4433-942B-A31003C213BB}"/>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Final test MAE improves by 7.72%</a:t>
            </a:r>
          </a:p>
        </p:txBody>
      </p:sp>
      <p:sp>
        <p:nvSpPr>
          <p:cNvPr id="2" name="slide-number">
            <a:extLst xmlns:a="http://schemas.openxmlformats.org/drawingml/2006/main">
              <a:ext uri="{FF2B5EF4-FFF2-40B4-BE49-F238E27FC236}">
                <a16:creationId xmlns:a16="http://schemas.microsoft.com/office/drawing/2014/main" id="{9F800DE2-3227-4CC8-A1DA-87E400D639E7}"/>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6</a:t>
            </a:r>
          </a:p>
        </p:txBody>
      </p:sp>
      <p:sp>
        <p:nvSpPr>
          <p:cNvPr id="3" name="text-42-135">
            <a:extLst xmlns:a="http://schemas.openxmlformats.org/drawingml/2006/main">
              <a:ext uri="{FF2B5EF4-FFF2-40B4-BE49-F238E27FC236}">
                <a16:creationId xmlns:a16="http://schemas.microsoft.com/office/drawing/2014/main" id="{1593157B-B2D4-4FC7-9746-51490146FA68}"/>
              </a:ext>
            </a:extLst>
          </p:cNvPr>
          <p:cNvSpPr>
            <a:spLocks xmlns:a="http://schemas.openxmlformats.org/drawingml/2006/main" noGrp="1"/>
          </p:cNvSpPr>
          <p:nvPr/>
        </p:nvSpPr>
        <p:spPr>
          <a:xfrm xmlns:a="http://schemas.openxmlformats.org/drawingml/2006/main">
            <a:off x="400050" y="1285875"/>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0">
                <a:solidFill>
                  <a:srgbClr val="000000"/>
                </a:solidFill>
                <a:latin typeface="Arial"/>
                <a:ea typeface="Arial"/>
                <a:cs typeface="Arial"/>
              </a:defRPr>
            </a:pPr>
            <a:r>
              <a:rPr sz="1875" b="0">
                <a:solidFill>
                  <a:srgbClr val="000000"/>
                </a:solidFill>
                <a:latin typeface="Arial"/>
                <a:ea typeface="Arial"/>
                <a:cs typeface="Arial"/>
              </a:rPr>
              <a:t>Retrained on train + validation, then evaluated once on 57,480 test rows.</a:t>
            </a:r>
          </a:p>
        </p:txBody>
      </p:sp>
      <p:sp>
        <p:nvSpPr>
          <p:cNvPr id="4" name="">
            <a:extLst xmlns:a="http://schemas.openxmlformats.org/drawingml/2006/main">
              <a:ext uri="{FF2B5EF4-FFF2-40B4-BE49-F238E27FC236}">
                <a16:creationId xmlns:a16="http://schemas.microsoft.com/office/drawing/2014/main" id="{4AC455F8-D5B0-426A-B661-822152CF6AB9}"/>
              </a:ext>
            </a:extLst>
          </p:cNvPr>
          <p:cNvSpPr>
            <a:spLocks xmlns:a="http://schemas.openxmlformats.org/drawingml/2006/main" noGrp="1"/>
          </p:cNvSpPr>
          <p:nvPr/>
        </p:nvSpPr>
        <p:spPr>
          <a:xfrm xmlns:a="http://schemas.openxmlformats.org/drawingml/2006/main">
            <a:off x="400050" y="2714625"/>
            <a:ext cx="3571875" cy="2571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text-72-330">
            <a:extLst xmlns:a="http://schemas.openxmlformats.org/drawingml/2006/main">
              <a:ext uri="{FF2B5EF4-FFF2-40B4-BE49-F238E27FC236}">
                <a16:creationId xmlns:a16="http://schemas.microsoft.com/office/drawing/2014/main" id="{41E66011-BE3E-41E6-A60D-C5112A3A3D41}"/>
              </a:ext>
            </a:extLst>
          </p:cNvPr>
          <p:cNvSpPr>
            <a:spLocks xmlns:a="http://schemas.openxmlformats.org/drawingml/2006/main" noGrp="1"/>
          </p:cNvSpPr>
          <p:nvPr/>
        </p:nvSpPr>
        <p:spPr>
          <a:xfrm xmlns:a="http://schemas.openxmlformats.org/drawingml/2006/main">
            <a:off x="685800" y="3143250"/>
            <a:ext cx="3000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350" b="1">
                <a:solidFill>
                  <a:srgbClr val="3D8DFF"/>
                </a:solidFill>
                <a:latin typeface="Arial"/>
                <a:ea typeface="Arial"/>
                <a:cs typeface="Arial"/>
              </a:defRPr>
            </a:pPr>
            <a:r>
              <a:rPr sz="4350" b="1">
                <a:solidFill>
                  <a:srgbClr val="3D8DFF"/>
                </a:solidFill>
                <a:latin typeface="Arial"/>
                <a:ea typeface="Arial"/>
                <a:cs typeface="Arial"/>
              </a:rPr>
              <a:t>4.418</a:t>
            </a:r>
          </a:p>
        </p:txBody>
      </p:sp>
      <p:sp>
        <p:nvSpPr>
          <p:cNvPr id="6" name="text-72-455">
            <a:extLst xmlns:a="http://schemas.openxmlformats.org/drawingml/2006/main">
              <a:ext uri="{FF2B5EF4-FFF2-40B4-BE49-F238E27FC236}">
                <a16:creationId xmlns:a16="http://schemas.microsoft.com/office/drawing/2014/main" id="{0E9A31D7-14B5-4417-B226-E2464DB80856}"/>
              </a:ext>
            </a:extLst>
          </p:cNvPr>
          <p:cNvSpPr>
            <a:spLocks xmlns:a="http://schemas.openxmlformats.org/drawingml/2006/main" noGrp="1"/>
          </p:cNvSpPr>
          <p:nvPr/>
        </p:nvSpPr>
        <p:spPr>
          <a:xfrm xmlns:a="http://schemas.openxmlformats.org/drawingml/2006/main">
            <a:off x="685800" y="43338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Random Forest test MAE</a:t>
            </a:r>
          </a:p>
        </p:txBody>
      </p:sp>
      <p:sp>
        <p:nvSpPr>
          <p:cNvPr id="7" name="">
            <a:extLst xmlns:a="http://schemas.openxmlformats.org/drawingml/2006/main">
              <a:ext uri="{FF2B5EF4-FFF2-40B4-BE49-F238E27FC236}">
                <a16:creationId xmlns:a16="http://schemas.microsoft.com/office/drawing/2014/main" id="{FCF87587-C7A3-472D-ABE5-3950AEE84C0D}"/>
              </a:ext>
            </a:extLst>
          </p:cNvPr>
          <p:cNvSpPr>
            <a:spLocks xmlns:a="http://schemas.openxmlformats.org/drawingml/2006/main" noGrp="1"/>
          </p:cNvSpPr>
          <p:nvPr/>
        </p:nvSpPr>
        <p:spPr>
          <a:xfrm xmlns:a="http://schemas.openxmlformats.org/drawingml/2006/main">
            <a:off x="4314825" y="2714625"/>
            <a:ext cx="3571875" cy="2571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text-483-330">
            <a:extLst xmlns:a="http://schemas.openxmlformats.org/drawingml/2006/main">
              <a:ext uri="{FF2B5EF4-FFF2-40B4-BE49-F238E27FC236}">
                <a16:creationId xmlns:a16="http://schemas.microsoft.com/office/drawing/2014/main" id="{0754AA45-4F04-4FC3-91E7-CF3018C0F876}"/>
              </a:ext>
            </a:extLst>
          </p:cNvPr>
          <p:cNvSpPr>
            <a:spLocks xmlns:a="http://schemas.openxmlformats.org/drawingml/2006/main" noGrp="1"/>
          </p:cNvSpPr>
          <p:nvPr/>
        </p:nvSpPr>
        <p:spPr>
          <a:xfrm xmlns:a="http://schemas.openxmlformats.org/drawingml/2006/main">
            <a:off x="4600575" y="3143250"/>
            <a:ext cx="3000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350" b="1">
                <a:solidFill>
                  <a:srgbClr val="000000"/>
                </a:solidFill>
                <a:latin typeface="Arial"/>
                <a:ea typeface="Arial"/>
                <a:cs typeface="Arial"/>
              </a:defRPr>
            </a:pPr>
            <a:r>
              <a:rPr sz="4350" b="1">
                <a:solidFill>
                  <a:srgbClr val="000000"/>
                </a:solidFill>
                <a:latin typeface="Arial"/>
                <a:ea typeface="Arial"/>
                <a:cs typeface="Arial"/>
              </a:rPr>
              <a:t>4.787</a:t>
            </a:r>
          </a:p>
        </p:txBody>
      </p:sp>
      <p:sp>
        <p:nvSpPr>
          <p:cNvPr id="9" name="text-483-455">
            <a:extLst xmlns:a="http://schemas.openxmlformats.org/drawingml/2006/main">
              <a:ext uri="{FF2B5EF4-FFF2-40B4-BE49-F238E27FC236}">
                <a16:creationId xmlns:a16="http://schemas.microsoft.com/office/drawing/2014/main" id="{111FD372-8CBE-4FA0-B883-EB4E386B48A9}"/>
              </a:ext>
            </a:extLst>
          </p:cNvPr>
          <p:cNvSpPr>
            <a:spLocks xmlns:a="http://schemas.openxmlformats.org/drawingml/2006/main" noGrp="1"/>
          </p:cNvSpPr>
          <p:nvPr/>
        </p:nvSpPr>
        <p:spPr>
          <a:xfrm xmlns:a="http://schemas.openxmlformats.org/drawingml/2006/main">
            <a:off x="4600575" y="43338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Baseline test MAE</a:t>
            </a:r>
          </a:p>
        </p:txBody>
      </p:sp>
      <p:sp>
        <p:nvSpPr>
          <p:cNvPr id="10" name="">
            <a:extLst xmlns:a="http://schemas.openxmlformats.org/drawingml/2006/main">
              <a:ext uri="{FF2B5EF4-FFF2-40B4-BE49-F238E27FC236}">
                <a16:creationId xmlns:a16="http://schemas.microsoft.com/office/drawing/2014/main" id="{4FF4E9E1-B75C-40E8-AE5C-1E13345DC24F}"/>
              </a:ext>
            </a:extLst>
          </p:cNvPr>
          <p:cNvSpPr>
            <a:spLocks xmlns:a="http://schemas.openxmlformats.org/drawingml/2006/main" noGrp="1"/>
          </p:cNvSpPr>
          <p:nvPr/>
        </p:nvSpPr>
        <p:spPr>
          <a:xfrm xmlns:a="http://schemas.openxmlformats.org/drawingml/2006/main">
            <a:off x="8229600" y="2714625"/>
            <a:ext cx="3571875" cy="2571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text-894-330">
            <a:extLst xmlns:a="http://schemas.openxmlformats.org/drawingml/2006/main">
              <a:ext uri="{FF2B5EF4-FFF2-40B4-BE49-F238E27FC236}">
                <a16:creationId xmlns:a16="http://schemas.microsoft.com/office/drawing/2014/main" id="{10241E89-312C-4EC7-8F2F-52262FEBC223}"/>
              </a:ext>
            </a:extLst>
          </p:cNvPr>
          <p:cNvSpPr>
            <a:spLocks xmlns:a="http://schemas.openxmlformats.org/drawingml/2006/main" noGrp="1"/>
          </p:cNvSpPr>
          <p:nvPr/>
        </p:nvSpPr>
        <p:spPr>
          <a:xfrm xmlns:a="http://schemas.openxmlformats.org/drawingml/2006/main">
            <a:off x="8515350" y="3143250"/>
            <a:ext cx="3000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350" b="1">
                <a:solidFill>
                  <a:srgbClr val="000000"/>
                </a:solidFill>
                <a:latin typeface="Arial"/>
                <a:ea typeface="Arial"/>
                <a:cs typeface="Arial"/>
              </a:defRPr>
            </a:pPr>
            <a:r>
              <a:rPr sz="4350" b="1">
                <a:solidFill>
                  <a:srgbClr val="000000"/>
                </a:solidFill>
                <a:latin typeface="Arial"/>
                <a:ea typeface="Arial"/>
                <a:cs typeface="Arial"/>
              </a:rPr>
              <a:t>9.133</a:t>
            </a:r>
          </a:p>
        </p:txBody>
      </p:sp>
      <p:sp>
        <p:nvSpPr>
          <p:cNvPr id="12" name="text-894-455">
            <a:extLst xmlns:a="http://schemas.openxmlformats.org/drawingml/2006/main">
              <a:ext uri="{FF2B5EF4-FFF2-40B4-BE49-F238E27FC236}">
                <a16:creationId xmlns:a16="http://schemas.microsoft.com/office/drawing/2014/main" id="{EBE47E75-A503-45EF-B741-959FC2C311E9}"/>
              </a:ext>
            </a:extLst>
          </p:cNvPr>
          <p:cNvSpPr>
            <a:spLocks xmlns:a="http://schemas.openxmlformats.org/drawingml/2006/main" noGrp="1"/>
          </p:cNvSpPr>
          <p:nvPr/>
        </p:nvSpPr>
        <p:spPr>
          <a:xfrm xmlns:a="http://schemas.openxmlformats.org/drawingml/2006/main">
            <a:off x="8515350" y="43338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Random Forest test RMSE</a:t>
            </a:r>
          </a:p>
        </p:txBody>
      </p:sp>
    </p:spTree>
    <p:extLst>
      <p:ext uri="{BB962C8B-B14F-4D97-AF65-F5344CB8AC3E}">
        <p14:creationId xmlns:p14="http://schemas.microsoft.com/office/powerpoint/2010/main" val="14212234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CD5D2DB-1A3A-43FA-8481-1D600A9D2F3D}"/>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Most predictions are close, but high demand remains the main risk</a:t>
            </a:r>
          </a:p>
        </p:txBody>
      </p:sp>
      <p:sp>
        <p:nvSpPr>
          <p:cNvPr id="2" name="slide-number">
            <a:extLst xmlns:a="http://schemas.openxmlformats.org/drawingml/2006/main">
              <a:ext uri="{FF2B5EF4-FFF2-40B4-BE49-F238E27FC236}">
                <a16:creationId xmlns:a16="http://schemas.microsoft.com/office/drawing/2014/main" id="{D7D8169F-F79C-4B32-871E-8EAFCA6A576D}"/>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7</a:t>
            </a:r>
          </a:p>
        </p:txBody>
      </p:sp>
      <p:graphicFrame>
        <p:nvGraphicFramePr>
          <p:cNvPr id="10" name="Chart"/>
          <p:cNvGraphicFramePr/>
          <p:nvPr/>
        </p:nvGraphicFramePr>
        <p:xfrm>
          <a:off xmlns:a="http://schemas.openxmlformats.org/drawingml/2006/main" x="400050" y="1571625"/>
          <a:ext xmlns:a="http://schemas.openxmlformats.org/drawingml/2006/main" cx="7000875" cy="4095750"/>
        </p:xfrm>
        <a:graphic xmlns:a="http://schemas.openxmlformats.org/drawingml/2006/main">
          <a:graphicData uri="http://schemas.openxmlformats.org/drawingml/2006/chart">
            <c:chart xmlns:r="http://schemas.openxmlformats.org/officeDocument/2006/relationships" xmlns:c="http://schemas.openxmlformats.org/drawingml/2006/chart" r:id="R2929923b4e64458a"/>
          </a:graphicData>
        </a:graphic>
      </p:graphicFrame>
      <p:sp>
        <p:nvSpPr>
          <p:cNvPr id="4" name="text-845-205">
            <a:extLst xmlns:a="http://schemas.openxmlformats.org/drawingml/2006/main">
              <a:ext uri="{FF2B5EF4-FFF2-40B4-BE49-F238E27FC236}">
                <a16:creationId xmlns:a16="http://schemas.microsoft.com/office/drawing/2014/main" id="{D04A48E0-2E83-4540-BA19-455074D2A5C3}"/>
              </a:ext>
            </a:extLst>
          </p:cNvPr>
          <p:cNvSpPr>
            <a:spLocks xmlns:a="http://schemas.openxmlformats.org/drawingml/2006/main" noGrp="1"/>
          </p:cNvSpPr>
          <p:nvPr/>
        </p:nvSpPr>
        <p:spPr>
          <a:xfrm xmlns:a="http://schemas.openxmlformats.org/drawingml/2006/main">
            <a:off x="8048625" y="1952625"/>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825" b="1">
                <a:solidFill>
                  <a:srgbClr val="3D8DFF"/>
                </a:solidFill>
                <a:latin typeface="Arial"/>
                <a:ea typeface="Arial"/>
                <a:cs typeface="Arial"/>
              </a:defRPr>
            </a:pPr>
            <a:r>
              <a:rPr sz="3825" b="1">
                <a:solidFill>
                  <a:srgbClr val="3D8DFF"/>
                </a:solidFill>
                <a:latin typeface="Arial"/>
                <a:ea typeface="Arial"/>
                <a:cs typeface="Arial"/>
              </a:rPr>
              <a:t>76.08%</a:t>
            </a:r>
          </a:p>
        </p:txBody>
      </p:sp>
      <p:sp>
        <p:nvSpPr>
          <p:cNvPr id="5" name="text-845-285">
            <a:extLst xmlns:a="http://schemas.openxmlformats.org/drawingml/2006/main">
              <a:ext uri="{FF2B5EF4-FFF2-40B4-BE49-F238E27FC236}">
                <a16:creationId xmlns:a16="http://schemas.microsoft.com/office/drawing/2014/main" id="{742326A0-F6AD-44A0-A1E5-DDE46C193D4D}"/>
              </a:ext>
            </a:extLst>
          </p:cNvPr>
          <p:cNvSpPr>
            <a:spLocks xmlns:a="http://schemas.openxmlformats.org/drawingml/2006/main" noGrp="1"/>
          </p:cNvSpPr>
          <p:nvPr/>
        </p:nvSpPr>
        <p:spPr>
          <a:xfrm xmlns:a="http://schemas.openxmlformats.org/drawingml/2006/main">
            <a:off x="8048625" y="27146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within 5 units</a:t>
            </a:r>
          </a:p>
        </p:txBody>
      </p:sp>
      <p:sp>
        <p:nvSpPr>
          <p:cNvPr id="6" name="text-845-380">
            <a:extLst xmlns:a="http://schemas.openxmlformats.org/drawingml/2006/main">
              <a:ext uri="{FF2B5EF4-FFF2-40B4-BE49-F238E27FC236}">
                <a16:creationId xmlns:a16="http://schemas.microsoft.com/office/drawing/2014/main" id="{9BE1240D-CF98-4533-839A-6EBE2E8C9E41}"/>
              </a:ext>
            </a:extLst>
          </p:cNvPr>
          <p:cNvSpPr>
            <a:spLocks xmlns:a="http://schemas.openxmlformats.org/drawingml/2006/main" noGrp="1"/>
          </p:cNvSpPr>
          <p:nvPr/>
        </p:nvSpPr>
        <p:spPr>
          <a:xfrm xmlns:a="http://schemas.openxmlformats.org/drawingml/2006/main">
            <a:off x="8048625" y="36195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000000"/>
                </a:solidFill>
                <a:latin typeface="Arial"/>
                <a:ea typeface="Arial"/>
                <a:cs typeface="Arial"/>
              </a:defRPr>
            </a:pPr>
            <a:r>
              <a:rPr sz="1875" b="1">
                <a:solidFill>
                  <a:srgbClr val="000000"/>
                </a:solidFill>
                <a:latin typeface="Arial"/>
                <a:ea typeface="Arial"/>
                <a:cs typeface="Arial"/>
              </a:rPr>
              <a:t>High-demand rows</a:t>
            </a:r>
          </a:p>
        </p:txBody>
      </p:sp>
      <p:sp>
        <p:nvSpPr>
          <p:cNvPr id="7" name="text-845-430">
            <a:extLst xmlns:a="http://schemas.openxmlformats.org/drawingml/2006/main">
              <a:ext uri="{FF2B5EF4-FFF2-40B4-BE49-F238E27FC236}">
                <a16:creationId xmlns:a16="http://schemas.microsoft.com/office/drawing/2014/main" id="{48FE8DCA-8D42-439D-AEAA-27064C898BEB}"/>
              </a:ext>
            </a:extLst>
          </p:cNvPr>
          <p:cNvSpPr>
            <a:spLocks xmlns:a="http://schemas.openxmlformats.org/drawingml/2006/main" noGrp="1"/>
          </p:cNvSpPr>
          <p:nvPr/>
        </p:nvSpPr>
        <p:spPr>
          <a:xfrm xmlns:a="http://schemas.openxmlformats.org/drawingml/2006/main">
            <a:off x="8048625" y="4095750"/>
            <a:ext cx="3238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MAE 12.33</a:t>
            </a:r>
          </a:p>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Average underprediction 5.10 units</a:t>
            </a:r>
          </a:p>
        </p:txBody>
      </p:sp>
    </p:spTree>
    <p:extLst>
      <p:ext uri="{BB962C8B-B14F-4D97-AF65-F5344CB8AC3E}">
        <p14:creationId xmlns:p14="http://schemas.microsoft.com/office/powerpoint/2010/main" val="10587493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57F271E-B4D4-463B-8CDB-AEE66585C25B}"/>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One validated prediction function powers the notebook, API and UI</a:t>
            </a:r>
          </a:p>
        </p:txBody>
      </p:sp>
      <p:sp>
        <p:nvSpPr>
          <p:cNvPr id="2" name="slide-number">
            <a:extLst xmlns:a="http://schemas.openxmlformats.org/drawingml/2006/main">
              <a:ext uri="{FF2B5EF4-FFF2-40B4-BE49-F238E27FC236}">
                <a16:creationId xmlns:a16="http://schemas.microsoft.com/office/drawing/2014/main" id="{002BA096-DD60-4002-9E4B-27F0F00BACB7}"/>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8</a:t>
            </a:r>
          </a:p>
        </p:txBody>
      </p:sp>
      <p:sp>
        <p:nvSpPr>
          <p:cNvPr id="3" name="text-42-205">
            <a:extLst xmlns:a="http://schemas.openxmlformats.org/drawingml/2006/main">
              <a:ext uri="{FF2B5EF4-FFF2-40B4-BE49-F238E27FC236}">
                <a16:creationId xmlns:a16="http://schemas.microsoft.com/office/drawing/2014/main" id="{09362C80-FE25-4C48-9475-4FCCD7C0663F}"/>
              </a:ext>
            </a:extLst>
          </p:cNvPr>
          <p:cNvSpPr>
            <a:spLocks xmlns:a="http://schemas.openxmlformats.org/drawingml/2006/main" noGrp="1"/>
          </p:cNvSpPr>
          <p:nvPr/>
        </p:nvSpPr>
        <p:spPr>
          <a:xfrm xmlns:a="http://schemas.openxmlformats.org/drawingml/2006/main">
            <a:off x="400050" y="1952625"/>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20-feature contract</a:t>
            </a:r>
          </a:p>
        </p:txBody>
      </p:sp>
      <p:sp>
        <p:nvSpPr>
          <p:cNvPr id="4" name="text-42-263">
            <a:extLst xmlns:a="http://schemas.openxmlformats.org/drawingml/2006/main">
              <a:ext uri="{FF2B5EF4-FFF2-40B4-BE49-F238E27FC236}">
                <a16:creationId xmlns:a16="http://schemas.microsoft.com/office/drawing/2014/main" id="{66112B5B-CEDE-4BB1-892C-4CADF925E061}"/>
              </a:ext>
            </a:extLst>
          </p:cNvPr>
          <p:cNvSpPr>
            <a:spLocks xmlns:a="http://schemas.openxmlformats.org/drawingml/2006/main" noGrp="1"/>
          </p:cNvSpPr>
          <p:nvPr/>
        </p:nvSpPr>
        <p:spPr>
          <a:xfrm xmlns:a="http://schemas.openxmlformats.org/drawingml/2006/main">
            <a:off x="400050" y="2505075"/>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Rejects missing, unknown, non-finite and inconsistent values.</a:t>
            </a:r>
          </a:p>
        </p:txBody>
      </p:sp>
      <p:sp>
        <p:nvSpPr>
          <p:cNvPr id="5" name="text-657-205">
            <a:extLst xmlns:a="http://schemas.openxmlformats.org/drawingml/2006/main">
              <a:ext uri="{FF2B5EF4-FFF2-40B4-BE49-F238E27FC236}">
                <a16:creationId xmlns:a16="http://schemas.microsoft.com/office/drawing/2014/main" id="{63BF83ED-A023-492D-95D2-26DB7BAC1F71}"/>
              </a:ext>
            </a:extLst>
          </p:cNvPr>
          <p:cNvSpPr>
            <a:spLocks xmlns:a="http://schemas.openxmlformats.org/drawingml/2006/main" noGrp="1"/>
          </p:cNvSpPr>
          <p:nvPr/>
        </p:nvSpPr>
        <p:spPr>
          <a:xfrm xmlns:a="http://schemas.openxmlformats.org/drawingml/2006/main">
            <a:off x="6257925" y="1952625"/>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Standalone model</a:t>
            </a:r>
          </a:p>
        </p:txBody>
      </p:sp>
      <p:sp>
        <p:nvSpPr>
          <p:cNvPr id="6" name="text-657-263">
            <a:extLst xmlns:a="http://schemas.openxmlformats.org/drawingml/2006/main">
              <a:ext uri="{FF2B5EF4-FFF2-40B4-BE49-F238E27FC236}">
                <a16:creationId xmlns:a16="http://schemas.microsoft.com/office/drawing/2014/main" id="{F2EE3EDA-F755-4867-AA81-518FA09A4FF5}"/>
              </a:ext>
            </a:extLst>
          </p:cNvPr>
          <p:cNvSpPr>
            <a:spLocks xmlns:a="http://schemas.openxmlformats.org/drawingml/2006/main" noGrp="1"/>
          </p:cNvSpPr>
          <p:nvPr/>
        </p:nvSpPr>
        <p:spPr>
          <a:xfrm xmlns:a="http://schemas.openxmlformats.org/drawingml/2006/main">
            <a:off x="6257925" y="2505075"/>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Committed 20.5 MB artifact; no hidden MLflow database needed.</a:t>
            </a:r>
          </a:p>
        </p:txBody>
      </p:sp>
      <p:sp>
        <p:nvSpPr>
          <p:cNvPr id="7" name="text-42-420">
            <a:extLst xmlns:a="http://schemas.openxmlformats.org/drawingml/2006/main">
              <a:ext uri="{FF2B5EF4-FFF2-40B4-BE49-F238E27FC236}">
                <a16:creationId xmlns:a16="http://schemas.microsoft.com/office/drawing/2014/main" id="{769D572D-6C93-46BD-98BD-99263DC9511D}"/>
              </a:ext>
            </a:extLst>
          </p:cNvPr>
          <p:cNvSpPr>
            <a:spLocks xmlns:a="http://schemas.openxmlformats.org/drawingml/2006/main" noGrp="1"/>
          </p:cNvSpPr>
          <p:nvPr/>
        </p:nvSpPr>
        <p:spPr>
          <a:xfrm xmlns:a="http://schemas.openxmlformats.org/drawingml/2006/main">
            <a:off x="400050" y="40005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Flask REST API</a:t>
            </a:r>
          </a:p>
        </p:txBody>
      </p:sp>
      <p:sp>
        <p:nvSpPr>
          <p:cNvPr id="8" name="text-42-478">
            <a:extLst xmlns:a="http://schemas.openxmlformats.org/drawingml/2006/main">
              <a:ext uri="{FF2B5EF4-FFF2-40B4-BE49-F238E27FC236}">
                <a16:creationId xmlns:a16="http://schemas.microsoft.com/office/drawing/2014/main" id="{1DD60B5C-531C-47A9-B9D2-2B1BFC70C2B7}"/>
              </a:ext>
            </a:extLst>
          </p:cNvPr>
          <p:cNvSpPr>
            <a:spLocks xmlns:a="http://schemas.openxmlformats.org/drawingml/2006/main" noGrp="1"/>
          </p:cNvSpPr>
          <p:nvPr/>
        </p:nvSpPr>
        <p:spPr>
          <a:xfrm xmlns:a="http://schemas.openxmlformats.org/drawingml/2006/main">
            <a:off x="400050" y="4552950"/>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GET /health and POST /predict reuse the same inference logic.</a:t>
            </a:r>
          </a:p>
        </p:txBody>
      </p:sp>
      <p:sp>
        <p:nvSpPr>
          <p:cNvPr id="9" name="text-657-420">
            <a:extLst xmlns:a="http://schemas.openxmlformats.org/drawingml/2006/main">
              <a:ext uri="{FF2B5EF4-FFF2-40B4-BE49-F238E27FC236}">
                <a16:creationId xmlns:a16="http://schemas.microsoft.com/office/drawing/2014/main" id="{FE939EF4-9D32-4E9E-ABA3-37AD3BBEA156}"/>
              </a:ext>
            </a:extLst>
          </p:cNvPr>
          <p:cNvSpPr>
            <a:spLocks xmlns:a="http://schemas.openxmlformats.org/drawingml/2006/main" noGrp="1"/>
          </p:cNvSpPr>
          <p:nvPr/>
        </p:nvSpPr>
        <p:spPr>
          <a:xfrm xmlns:a="http://schemas.openxmlformats.org/drawingml/2006/main">
            <a:off x="6257925" y="40005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0000"/>
                </a:solidFill>
                <a:latin typeface="Arial"/>
                <a:ea typeface="Arial"/>
                <a:cs typeface="Arial"/>
              </a:defRPr>
            </a:pPr>
            <a:r>
              <a:rPr sz="2025" b="1">
                <a:solidFill>
                  <a:srgbClr val="000000"/>
                </a:solidFill>
                <a:latin typeface="Arial"/>
                <a:ea typeface="Arial"/>
                <a:cs typeface="Arial"/>
              </a:rPr>
              <a:t>Browser + Colab demo</a:t>
            </a:r>
          </a:p>
        </p:txBody>
      </p:sp>
      <p:sp>
        <p:nvSpPr>
          <p:cNvPr id="10" name="text-657-478">
            <a:extLst xmlns:a="http://schemas.openxmlformats.org/drawingml/2006/main">
              <a:ext uri="{FF2B5EF4-FFF2-40B4-BE49-F238E27FC236}">
                <a16:creationId xmlns:a16="http://schemas.microsoft.com/office/drawing/2014/main" id="{E641F84C-A937-4069-A4C4-B5BCADC8A7EB}"/>
              </a:ext>
            </a:extLst>
          </p:cNvPr>
          <p:cNvSpPr>
            <a:spLocks xmlns:a="http://schemas.openxmlformats.org/drawingml/2006/main" noGrp="1"/>
          </p:cNvSpPr>
          <p:nvPr/>
        </p:nvSpPr>
        <p:spPr>
          <a:xfrm xmlns:a="http://schemas.openxmlformats.org/drawingml/2006/main">
            <a:off x="6257925" y="4552950"/>
            <a:ext cx="5143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000000"/>
                </a:solidFill>
                <a:latin typeface="Arial"/>
                <a:ea typeface="Arial"/>
                <a:cs typeface="Arial"/>
              </a:defRPr>
            </a:pPr>
            <a:r>
              <a:rPr sz="1650" b="0">
                <a:solidFill>
                  <a:srgbClr val="000000"/>
                </a:solidFill>
                <a:latin typeface="Arial"/>
                <a:ea typeface="Arial"/>
                <a:cs typeface="Arial"/>
              </a:rPr>
              <a:t>Human-readable form plus a clean notebook assessment path.</a:t>
            </a:r>
          </a:p>
        </p:txBody>
      </p:sp>
    </p:spTree>
    <p:extLst>
      <p:ext uri="{BB962C8B-B14F-4D97-AF65-F5344CB8AC3E}">
        <p14:creationId xmlns:p14="http://schemas.microsoft.com/office/powerpoint/2010/main" val="77182068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B9599118-8E96-42CD-B0EE-0DB5DEDF293B}"/>
              </a:ext>
            </a:extLst>
          </p:cNvPr>
          <p:cNvSpPr>
            <a:spLocks xmlns:a="http://schemas.openxmlformats.org/drawingml/2006/main" noGrp="1"/>
          </p:cNvSpPr>
          <p:nvPr/>
        </p:nvSpPr>
        <p:spPr>
          <a:xfrm xmlns:a="http://schemas.openxmlformats.org/drawingml/2006/main">
            <a:off x="400050" y="323850"/>
            <a:ext cx="108394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000000"/>
                </a:solidFill>
                <a:latin typeface="Arial"/>
                <a:ea typeface="Arial"/>
                <a:cs typeface="Arial"/>
              </a:defRPr>
            </a:pPr>
            <a:r>
              <a:rPr sz="3525" b="1">
                <a:solidFill>
                  <a:srgbClr val="000000"/>
                </a:solidFill>
                <a:latin typeface="Arial"/>
                <a:ea typeface="Arial"/>
                <a:cs typeface="Arial"/>
              </a:rPr>
              <a:t>The model is decision support, not an automatic ordering system</a:t>
            </a:r>
          </a:p>
        </p:txBody>
      </p:sp>
      <p:sp>
        <p:nvSpPr>
          <p:cNvPr id="2" name="slide-number">
            <a:extLst xmlns:a="http://schemas.openxmlformats.org/drawingml/2006/main">
              <a:ext uri="{FF2B5EF4-FFF2-40B4-BE49-F238E27FC236}">
                <a16:creationId xmlns:a16="http://schemas.microsoft.com/office/drawing/2014/main" id="{1ED17213-71B9-44B4-AEEB-C12589BBCDD4}"/>
              </a:ext>
            </a:extLst>
          </p:cNvPr>
          <p:cNvSpPr>
            <a:spLocks xmlns:a="http://schemas.openxmlformats.org/drawingml/2006/main" noGrp="1"/>
          </p:cNvSpPr>
          <p:nvPr/>
        </p:nvSpPr>
        <p:spPr>
          <a:xfrm xmlns:a="http://schemas.openxmlformats.org/drawingml/2006/main">
            <a:off x="11277600" y="6276975"/>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200" b="0">
                <a:solidFill>
                  <a:srgbClr val="5F6670"/>
                </a:solidFill>
                <a:latin typeface="Arial"/>
                <a:ea typeface="Arial"/>
                <a:cs typeface="Arial"/>
              </a:defRPr>
            </a:pPr>
            <a:r>
              <a:rPr sz="1200" b="0">
                <a:solidFill>
                  <a:srgbClr val="5F6670"/>
                </a:solidFill>
                <a:latin typeface="Arial"/>
                <a:ea typeface="Arial"/>
                <a:cs typeface="Arial"/>
              </a:rPr>
              <a:t>9</a:t>
            </a:r>
          </a:p>
        </p:txBody>
      </p:sp>
      <p:sp>
        <p:nvSpPr>
          <p:cNvPr id="3" name="text-42-180">
            <a:extLst xmlns:a="http://schemas.openxmlformats.org/drawingml/2006/main">
              <a:ext uri="{FF2B5EF4-FFF2-40B4-BE49-F238E27FC236}">
                <a16:creationId xmlns:a16="http://schemas.microsoft.com/office/drawing/2014/main" id="{DD1A2CDD-CC19-416C-A931-40A8212B03CA}"/>
              </a:ext>
            </a:extLst>
          </p:cNvPr>
          <p:cNvSpPr>
            <a:spLocks xmlns:a="http://schemas.openxmlformats.org/drawingml/2006/main" noGrp="1"/>
          </p:cNvSpPr>
          <p:nvPr/>
        </p:nvSpPr>
        <p:spPr>
          <a:xfrm xmlns:a="http://schemas.openxmlformats.org/drawingml/2006/main">
            <a:off x="400050" y="1714500"/>
            <a:ext cx="457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3D8DFF"/>
                </a:solidFill>
                <a:latin typeface="Arial"/>
                <a:ea typeface="Arial"/>
                <a:cs typeface="Arial"/>
              </a:defRPr>
            </a:pPr>
            <a:r>
              <a:rPr sz="2250" b="1">
                <a:solidFill>
                  <a:srgbClr val="3D8DFF"/>
                </a:solidFill>
                <a:latin typeface="Arial"/>
                <a:ea typeface="Arial"/>
                <a:cs typeface="Arial"/>
              </a:rPr>
              <a:t>Use it when</a:t>
            </a:r>
          </a:p>
        </p:txBody>
      </p:sp>
      <p:sp>
        <p:nvSpPr>
          <p:cNvPr id="4" name="text-42-250">
            <a:extLst xmlns:a="http://schemas.openxmlformats.org/drawingml/2006/main">
              <a:ext uri="{FF2B5EF4-FFF2-40B4-BE49-F238E27FC236}">
                <a16:creationId xmlns:a16="http://schemas.microsoft.com/office/drawing/2014/main" id="{C3729296-D77F-45B6-9B70-C0EB49DB4A45}"/>
              </a:ext>
            </a:extLst>
          </p:cNvPr>
          <p:cNvSpPr>
            <a:spLocks xmlns:a="http://schemas.openxmlformats.org/drawingml/2006/main" noGrp="1"/>
          </p:cNvSpPr>
          <p:nvPr/>
        </p:nvSpPr>
        <p:spPr>
          <a:xfrm xmlns:a="http://schemas.openxmlformats.org/drawingml/2006/main">
            <a:off x="400050" y="238125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5" name="text-76-250">
            <a:extLst xmlns:a="http://schemas.openxmlformats.org/drawingml/2006/main">
              <a:ext uri="{FF2B5EF4-FFF2-40B4-BE49-F238E27FC236}">
                <a16:creationId xmlns:a16="http://schemas.microsoft.com/office/drawing/2014/main" id="{18790BFE-D4A3-474A-8140-2813AE4DBAD8}"/>
              </a:ext>
            </a:extLst>
          </p:cNvPr>
          <p:cNvSpPr>
            <a:spLocks xmlns:a="http://schemas.openxmlformats.org/drawingml/2006/main" noGrp="1"/>
          </p:cNvSpPr>
          <p:nvPr/>
        </p:nvSpPr>
        <p:spPr>
          <a:xfrm xmlns:a="http://schemas.openxmlformats.org/drawingml/2006/main">
            <a:off x="723900" y="2381250"/>
            <a:ext cx="4438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an existing FOODS product has 8 weeks of history</a:t>
            </a:r>
          </a:p>
        </p:txBody>
      </p:sp>
      <p:sp>
        <p:nvSpPr>
          <p:cNvPr id="6" name="text-42-320">
            <a:extLst xmlns:a="http://schemas.openxmlformats.org/drawingml/2006/main">
              <a:ext uri="{FF2B5EF4-FFF2-40B4-BE49-F238E27FC236}">
                <a16:creationId xmlns:a16="http://schemas.microsoft.com/office/drawing/2014/main" id="{BBEED61B-7258-4706-828E-4BD2586D065B}"/>
              </a:ext>
            </a:extLst>
          </p:cNvPr>
          <p:cNvSpPr>
            <a:spLocks xmlns:a="http://schemas.openxmlformats.org/drawingml/2006/main" noGrp="1"/>
          </p:cNvSpPr>
          <p:nvPr/>
        </p:nvSpPr>
        <p:spPr>
          <a:xfrm xmlns:a="http://schemas.openxmlformats.org/drawingml/2006/main">
            <a:off x="400050" y="304800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7" name="text-76-320">
            <a:extLst xmlns:a="http://schemas.openxmlformats.org/drawingml/2006/main">
              <a:ext uri="{FF2B5EF4-FFF2-40B4-BE49-F238E27FC236}">
                <a16:creationId xmlns:a16="http://schemas.microsoft.com/office/drawing/2014/main" id="{8DFDD7BF-ADC2-4C86-B274-F2E456B7EA60}"/>
              </a:ext>
            </a:extLst>
          </p:cNvPr>
          <p:cNvSpPr>
            <a:spLocks xmlns:a="http://schemas.openxmlformats.org/drawingml/2006/main" noGrp="1"/>
          </p:cNvSpPr>
          <p:nvPr/>
        </p:nvSpPr>
        <p:spPr>
          <a:xfrm xmlns:a="http://schemas.openxmlformats.org/drawingml/2006/main">
            <a:off x="723900" y="3048000"/>
            <a:ext cx="4438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price and calendar inputs are known</a:t>
            </a:r>
          </a:p>
        </p:txBody>
      </p:sp>
      <p:sp>
        <p:nvSpPr>
          <p:cNvPr id="8" name="text-42-390">
            <a:extLst xmlns:a="http://schemas.openxmlformats.org/drawingml/2006/main">
              <a:ext uri="{FF2B5EF4-FFF2-40B4-BE49-F238E27FC236}">
                <a16:creationId xmlns:a16="http://schemas.microsoft.com/office/drawing/2014/main" id="{556A17EF-640F-4521-A524-05A8648BAC86}"/>
              </a:ext>
            </a:extLst>
          </p:cNvPr>
          <p:cNvSpPr>
            <a:spLocks xmlns:a="http://schemas.openxmlformats.org/drawingml/2006/main" noGrp="1"/>
          </p:cNvSpPr>
          <p:nvPr/>
        </p:nvSpPr>
        <p:spPr>
          <a:xfrm xmlns:a="http://schemas.openxmlformats.org/drawingml/2006/main">
            <a:off x="400050" y="371475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9" name="text-76-390">
            <a:extLst xmlns:a="http://schemas.openxmlformats.org/drawingml/2006/main">
              <a:ext uri="{FF2B5EF4-FFF2-40B4-BE49-F238E27FC236}">
                <a16:creationId xmlns:a16="http://schemas.microsoft.com/office/drawing/2014/main" id="{3EDBBAB5-94D2-4934-A891-7894CF360E61}"/>
              </a:ext>
            </a:extLst>
          </p:cNvPr>
          <p:cNvSpPr>
            <a:spLocks xmlns:a="http://schemas.openxmlformats.org/drawingml/2006/main" noGrp="1"/>
          </p:cNvSpPr>
          <p:nvPr/>
        </p:nvSpPr>
        <p:spPr>
          <a:xfrm xmlns:a="http://schemas.openxmlformats.org/drawingml/2006/main">
            <a:off x="723900" y="3714750"/>
            <a:ext cx="4438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a planner reviews unusual or high demand</a:t>
            </a:r>
          </a:p>
        </p:txBody>
      </p:sp>
      <p:sp>
        <p:nvSpPr>
          <p:cNvPr id="10" name="text-670-180">
            <a:extLst xmlns:a="http://schemas.openxmlformats.org/drawingml/2006/main">
              <a:ext uri="{FF2B5EF4-FFF2-40B4-BE49-F238E27FC236}">
                <a16:creationId xmlns:a16="http://schemas.microsoft.com/office/drawing/2014/main" id="{FA6220B7-4053-4371-BFFB-10651CCE2C49}"/>
              </a:ext>
            </a:extLst>
          </p:cNvPr>
          <p:cNvSpPr>
            <a:spLocks xmlns:a="http://schemas.openxmlformats.org/drawingml/2006/main" noGrp="1"/>
          </p:cNvSpPr>
          <p:nvPr/>
        </p:nvSpPr>
        <p:spPr>
          <a:xfrm xmlns:a="http://schemas.openxmlformats.org/drawingml/2006/main">
            <a:off x="6381750" y="17145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000000"/>
                </a:solidFill>
                <a:latin typeface="Arial"/>
                <a:ea typeface="Arial"/>
                <a:cs typeface="Arial"/>
              </a:defRPr>
            </a:pPr>
            <a:r>
              <a:rPr sz="2250" b="1">
                <a:solidFill>
                  <a:srgbClr val="000000"/>
                </a:solidFill>
                <a:latin typeface="Arial"/>
                <a:ea typeface="Arial"/>
                <a:cs typeface="Arial"/>
              </a:rPr>
              <a:t>Do not assume</a:t>
            </a:r>
          </a:p>
        </p:txBody>
      </p:sp>
      <p:sp>
        <p:nvSpPr>
          <p:cNvPr id="11" name="text-670-250">
            <a:extLst xmlns:a="http://schemas.openxmlformats.org/drawingml/2006/main">
              <a:ext uri="{FF2B5EF4-FFF2-40B4-BE49-F238E27FC236}">
                <a16:creationId xmlns:a16="http://schemas.microsoft.com/office/drawing/2014/main" id="{F41B2FB5-7C4F-40D5-8771-D0438D7BB837}"/>
              </a:ext>
            </a:extLst>
          </p:cNvPr>
          <p:cNvSpPr>
            <a:spLocks xmlns:a="http://schemas.openxmlformats.org/drawingml/2006/main" noGrp="1"/>
          </p:cNvSpPr>
          <p:nvPr/>
        </p:nvSpPr>
        <p:spPr>
          <a:xfrm xmlns:a="http://schemas.openxmlformats.org/drawingml/2006/main">
            <a:off x="6381750" y="238125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12" name="text-704-250">
            <a:extLst xmlns:a="http://schemas.openxmlformats.org/drawingml/2006/main">
              <a:ext uri="{FF2B5EF4-FFF2-40B4-BE49-F238E27FC236}">
                <a16:creationId xmlns:a16="http://schemas.microsoft.com/office/drawing/2014/main" id="{7CC01287-F24A-4093-BAC2-7743C025F840}"/>
              </a:ext>
            </a:extLst>
          </p:cNvPr>
          <p:cNvSpPr>
            <a:spLocks xmlns:a="http://schemas.openxmlformats.org/drawingml/2006/main" noGrp="1"/>
          </p:cNvSpPr>
          <p:nvPr/>
        </p:nvSpPr>
        <p:spPr>
          <a:xfrm xmlns:a="http://schemas.openxmlformats.org/drawingml/2006/main">
            <a:off x="6705600" y="2381250"/>
            <a:ext cx="472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US 2011–2016 patterns transfer to Uzbekistan</a:t>
            </a:r>
          </a:p>
        </p:txBody>
      </p:sp>
      <p:sp>
        <p:nvSpPr>
          <p:cNvPr id="13" name="text-670-320">
            <a:extLst xmlns:a="http://schemas.openxmlformats.org/drawingml/2006/main">
              <a:ext uri="{FF2B5EF4-FFF2-40B4-BE49-F238E27FC236}">
                <a16:creationId xmlns:a16="http://schemas.microsoft.com/office/drawing/2014/main" id="{738BB024-3E58-417F-9A9B-1EED3A700F1A}"/>
              </a:ext>
            </a:extLst>
          </p:cNvPr>
          <p:cNvSpPr>
            <a:spLocks xmlns:a="http://schemas.openxmlformats.org/drawingml/2006/main" noGrp="1"/>
          </p:cNvSpPr>
          <p:nvPr/>
        </p:nvSpPr>
        <p:spPr>
          <a:xfrm xmlns:a="http://schemas.openxmlformats.org/drawingml/2006/main">
            <a:off x="6381750" y="304800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14" name="text-704-320">
            <a:extLst xmlns:a="http://schemas.openxmlformats.org/drawingml/2006/main">
              <a:ext uri="{FF2B5EF4-FFF2-40B4-BE49-F238E27FC236}">
                <a16:creationId xmlns:a16="http://schemas.microsoft.com/office/drawing/2014/main" id="{4C863D40-CA71-49B5-8C46-99C0650DBDFE}"/>
              </a:ext>
            </a:extLst>
          </p:cNvPr>
          <p:cNvSpPr>
            <a:spLocks xmlns:a="http://schemas.openxmlformats.org/drawingml/2006/main" noGrp="1"/>
          </p:cNvSpPr>
          <p:nvPr/>
        </p:nvSpPr>
        <p:spPr>
          <a:xfrm xmlns:a="http://schemas.openxmlformats.org/drawingml/2006/main">
            <a:off x="6705600" y="3048000"/>
            <a:ext cx="472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the model supports new products or stores</a:t>
            </a:r>
          </a:p>
        </p:txBody>
      </p:sp>
      <p:sp>
        <p:nvSpPr>
          <p:cNvPr id="15" name="text-670-390">
            <a:extLst xmlns:a="http://schemas.openxmlformats.org/drawingml/2006/main">
              <a:ext uri="{FF2B5EF4-FFF2-40B4-BE49-F238E27FC236}">
                <a16:creationId xmlns:a16="http://schemas.microsoft.com/office/drawing/2014/main" id="{A716D191-B9DF-4709-8BBE-9DADE0FECEDD}"/>
              </a:ext>
            </a:extLst>
          </p:cNvPr>
          <p:cNvSpPr>
            <a:spLocks xmlns:a="http://schemas.openxmlformats.org/drawingml/2006/main" noGrp="1"/>
          </p:cNvSpPr>
          <p:nvPr/>
        </p:nvSpPr>
        <p:spPr>
          <a:xfrm xmlns:a="http://schemas.openxmlformats.org/drawingml/2006/main">
            <a:off x="6381750" y="371475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16" name="text-704-390">
            <a:extLst xmlns:a="http://schemas.openxmlformats.org/drawingml/2006/main">
              <a:ext uri="{FF2B5EF4-FFF2-40B4-BE49-F238E27FC236}">
                <a16:creationId xmlns:a16="http://schemas.microsoft.com/office/drawing/2014/main" id="{6DFC1C95-CE0D-4CFA-AD04-646530282097}"/>
              </a:ext>
            </a:extLst>
          </p:cNvPr>
          <p:cNvSpPr>
            <a:spLocks xmlns:a="http://schemas.openxmlformats.org/drawingml/2006/main" noGrp="1"/>
          </p:cNvSpPr>
          <p:nvPr/>
        </p:nvSpPr>
        <p:spPr>
          <a:xfrm xmlns:a="http://schemas.openxmlformats.org/drawingml/2006/main">
            <a:off x="6705600" y="3714750"/>
            <a:ext cx="472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a valid input is automatically realistic</a:t>
            </a:r>
          </a:p>
        </p:txBody>
      </p:sp>
      <p:sp>
        <p:nvSpPr>
          <p:cNvPr id="17" name="text-670-460">
            <a:extLst xmlns:a="http://schemas.openxmlformats.org/drawingml/2006/main">
              <a:ext uri="{FF2B5EF4-FFF2-40B4-BE49-F238E27FC236}">
                <a16:creationId xmlns:a16="http://schemas.microsoft.com/office/drawing/2014/main" id="{D861643A-2F02-4D53-ACE4-99BB49D79BE0}"/>
              </a:ext>
            </a:extLst>
          </p:cNvPr>
          <p:cNvSpPr>
            <a:spLocks xmlns:a="http://schemas.openxmlformats.org/drawingml/2006/main" noGrp="1"/>
          </p:cNvSpPr>
          <p:nvPr/>
        </p:nvSpPr>
        <p:spPr>
          <a:xfrm xmlns:a="http://schemas.openxmlformats.org/drawingml/2006/main">
            <a:off x="6381750" y="4381500"/>
            <a:ext cx="266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latin typeface="Arial"/>
                <a:ea typeface="Arial"/>
                <a:cs typeface="Arial"/>
              </a:defRPr>
            </a:pPr>
            <a:r>
              <a:rPr sz="1725" b="1">
                <a:solidFill>
                  <a:srgbClr val="3D8DFF"/>
                </a:solidFill>
                <a:latin typeface="Arial"/>
                <a:ea typeface="Arial"/>
                <a:cs typeface="Arial"/>
              </a:rPr>
              <a:t>•</a:t>
            </a:r>
          </a:p>
        </p:txBody>
      </p:sp>
      <p:sp>
        <p:nvSpPr>
          <p:cNvPr id="18" name="text-704-460">
            <a:extLst xmlns:a="http://schemas.openxmlformats.org/drawingml/2006/main">
              <a:ext uri="{FF2B5EF4-FFF2-40B4-BE49-F238E27FC236}">
                <a16:creationId xmlns:a16="http://schemas.microsoft.com/office/drawing/2014/main" id="{F7364C00-B7C5-430D-8187-6C1EB433CDC3}"/>
              </a:ext>
            </a:extLst>
          </p:cNvPr>
          <p:cNvSpPr>
            <a:spLocks xmlns:a="http://schemas.openxmlformats.org/drawingml/2006/main" noGrp="1"/>
          </p:cNvSpPr>
          <p:nvPr/>
        </p:nvSpPr>
        <p:spPr>
          <a:xfrm xmlns:a="http://schemas.openxmlformats.org/drawingml/2006/main">
            <a:off x="6705600" y="4381500"/>
            <a:ext cx="472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000000"/>
                </a:solidFill>
                <a:latin typeface="Arial"/>
                <a:ea typeface="Arial"/>
                <a:cs typeface="Arial"/>
              </a:defRPr>
            </a:pPr>
            <a:r>
              <a:rPr sz="1725" b="0">
                <a:solidFill>
                  <a:srgbClr val="000000"/>
                </a:solidFill>
                <a:latin typeface="Arial"/>
                <a:ea typeface="Arial"/>
                <a:cs typeface="Arial"/>
              </a:rPr>
              <a:t>a point forecast expresses uncertainty</a:t>
            </a:r>
          </a:p>
        </p:txBody>
      </p:sp>
    </p:spTree>
    <p:extLst>
      <p:ext uri="{BB962C8B-B14F-4D97-AF65-F5344CB8AC3E}">
        <p14:creationId xmlns:p14="http://schemas.microsoft.com/office/powerpoint/2010/main" val="18020129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ext-42-42">
            <a:extLst xmlns:a="http://schemas.openxmlformats.org/drawingml/2006/main">
              <a:ext uri="{FF2B5EF4-FFF2-40B4-BE49-F238E27FC236}">
                <a16:creationId xmlns:a16="http://schemas.microsoft.com/office/drawing/2014/main" id="{A401BB9F-3448-46BD-8888-89B9218FC282}"/>
              </a:ext>
            </a:extLst>
          </p:cNvPr>
          <p:cNvSpPr>
            <a:spLocks xmlns:a="http://schemas.openxmlformats.org/drawingml/2006/main" noGrp="1"/>
          </p:cNvSpPr>
          <p:nvPr/>
        </p:nvSpPr>
        <p:spPr>
          <a:xfrm xmlns:a="http://schemas.openxmlformats.org/drawingml/2006/main">
            <a:off x="400050" y="4000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5F6670"/>
                </a:solidFill>
                <a:latin typeface="Arial"/>
                <a:ea typeface="Arial"/>
                <a:cs typeface="Arial"/>
              </a:defRPr>
            </a:pPr>
            <a:r>
              <a:rPr sz="1725" b="1">
                <a:solidFill>
                  <a:srgbClr val="5F6670"/>
                </a:solidFill>
                <a:latin typeface="Arial"/>
                <a:ea typeface="Arial"/>
                <a:cs typeface="Arial"/>
              </a:rPr>
              <a:t>CONCLUSION</a:t>
            </a:r>
          </a:p>
        </p:txBody>
      </p:sp>
      <p:sp>
        <p:nvSpPr>
          <p:cNvPr id="2" name="text-42-175">
            <a:extLst xmlns:a="http://schemas.openxmlformats.org/drawingml/2006/main">
              <a:ext uri="{FF2B5EF4-FFF2-40B4-BE49-F238E27FC236}">
                <a16:creationId xmlns:a16="http://schemas.microsoft.com/office/drawing/2014/main" id="{832343EC-48CB-424B-B515-F81E606A4FBC}"/>
              </a:ext>
            </a:extLst>
          </p:cNvPr>
          <p:cNvSpPr>
            <a:spLocks xmlns:a="http://schemas.openxmlformats.org/drawingml/2006/main" noGrp="1"/>
          </p:cNvSpPr>
          <p:nvPr/>
        </p:nvSpPr>
        <p:spPr>
          <a:xfrm xmlns:a="http://schemas.openxmlformats.org/drawingml/2006/main">
            <a:off x="400050" y="1666875"/>
            <a:ext cx="10001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A complete workflow,</a:t>
            </a:r>
          </a:p>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with evidence and limits</a:t>
            </a:r>
          </a:p>
        </p:txBody>
      </p:sp>
      <p:sp>
        <p:nvSpPr>
          <p:cNvPr id="3" name="text-42-515">
            <a:extLst xmlns:a="http://schemas.openxmlformats.org/drawingml/2006/main">
              <a:ext uri="{FF2B5EF4-FFF2-40B4-BE49-F238E27FC236}">
                <a16:creationId xmlns:a16="http://schemas.microsoft.com/office/drawing/2014/main" id="{582B9DC1-65B5-48A1-8F3D-D142C170DFBC}"/>
              </a:ext>
            </a:extLst>
          </p:cNvPr>
          <p:cNvSpPr>
            <a:spLocks xmlns:a="http://schemas.openxmlformats.org/drawingml/2006/main" noGrp="1"/>
          </p:cNvSpPr>
          <p:nvPr/>
        </p:nvSpPr>
        <p:spPr>
          <a:xfrm xmlns:a="http://schemas.openxmlformats.org/drawingml/2006/main">
            <a:off x="400050" y="4905375"/>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7.72% better test MAE than the baseline</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Clean Colab demo · 18 passing tests</a:t>
            </a:r>
          </a:p>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Human review for high demand</a:t>
            </a:r>
          </a:p>
        </p:txBody>
      </p:sp>
    </p:spTree>
    <p:extLst>
      <p:ext uri="{BB962C8B-B14F-4D97-AF65-F5344CB8AC3E}">
        <p14:creationId xmlns:p14="http://schemas.microsoft.com/office/powerpoint/2010/main" val="1187057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2026-08-01T10:27:19.8630000Z</dcterms:created>
  <dcterms:modified xsi:type="dcterms:W3CDTF">2026-08-01T10:27:19.8630000Z</dcterms:modified>
</coreProperties>
</file>